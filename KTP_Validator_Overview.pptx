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Validasi Gambar KTP</a:t>
            </a:r>
          </a:p>
          <a:p>
            <a:pPr algn="l"/>
            <a:r>
              <a:rPr sz="2000" b="0" i="0">
                <a:solidFill>
                  <a:srgbClr val="C7D2FE"/>
                </a:solidFill>
                <a:latin typeface="Calibri"/>
              </a:rPr>
              <a:t>CLIP zero-shot  +  Deep-SAD fine-tuning  —  dua gerbang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9CA3AF"/>
                </a:solidFill>
                <a:latin typeface="Calibri"/>
              </a:rPr>
              <a:t>Bagaimana model memutuskan sebuah gambar “KTP saja” atau ditolak</a:t>
            </a:r>
          </a:p>
          <a:p>
            <a:pPr algn="l"/>
            <a:r>
              <a:rPr sz="1300" b="0" i="1">
                <a:solidFill>
                  <a:srgbClr val="F87171"/>
                </a:solidFill>
                <a:latin typeface="Calibri"/>
              </a:rPr>
              <a:t>Catatan: angka metrik pada slide terakhir masih PLACEHOLDER — untuk diedit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KTP Validator  •  CLIP ViT-B/16 two-gate + Deep SAD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1 · Hasil fine-tuning: skor = jarak ke pusat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Kenapa justru skor 0 yang berarti “YES”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658368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17012" y="2971800"/>
            <a:ext cx="1920240" cy="1920240"/>
          </a:xfrm>
          <a:prstGeom prst="ellipse">
            <a:avLst/>
          </a:prstGeom>
          <a:noFill/>
          <a:ln w="22225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69546" y="380178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3260" y="396796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60557" y="4008925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45012" y="387780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87307" y="4050850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7320" y="393320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82674" y="4330650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1809" y="420545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52020" y="3579110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3340" y="428650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0741" y="379052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2497" y="389871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84250" y="3992270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87940" y="374313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9460" y="371785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07137" y="4211961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9814" y="3929960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8006" y="3920944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59454" y="403966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11180" y="369343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12246" y="358332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97229" y="3792414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08457" y="387869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1874" y="352720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67287" y="387656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58234" y="409368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1769" y="4340785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09672" y="390365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77421" y="333068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02111" y="3820011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47189" y="365909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32001" y="375033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25896" y="356782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718619" y="381214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46485" y="408990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99256" y="379394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45480" y="322520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49359" y="468522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52578" y="3942391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62302" y="397109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14828" y="391579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545909" y="3715905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72610" y="400767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72204" y="3729576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177591" y="376950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78040" y="3745574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69381" y="419996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27455" y="423459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012745" y="374945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887401" y="4383984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39880" y="400570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278387" y="390517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80821" y="3888162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387774" y="3959283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850404" y="3783415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28898" y="3754891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55489" y="2739070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91696" y="3249388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69234" y="2933451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479057" y="4722370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479750" y="4606850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13470" y="4370944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802571" y="4921899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931261" y="4819411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97629" y="3883197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16306" y="4540451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696221" y="4070614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92884" y="2980767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11153" y="4987410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52062" y="4769809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165402" y="2990263"/>
            <a:ext cx="100584" cy="100584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30884" y="4336467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07135" y="4828107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638898" y="5230880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340716" y="2375638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159926" y="4120290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40454" y="3507255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945253" y="344176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980719" y="3605681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922503" y="2264566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389490" y="5845101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409433" y="541868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555619" y="347221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58617" y="5651635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162750" y="2319019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813052" y="2171438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73376" y="2032620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17261" y="5854598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380326" y="5348966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074393" y="4156100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427715" y="5599325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419998" y="335110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206470" y="3179975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5-Point Star 99"/>
          <p:cNvSpPr/>
          <p:nvPr/>
        </p:nvSpPr>
        <p:spPr>
          <a:xfrm>
            <a:off x="3430828" y="3785615"/>
            <a:ext cx="292608" cy="292608"/>
          </a:xfrm>
          <a:prstGeom prst="star5">
            <a:avLst/>
          </a:prstGeom>
          <a:solidFill>
            <a:srgbClr val="1F29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62732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pusat c  (skor = 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45812" y="26791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batas / threshold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06640" y="16002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Cara baca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06640" y="2103120"/>
            <a:ext cx="43891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Fine-tuning menarik SEMUA “KTP saja” berkumpul ke satu titik pusat.</a:t>
            </a:r>
          </a:p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Skor = jarak ke pusat.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Makin dekat pusat = makin mirip “KTP saja”.</a:t>
            </a:r>
          </a:p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•  Skor 0 = paling ideal → karena itu skor KECIL = YES.</a:t>
            </a:r>
          </a:p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Yang beda (selfie+KTP, KTP belakang, SIM/ATM, kartu lain)</a:t>
            </a:r>
          </a:p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   jatuh JAUH dari pusat → skor besar → NO.</a:t>
            </a:r>
          </a:p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•  Garis putus-putus = batas. Di dalam → YES, di luar → NO.</a:t>
            </a:r>
          </a:p>
        </p:txBody>
      </p:sp>
      <p:sp>
        <p:nvSpPr>
          <p:cNvPr id="105" name="Oval 104"/>
          <p:cNvSpPr/>
          <p:nvPr/>
        </p:nvSpPr>
        <p:spPr>
          <a:xfrm>
            <a:off x="7406640" y="5806440"/>
            <a:ext cx="137160" cy="137160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07808" y="5760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KTP saja (YES)</a:t>
            </a:r>
          </a:p>
        </p:txBody>
      </p:sp>
      <p:sp>
        <p:nvSpPr>
          <p:cNvPr id="107" name="Oval 106"/>
          <p:cNvSpPr/>
          <p:nvPr/>
        </p:nvSpPr>
        <p:spPr>
          <a:xfrm>
            <a:off x="8915400" y="5806440"/>
            <a:ext cx="137160" cy="137160"/>
          </a:xfrm>
          <a:prstGeom prst="ellipse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16568" y="5760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selfie+KTP (hard, NO)</a:t>
            </a:r>
          </a:p>
        </p:txBody>
      </p:sp>
      <p:sp>
        <p:nvSpPr>
          <p:cNvPr id="109" name="Oval 108"/>
          <p:cNvSpPr/>
          <p:nvPr/>
        </p:nvSpPr>
        <p:spPr>
          <a:xfrm>
            <a:off x="10424159" y="5806440"/>
            <a:ext cx="137160" cy="137160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625328" y="5760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kartu/objek lain (NO)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KTP Validator  •  CLIP ViT-B/16 two-gate + Deep SAD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2 · Pipeline dua gerbang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Gate 1 tanya “ada KTP?”  →  Gate 2 tanya “cuma KTP?”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600200" cy="105156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Gambar
masuk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4831" y="2327147"/>
            <a:ext cx="457200" cy="329184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965960"/>
            <a:ext cx="2788920" cy="1051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GATE 1 — CLIP zero-shot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“Apakah ada KTP di gambar?”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13832" y="2327147"/>
            <a:ext cx="457200" cy="329184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8112" y="17099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65960"/>
            <a:ext cx="2788920" cy="10515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GATE 2 — Deep SAD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“Apakah cuma KTP saja?”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42832" y="2327147"/>
            <a:ext cx="457200" cy="329184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7099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skor ≤ batas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965960"/>
            <a:ext cx="2286000" cy="10515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6A34A"/>
                </a:solidFill>
                <a:latin typeface="Calibri"/>
              </a:rPr>
              <a:t>ACCEPT ✓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KTP-only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840480" y="3063239"/>
            <a:ext cx="329184" cy="50292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1272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TIDAK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3703320"/>
            <a:ext cx="3657600" cy="12344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REJECT ✗ — tidak ada KTP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pemandangan biasa, dokumen kertas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(KK / akta), selfie tanpa kartu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269480" y="3063239"/>
            <a:ext cx="329184" cy="50292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1272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skor &gt; batas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703320"/>
            <a:ext cx="3977639" cy="12344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REJECT ✗ — bukan cuma KTP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selfie+KTP, KTP belakang,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SIM / ATM / kartu 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B7280"/>
                </a:solidFill>
                <a:latin typeface="Calibri"/>
              </a:rPr>
              <a:t>Gate 1 buang yang jelas bukan KTP. Hanya gambar ber-KTP yang lanjut ke Gate 2, yang menyaring kasus sulit — di sinilah skor-jarak-ke-pusat (slide 1) dipakai.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KTP Validator  •  CLIP ViT-B/16 two-gate + Deep SAD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3a · Komposisi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Jumlah gambar per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315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Positives
(KTP-only)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Negatives
(mixed)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Negatives
selfie+KTP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4002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623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4746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1500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1046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2627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7763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Proporsi kelas per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1655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434840"/>
            <a:ext cx="7556342" cy="384048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4002</a:t>
            </a:r>
          </a:p>
        </p:txBody>
      </p:sp>
      <p:sp>
        <p:nvSpPr>
          <p:cNvPr id="9" name="Rectangle 8"/>
          <p:cNvSpPr/>
          <p:nvPr/>
        </p:nvSpPr>
        <p:spPr>
          <a:xfrm>
            <a:off x="9385142" y="4434840"/>
            <a:ext cx="1176312" cy="384048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1454" y="4434840"/>
            <a:ext cx="228465" cy="384048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6519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983480"/>
            <a:ext cx="5116741" cy="384048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5541" y="4983480"/>
            <a:ext cx="3568074" cy="384048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3615" y="4983480"/>
            <a:ext cx="276304" cy="384048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164592" cy="164592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5541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positives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5577840"/>
            <a:ext cx="164592" cy="164592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5541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negatives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577840"/>
            <a:ext cx="164592" cy="164592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5412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selfie+KTP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KTP Validator  •  CLIP ViT-B/16 two-gate + Deep SAD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3b · Hasil metrik (test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Kelas positif = “KTP-only”  ·  ANGKA PLACEHOLDER, silakan diedit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7830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Prediksi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59" y="38862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B7280"/>
                </a:solidFill>
                <a:latin typeface="Calibri"/>
              </a:rPr>
              <a:t>Aktual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ACCEPT (yes)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783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REJECT (no)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788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2937"/>
                </a:solidFill>
                <a:latin typeface="Calibri"/>
              </a:rPr>
              <a:t>KTP-only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26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F2937"/>
                </a:solidFill>
                <a:latin typeface="Calibri"/>
              </a:rPr>
              <a:t>Bukan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148840"/>
            <a:ext cx="1737360" cy="173736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TP</a:t>
            </a:r>
          </a:p>
          <a:p>
            <a:pPr algn="ctr"/>
            <a:r>
              <a:rPr sz="3000" b="1" i="0">
                <a:solidFill>
                  <a:srgbClr val="16A34A"/>
                </a:solidFill>
                <a:latin typeface="Calibri"/>
              </a:rPr>
              <a:t>1440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2148840"/>
            <a:ext cx="173736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FN</a:t>
            </a:r>
          </a:p>
          <a:p>
            <a:pPr algn="ctr"/>
            <a:r>
              <a:rPr sz="3000" b="1" i="0">
                <a:solidFill>
                  <a:srgbClr val="D97706"/>
                </a:solidFill>
                <a:latin typeface="Calibri"/>
              </a:rPr>
              <a:t>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886200"/>
            <a:ext cx="1737360" cy="1737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FP</a:t>
            </a:r>
          </a:p>
          <a:p>
            <a:pPr algn="ctr"/>
            <a:r>
              <a:rPr sz="3000" b="1" i="0">
                <a:solidFill>
                  <a:srgbClr val="DC2626"/>
                </a:solidFill>
                <a:latin typeface="Calibri"/>
              </a:rPr>
              <a:t>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3886200"/>
            <a:ext cx="1737360" cy="173736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TN</a:t>
            </a:r>
          </a:p>
          <a:p>
            <a:pPr algn="ctr"/>
            <a:r>
              <a:rPr sz="3000" b="1" i="0">
                <a:solidFill>
                  <a:srgbClr val="16A34A"/>
                </a:solidFill>
                <a:latin typeface="Calibri"/>
              </a:rPr>
              <a:t>1058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607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DC2626"/>
                </a:solidFill>
                <a:latin typeface="Calibri"/>
              </a:rPr>
              <a:t>FP = negatif lolos jadi “yes” (paling bahaya: selfie+KTP tembus)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965960"/>
            <a:ext cx="28803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Accuracy</a:t>
            </a:r>
          </a:p>
          <a:p>
            <a:pPr algn="ctr"/>
            <a:r>
              <a:rPr sz="3400" b="1" i="0">
                <a:solidFill>
                  <a:srgbClr val="2563EB"/>
                </a:solidFill>
                <a:latin typeface="Calibri"/>
              </a:rPr>
              <a:t>95.1%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65960"/>
            <a:ext cx="28803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F1 score</a:t>
            </a:r>
          </a:p>
          <a:p>
            <a:pPr algn="ctr"/>
            <a:r>
              <a:rPr sz="3400" b="1" i="0">
                <a:solidFill>
                  <a:srgbClr val="16A34A"/>
                </a:solidFill>
                <a:latin typeface="Calibri"/>
              </a:rPr>
              <a:t>95.7%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703320"/>
            <a:ext cx="28803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Precision</a:t>
            </a:r>
          </a:p>
          <a:p>
            <a:pPr algn="ctr"/>
            <a:r>
              <a:rPr sz="3400" b="1" i="0">
                <a:solidFill>
                  <a:srgbClr val="D97706"/>
                </a:solidFill>
                <a:latin typeface="Calibri"/>
              </a:rPr>
              <a:t>95.4%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703320"/>
            <a:ext cx="28803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Recall</a:t>
            </a:r>
          </a:p>
          <a:p>
            <a:pPr algn="ctr"/>
            <a:r>
              <a:rPr sz="3400" b="1" i="0">
                <a:solidFill>
                  <a:srgbClr val="DC2626"/>
                </a:solidFill>
                <a:latin typeface="Calibri"/>
              </a:rPr>
              <a:t>96.0%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25780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Rumus (hitung ulang setelah edit TP/TN/FP/FN):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Accuracy = (TP+TN)/total   ·   Precision = TP/(TP+FP)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Recall = TP/(TP+FN)   ·   F1 = 2·P·R/(P+R)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KTP Validator  •  CLIP ViT-B/16 two-gate + Deep SAD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