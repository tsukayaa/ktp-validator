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datang. Hari ini saya akan presentasikan 3 alternatif approach untuk KTP selfie classification yang fundamentally berbeda paradigma dari YOLO yang digunakan tim lain. Bukan berarti YOLO salah — tapi ada cara lain yang mungkin lebih fit untuk problem kita.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kita simpel: binary classification. Ada kartu atau tidak. Constraint utama: CPU-only (tidak ada GPU budget), offline karena data KTP itu sensitif, dan harus cukup cepat — under 10 detik per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world itu messy. Foto selfie bisa datang dalam berbagai kondisi. Approach kita harus robust terhadap semua variasi ini tanpa preprocessing yang rumit.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kunci. Kita bukan sekadar 'ganti model'. MobileNet itu paradigma deep learning end-to-end. XGBoost itu classical ML dengan feature engineering eksplisit. CLIP itu zero-shot — tidak butuh training data sama sekali. Tiga cara berpikir yang berbeda.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Yang penting di sini bukan kita anti-YOLO. YOLO itu great untuk task yang memang butuh localization. Tapi untuk binary question 'ada atau tidak', detection itu overkill — kita bayar complexity tax untuk capability yang tidak kita butuhkan. Plus biaya labeling bounding box itu 5-10x lebih mahal dan lebih lama daripada yes/no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MobileNetV3-Small itu ringan tapi powerful. Backbone-nya freeze, jadi training cepat — kita cuma adjust 50K parameter terakhir. TTA di inference membantu robustness terhadap rotasi tanpa tambah banyak latency.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XGBoost approach ini paling transparent. Kita bisa lihat persis feature mana yang paling berkontribusi ke keputusan model. Ini penting untuk debugging dan stakeholder trust. LBP secara mathematically rotation-invariant, jadi handle rotasi tanpa augmentation khusus.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86% ini dari dataset 50 gambar, tanpa training apapun. Ini baseline. Dengan prompt engineering yang lebih baik bisa naik. Dan dengan approach 1 dan 2 yang di-train properly, target kita &gt;90%. CLIP juga paling mature untuk deployment cepat — tidak perlu tunggu dataset terkumpul.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Tidak ada pemenang absolut. CLIP menang di speed-to-deploy dan labeling cost. MobileNet menang di inference speed. XGBoost menang di explainability dan model size. Masing-masing punya trade-off. Justru ini yang membuat kombinasi ketiganya kuat sebagai strategi.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Strategi ini bertahap dan pragmatis. Tidak perlu tunggu data terkumpul untuk mulai deliver value — CLIP bisa jalan hari ini. Sambil berjalan, kita kumpulkan data dan train model yang lebih powerful. Risk minimum, value delivery cepat.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2 menggunakan OCR langsung di full image — tidak perlu object detection atau YOLO untuk crop kartu terlebih dahulu. Keyword matching sederhana: 'NIK', 'REPUBLIK INDONESIA', 'SIM', 'BPJS', dst. Plus auto-rotation dalam 4 orientasi untuk handle kartu yang ter-rotate.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bukan tentang siapa yang lebih baik. Ini tentang menjawab pertanyaan yang tepat dengan tool yang tepat. Kalau pertanyaannya 'di mana', YOLO jawabnya. Kalau pertanyaannya 'apakah ada', classification lebih efisien. Dan dengan 3 paradigma sekaligus, kita punya coverage yang lebih luas.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Action items yang jelas dan terurut. Step 1 adalah yang paling kritikal — tanpa data negative, tidak bisa train. Step 3 penting untuk memastikan comparison fair: dataset dan metrik yang sama. Estimasi timeline cukup konservatif.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Buka Q&amp;A. Kemungkinan pertanyaan: (1) Kenapa tidak langsung fine-tune CLIP? — bisa, tapi belum perlu karena zero-shot sudah 86%. (2) Apakah bisa dipakai untuk KTP palsu detection? — bukan scope kita, layer terpisah. (3) Berapa dataset minimum untuk MobileNet? — 2000 gambar sudah cukup untuk mulai.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slideLayout" Target="../slideLayouts/slideLayout1.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A896"/>
          </a:solidFill>
          <a:ln w="12700">
            <a:solidFill>
              <a:srgbClr val="00A896"/>
            </a:solidFill>
            <a:prstDash val="solid"/>
          </a:ln>
        </p:spPr>
      </p:sp>
      <p:sp>
        <p:nvSpPr>
          <p:cNvPr id="3" name="Shape 1"/>
          <p:cNvSpPr/>
          <p:nvPr/>
        </p:nvSpPr>
        <p:spPr>
          <a:xfrm>
            <a:off x="3200400" y="274320"/>
            <a:ext cx="2743200" cy="365760"/>
          </a:xfrm>
          <a:prstGeom prst="roundRect">
            <a:avLst>
              <a:gd name="adj" fmla="val 12500"/>
            </a:avLst>
          </a:prstGeom>
          <a:solidFill>
            <a:srgbClr val="1C7293"/>
          </a:solidFill>
          <a:ln w="12700">
            <a:solidFill>
              <a:srgbClr val="1C7293"/>
            </a:solidFill>
            <a:prstDash val="solid"/>
          </a:ln>
        </p:spPr>
      </p:sp>
      <p:sp>
        <p:nvSpPr>
          <p:cNvPr id="4" name="Text 2"/>
          <p:cNvSpPr/>
          <p:nvPr/>
        </p:nvSpPr>
        <p:spPr>
          <a:xfrm>
            <a:off x="3200400" y="274320"/>
            <a:ext cx="2743200" cy="365760"/>
          </a:xfrm>
          <a:prstGeom prst="rect">
            <a:avLst/>
          </a:prstGeom>
          <a:noFill/>
          <a:ln/>
        </p:spPr>
        <p:txBody>
          <a:bodyPr wrap="square" lIns="0" tIns="0" rIns="0" bIns="0" rtlCol="0" anchor="ctr"/>
          <a:lstStyle/>
          <a:p>
            <a:pPr algn="ctr" indent="0" marL="0">
              <a:buNone/>
            </a:pPr>
            <a:r>
              <a:rPr lang="en-US" sz="900" dirty="0">
                <a:solidFill>
                  <a:srgbClr val="FFFFFF"/>
                </a:solidFill>
              </a:rPr>
              <a:t>CPU-Only  •  Open Source  •  &lt;10s Inference</a:t>
            </a:r>
            <a:endParaRPr lang="en-US" sz="900" dirty="0"/>
          </a:p>
        </p:txBody>
      </p:sp>
      <p:sp>
        <p:nvSpPr>
          <p:cNvPr id="5" name="Text 3"/>
          <p:cNvSpPr/>
          <p:nvPr/>
        </p:nvSpPr>
        <p:spPr>
          <a:xfrm>
            <a:off x="548640" y="1005840"/>
            <a:ext cx="8046720" cy="868680"/>
          </a:xfrm>
          <a:prstGeom prst="rect">
            <a:avLst/>
          </a:prstGeom>
          <a:noFill/>
          <a:ln/>
        </p:spPr>
        <p:txBody>
          <a:bodyPr wrap="square" rtlCol="0" anchor="ctr"/>
          <a:lstStyle/>
          <a:p>
            <a:pPr algn="ctr" indent="0" marL="0">
              <a:buNone/>
            </a:pPr>
            <a:r>
              <a:rPr lang="en-US" sz="4000" b="1" dirty="0">
                <a:solidFill>
                  <a:srgbClr val="FFFFFF"/>
                </a:solidFill>
                <a:latin typeface="Trebuchet MS" pitchFamily="34" charset="0"/>
                <a:ea typeface="Trebuchet MS" pitchFamily="34" charset="-122"/>
                <a:cs typeface="Trebuchet MS" pitchFamily="34" charset="-120"/>
              </a:rPr>
              <a:t>KTP Selfie Classifier</a:t>
            </a:r>
            <a:endParaRPr lang="en-US" sz="4000" dirty="0"/>
          </a:p>
        </p:txBody>
      </p:sp>
      <p:sp>
        <p:nvSpPr>
          <p:cNvPr id="6" name="Text 4"/>
          <p:cNvSpPr/>
          <p:nvPr/>
        </p:nvSpPr>
        <p:spPr>
          <a:xfrm>
            <a:off x="548640" y="1828800"/>
            <a:ext cx="8046720" cy="640080"/>
          </a:xfrm>
          <a:prstGeom prst="rect">
            <a:avLst/>
          </a:prstGeom>
          <a:noFill/>
          <a:ln/>
        </p:spPr>
        <p:txBody>
          <a:bodyPr wrap="square" rtlCol="0" anchor="ctr"/>
          <a:lstStyle/>
          <a:p>
            <a:pPr algn="ctr" indent="0" marL="0">
              <a:buNone/>
            </a:pPr>
            <a:r>
              <a:rPr lang="en-US" sz="2600" dirty="0">
                <a:solidFill>
                  <a:srgbClr val="00A896"/>
                </a:solidFill>
                <a:latin typeface="Trebuchet MS" pitchFamily="34" charset="0"/>
                <a:ea typeface="Trebuchet MS" pitchFamily="34" charset="-122"/>
                <a:cs typeface="Trebuchet MS" pitchFamily="34" charset="-120"/>
              </a:rPr>
              <a:t>Alternative Approaches to YOLO</a:t>
            </a:r>
            <a:endParaRPr lang="en-US" sz="2600" dirty="0"/>
          </a:p>
        </p:txBody>
      </p:sp>
      <p:sp>
        <p:nvSpPr>
          <p:cNvPr id="7" name="Text 5"/>
          <p:cNvSpPr/>
          <p:nvPr/>
        </p:nvSpPr>
        <p:spPr>
          <a:xfrm>
            <a:off x="548640" y="2423160"/>
            <a:ext cx="8046720" cy="457200"/>
          </a:xfrm>
          <a:prstGeom prst="rect">
            <a:avLst/>
          </a:prstGeom>
          <a:noFill/>
          <a:ln/>
        </p:spPr>
        <p:txBody>
          <a:bodyPr wrap="square" rtlCol="0" anchor="ctr"/>
          <a:lstStyle/>
          <a:p>
            <a:pPr algn="ctr" indent="0" marL="0">
              <a:buNone/>
            </a:pPr>
            <a:r>
              <a:rPr lang="en-US" sz="1600" dirty="0">
                <a:solidFill>
                  <a:srgbClr val="CADCFC"/>
                </a:solidFill>
                <a:latin typeface="Calibri" pitchFamily="34" charset="0"/>
                <a:ea typeface="Calibri" pitchFamily="34" charset="-122"/>
                <a:cs typeface="Calibri" pitchFamily="34" charset="-120"/>
              </a:rPr>
              <a:t>3 Paradigma Berbeda untuk Binary Card Detection</a:t>
            </a:r>
            <a:endParaRPr lang="en-US" sz="1600" dirty="0"/>
          </a:p>
        </p:txBody>
      </p:sp>
      <p:sp>
        <p:nvSpPr>
          <p:cNvPr id="8" name="Shape 6"/>
          <p:cNvSpPr/>
          <p:nvPr/>
        </p:nvSpPr>
        <p:spPr>
          <a:xfrm>
            <a:off x="1371600" y="3063240"/>
            <a:ext cx="1828800" cy="384048"/>
          </a:xfrm>
          <a:prstGeom prst="roundRect">
            <a:avLst>
              <a:gd name="adj" fmla="val 19048"/>
            </a:avLst>
          </a:prstGeom>
          <a:solidFill>
            <a:srgbClr val="0D9488"/>
          </a:solidFill>
          <a:ln w="12700">
            <a:solidFill>
              <a:srgbClr val="0D9488"/>
            </a:solidFill>
            <a:prstDash val="solid"/>
          </a:ln>
        </p:spPr>
      </p:sp>
      <p:sp>
        <p:nvSpPr>
          <p:cNvPr id="9" name="Text 7"/>
          <p:cNvSpPr/>
          <p:nvPr/>
        </p:nvSpPr>
        <p:spPr>
          <a:xfrm>
            <a:off x="1371600" y="3063240"/>
            <a:ext cx="1828800" cy="384048"/>
          </a:xfrm>
          <a:prstGeom prst="rect">
            <a:avLst/>
          </a:prstGeom>
          <a:noFill/>
          <a:ln/>
        </p:spPr>
        <p:txBody>
          <a:bodyPr wrap="square" lIns="0" tIns="0" rIns="0" bIns="0" rtlCol="0" anchor="ctr"/>
          <a:lstStyle/>
          <a:p>
            <a:pPr algn="ctr" indent="0" marL="0">
              <a:buNone/>
            </a:pPr>
            <a:r>
              <a:rPr lang="en-US" sz="1200" b="1" dirty="0">
                <a:solidFill>
                  <a:srgbClr val="FFFFFF"/>
                </a:solidFill>
              </a:rPr>
              <a:t>MobileNetV3</a:t>
            </a:r>
            <a:endParaRPr lang="en-US" sz="1200" dirty="0"/>
          </a:p>
        </p:txBody>
      </p:sp>
      <p:sp>
        <p:nvSpPr>
          <p:cNvPr id="10" name="Shape 8"/>
          <p:cNvSpPr/>
          <p:nvPr/>
        </p:nvSpPr>
        <p:spPr>
          <a:xfrm>
            <a:off x="3657600" y="3063240"/>
            <a:ext cx="1828800" cy="384048"/>
          </a:xfrm>
          <a:prstGeom prst="roundRect">
            <a:avLst>
              <a:gd name="adj" fmla="val 19048"/>
            </a:avLst>
          </a:prstGeom>
          <a:solidFill>
            <a:srgbClr val="D97706"/>
          </a:solidFill>
          <a:ln w="12700">
            <a:solidFill>
              <a:srgbClr val="D97706"/>
            </a:solidFill>
            <a:prstDash val="solid"/>
          </a:ln>
        </p:spPr>
      </p:sp>
      <p:sp>
        <p:nvSpPr>
          <p:cNvPr id="11" name="Text 9"/>
          <p:cNvSpPr/>
          <p:nvPr/>
        </p:nvSpPr>
        <p:spPr>
          <a:xfrm>
            <a:off x="3657600" y="3063240"/>
            <a:ext cx="1828800" cy="384048"/>
          </a:xfrm>
          <a:prstGeom prst="rect">
            <a:avLst/>
          </a:prstGeom>
          <a:noFill/>
          <a:ln/>
        </p:spPr>
        <p:txBody>
          <a:bodyPr wrap="square" lIns="0" tIns="0" rIns="0" bIns="0" rtlCol="0" anchor="ctr"/>
          <a:lstStyle/>
          <a:p>
            <a:pPr algn="ctr" indent="0" marL="0">
              <a:buNone/>
            </a:pPr>
            <a:r>
              <a:rPr lang="en-US" sz="1200" b="1" dirty="0">
                <a:solidFill>
                  <a:srgbClr val="FFFFFF"/>
                </a:solidFill>
              </a:rPr>
              <a:t>XGBoost</a:t>
            </a:r>
            <a:endParaRPr lang="en-US" sz="1200" dirty="0"/>
          </a:p>
        </p:txBody>
      </p:sp>
      <p:sp>
        <p:nvSpPr>
          <p:cNvPr id="12" name="Shape 10"/>
          <p:cNvSpPr/>
          <p:nvPr/>
        </p:nvSpPr>
        <p:spPr>
          <a:xfrm>
            <a:off x="5943600" y="3063240"/>
            <a:ext cx="1828800" cy="384048"/>
          </a:xfrm>
          <a:prstGeom prst="roundRect">
            <a:avLst>
              <a:gd name="adj" fmla="val 19048"/>
            </a:avLst>
          </a:prstGeom>
          <a:solidFill>
            <a:srgbClr val="7C3AED"/>
          </a:solidFill>
          <a:ln w="12700">
            <a:solidFill>
              <a:srgbClr val="7C3AED"/>
            </a:solidFill>
            <a:prstDash val="solid"/>
          </a:ln>
        </p:spPr>
      </p:sp>
      <p:sp>
        <p:nvSpPr>
          <p:cNvPr id="13" name="Text 11"/>
          <p:cNvSpPr/>
          <p:nvPr/>
        </p:nvSpPr>
        <p:spPr>
          <a:xfrm>
            <a:off x="5943600" y="3063240"/>
            <a:ext cx="1828800" cy="384048"/>
          </a:xfrm>
          <a:prstGeom prst="rect">
            <a:avLst/>
          </a:prstGeom>
          <a:noFill/>
          <a:ln/>
        </p:spPr>
        <p:txBody>
          <a:bodyPr wrap="square" lIns="0" tIns="0" rIns="0" bIns="0" rtlCol="0" anchor="ctr"/>
          <a:lstStyle/>
          <a:p>
            <a:pPr algn="ctr" indent="0" marL="0">
              <a:buNone/>
            </a:pPr>
            <a:r>
              <a:rPr lang="en-US" sz="1200" b="1" dirty="0">
                <a:solidFill>
                  <a:srgbClr val="FFFFFF"/>
                </a:solidFill>
              </a:rPr>
              <a:t>OpenCLIP</a:t>
            </a:r>
            <a:endParaRPr lang="en-US" sz="1200" dirty="0"/>
          </a:p>
        </p:txBody>
      </p:sp>
      <p:sp>
        <p:nvSpPr>
          <p:cNvPr id="14" name="Text 12"/>
          <p:cNvSpPr/>
          <p:nvPr/>
        </p:nvSpPr>
        <p:spPr>
          <a:xfrm>
            <a:off x="457200" y="4526280"/>
            <a:ext cx="8229600" cy="320040"/>
          </a:xfrm>
          <a:prstGeom prst="rect">
            <a:avLst/>
          </a:prstGeom>
          <a:noFill/>
          <a:ln/>
        </p:spPr>
        <p:txBody>
          <a:bodyPr wrap="square" rtlCol="0" anchor="ctr"/>
          <a:lstStyle/>
          <a:p>
            <a:pPr algn="ctr" indent="0" marL="0">
              <a:buNone/>
            </a:pPr>
            <a:r>
              <a:rPr lang="en-US" sz="1000" dirty="0">
                <a:solidFill>
                  <a:srgbClr val="8899BB"/>
                </a:solidFill>
              </a:rPr>
              <a:t>Presented by: [Your Name]     |     May 2025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rtlCol="0" anchor="ctr"/>
          <a:lstStyle/>
          <a:p>
            <a:pPr indent="0" marL="0">
              <a:buNone/>
            </a:pPr>
            <a:r>
              <a:rPr lang="en-US" sz="3000" b="1" dirty="0">
                <a:solidFill>
                  <a:srgbClr val="065A82"/>
                </a:solidFill>
                <a:latin typeface="Trebuchet MS" pitchFamily="34" charset="0"/>
                <a:ea typeface="Trebuchet MS" pitchFamily="34" charset="-122"/>
                <a:cs typeface="Trebuchet MS" pitchFamily="34" charset="-120"/>
              </a:rPr>
              <a:t>The Task</a:t>
            </a:r>
            <a:endParaRPr lang="en-US" sz="3000" dirty="0"/>
          </a:p>
        </p:txBody>
      </p:sp>
      <p:sp>
        <p:nvSpPr>
          <p:cNvPr id="3" name="Shape 1"/>
          <p:cNvSpPr/>
          <p:nvPr/>
        </p:nvSpPr>
        <p:spPr>
          <a:xfrm>
            <a:off x="365760" y="914400"/>
            <a:ext cx="2286000" cy="914400"/>
          </a:xfrm>
          <a:prstGeom prst="rect">
            <a:avLst/>
          </a:prstGeom>
          <a:solidFill>
            <a:srgbClr val="1C7293"/>
          </a:solidFill>
          <a:ln w="12700">
            <a:solidFill>
              <a:srgbClr val="1C7293"/>
            </a:solidFill>
            <a:prstDash val="solid"/>
          </a:ln>
          <a:effectLst>
            <a:outerShdw sx="100000" sy="100000" kx="0" ky="0" algn="bl" rotWithShape="0" blurRad="76200" dist="25400" dir="8100000">
              <a:srgbClr val="000000">
                <a:alpha val="12000"/>
              </a:srgbClr>
            </a:outerShdw>
          </a:effectLst>
        </p:spPr>
      </p:sp>
      <p:sp>
        <p:nvSpPr>
          <p:cNvPr id="4" name="Text 2"/>
          <p:cNvSpPr/>
          <p:nvPr/>
        </p:nvSpPr>
        <p:spPr>
          <a:xfrm>
            <a:off x="365760" y="914400"/>
            <a:ext cx="2286000" cy="91440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Selfie Image</a:t>
            </a:r>
            <a:endParaRPr lang="en-US" sz="1400" dirty="0"/>
          </a:p>
          <a:p>
            <a:pPr algn="ctr" indent="0" marL="0">
              <a:buNone/>
            </a:pPr>
            <a:r>
              <a:rPr lang="en-US" sz="1400" b="1" dirty="0">
                <a:solidFill>
                  <a:srgbClr val="FFFFFF"/>
                </a:solidFill>
              </a:rPr>
              <a:t>Input</a:t>
            </a:r>
            <a:endParaRPr lang="en-US" sz="1400" dirty="0"/>
          </a:p>
        </p:txBody>
      </p:sp>
      <p:sp>
        <p:nvSpPr>
          <p:cNvPr id="5" name="Shape 3"/>
          <p:cNvSpPr/>
          <p:nvPr/>
        </p:nvSpPr>
        <p:spPr>
          <a:xfrm>
            <a:off x="3474720" y="914400"/>
            <a:ext cx="2286000" cy="914400"/>
          </a:xfrm>
          <a:prstGeom prst="rect">
            <a:avLst/>
          </a:prstGeom>
          <a:solidFill>
            <a:srgbClr val="64748B"/>
          </a:solidFill>
          <a:ln w="12700">
            <a:solidFill>
              <a:srgbClr val="64748B"/>
            </a:solidFill>
            <a:prstDash val="solid"/>
          </a:ln>
          <a:effectLst>
            <a:outerShdw sx="100000" sy="100000" kx="0" ky="0" algn="bl" rotWithShape="0" blurRad="76200" dist="25400" dir="8100000">
              <a:srgbClr val="000000">
                <a:alpha val="12000"/>
              </a:srgbClr>
            </a:outerShdw>
          </a:effectLst>
        </p:spPr>
      </p:sp>
      <p:sp>
        <p:nvSpPr>
          <p:cNvPr id="6" name="Text 4"/>
          <p:cNvSpPr/>
          <p:nvPr/>
        </p:nvSpPr>
        <p:spPr>
          <a:xfrm>
            <a:off x="3474720" y="914400"/>
            <a:ext cx="2286000" cy="91440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a:t>
            </a:r>
            <a:endParaRPr lang="en-US" sz="1400" dirty="0"/>
          </a:p>
        </p:txBody>
      </p:sp>
      <p:sp>
        <p:nvSpPr>
          <p:cNvPr id="7" name="Shape 5"/>
          <p:cNvSpPr/>
          <p:nvPr/>
        </p:nvSpPr>
        <p:spPr>
          <a:xfrm>
            <a:off x="6400800" y="914400"/>
            <a:ext cx="2286000" cy="914400"/>
          </a:xfrm>
          <a:prstGeom prst="rect">
            <a:avLst/>
          </a:prstGeom>
          <a:solidFill>
            <a:srgbClr val="00A896"/>
          </a:solidFill>
          <a:ln w="12700">
            <a:solidFill>
              <a:srgbClr val="00A896"/>
            </a:solidFill>
            <a:prstDash val="solid"/>
          </a:ln>
          <a:effectLst>
            <a:outerShdw sx="100000" sy="100000" kx="0" ky="0" algn="bl" rotWithShape="0" blurRad="76200" dist="25400" dir="8100000">
              <a:srgbClr val="000000">
                <a:alpha val="12000"/>
              </a:srgbClr>
            </a:outerShdw>
          </a:effectLst>
        </p:spPr>
      </p:sp>
      <p:sp>
        <p:nvSpPr>
          <p:cNvPr id="8" name="Text 6"/>
          <p:cNvSpPr/>
          <p:nvPr/>
        </p:nvSpPr>
        <p:spPr>
          <a:xfrm>
            <a:off x="6400800" y="914400"/>
            <a:ext cx="2286000" cy="91440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Ada Kartu /</a:t>
            </a:r>
            <a:endParaRPr lang="en-US" sz="1400" dirty="0"/>
          </a:p>
          <a:p>
            <a:pPr algn="ctr" indent="0" marL="0">
              <a:buNone/>
            </a:pPr>
            <a:r>
              <a:rPr lang="en-US" sz="1400" b="1" dirty="0">
                <a:solidFill>
                  <a:srgbClr val="FFFFFF"/>
                </a:solidFill>
              </a:rPr>
              <a:t>Tidak Ada Kartu</a:t>
            </a:r>
            <a:endParaRPr lang="en-US" sz="1400" dirty="0"/>
          </a:p>
        </p:txBody>
      </p:sp>
      <p:sp>
        <p:nvSpPr>
          <p:cNvPr id="9" name="Shape 7"/>
          <p:cNvSpPr/>
          <p:nvPr/>
        </p:nvSpPr>
        <p:spPr>
          <a:xfrm>
            <a:off x="2743200" y="1371600"/>
            <a:ext cx="548640" cy="0"/>
          </a:xfrm>
          <a:prstGeom prst="line">
            <a:avLst/>
          </a:prstGeom>
          <a:noFill/>
          <a:ln w="31750">
            <a:solidFill>
              <a:srgbClr val="64748B"/>
            </a:solidFill>
            <a:prstDash val="solid"/>
          </a:ln>
        </p:spPr>
      </p:sp>
      <p:sp>
        <p:nvSpPr>
          <p:cNvPr id="10" name="Text 8"/>
          <p:cNvSpPr/>
          <p:nvPr/>
        </p:nvSpPr>
        <p:spPr>
          <a:xfrm>
            <a:off x="3154680" y="1207008"/>
            <a:ext cx="228600" cy="320040"/>
          </a:xfrm>
          <a:prstGeom prst="rect">
            <a:avLst/>
          </a:prstGeom>
          <a:noFill/>
          <a:ln/>
        </p:spPr>
        <p:txBody>
          <a:bodyPr wrap="square" lIns="0" tIns="0" rIns="0" bIns="0" rtlCol="0" anchor="ctr"/>
          <a:lstStyle/>
          <a:p>
            <a:pPr indent="0" marL="0">
              <a:buNone/>
            </a:pPr>
            <a:r>
              <a:rPr lang="en-US" sz="1200" dirty="0">
                <a:solidFill>
                  <a:srgbClr val="64748B"/>
                </a:solidFill>
              </a:rPr>
              <a:t>▶</a:t>
            </a:r>
            <a:endParaRPr lang="en-US" sz="1200" dirty="0"/>
          </a:p>
        </p:txBody>
      </p:sp>
      <p:sp>
        <p:nvSpPr>
          <p:cNvPr id="11" name="Shape 9"/>
          <p:cNvSpPr/>
          <p:nvPr/>
        </p:nvSpPr>
        <p:spPr>
          <a:xfrm>
            <a:off x="6035040" y="1371600"/>
            <a:ext cx="548640" cy="0"/>
          </a:xfrm>
          <a:prstGeom prst="line">
            <a:avLst/>
          </a:prstGeom>
          <a:noFill/>
          <a:ln w="31750">
            <a:solidFill>
              <a:srgbClr val="64748B"/>
            </a:solidFill>
            <a:prstDash val="solid"/>
          </a:ln>
        </p:spPr>
      </p:sp>
      <p:sp>
        <p:nvSpPr>
          <p:cNvPr id="12" name="Text 10"/>
          <p:cNvSpPr/>
          <p:nvPr/>
        </p:nvSpPr>
        <p:spPr>
          <a:xfrm>
            <a:off x="6446520" y="1207008"/>
            <a:ext cx="228600" cy="320040"/>
          </a:xfrm>
          <a:prstGeom prst="rect">
            <a:avLst/>
          </a:prstGeom>
          <a:noFill/>
          <a:ln/>
        </p:spPr>
        <p:txBody>
          <a:bodyPr wrap="square" lIns="0" tIns="0" rIns="0" bIns="0" rtlCol="0" anchor="ctr"/>
          <a:lstStyle/>
          <a:p>
            <a:pPr indent="0" marL="0">
              <a:buNone/>
            </a:pPr>
            <a:r>
              <a:rPr lang="en-US" sz="1200" dirty="0">
                <a:solidFill>
                  <a:srgbClr val="64748B"/>
                </a:solidFill>
              </a:rPr>
              <a:t>▶</a:t>
            </a:r>
            <a:endParaRPr lang="en-US" sz="1200" dirty="0"/>
          </a:p>
        </p:txBody>
      </p:sp>
      <p:sp>
        <p:nvSpPr>
          <p:cNvPr id="13" name="Shape 11"/>
          <p:cNvSpPr/>
          <p:nvPr/>
        </p:nvSpPr>
        <p:spPr>
          <a:xfrm>
            <a:off x="365760" y="2057400"/>
            <a:ext cx="8412480" cy="548640"/>
          </a:xfrm>
          <a:prstGeom prst="rect">
            <a:avLst/>
          </a:prstGeom>
          <a:solidFill>
            <a:srgbClr val="EFF6FF"/>
          </a:solidFill>
          <a:ln w="12700">
            <a:solidFill>
              <a:srgbClr val="BFDBFE"/>
            </a:solidFill>
            <a:prstDash val="solid"/>
          </a:ln>
        </p:spPr>
      </p:sp>
      <p:sp>
        <p:nvSpPr>
          <p:cNvPr id="14" name="Text 12"/>
          <p:cNvSpPr/>
          <p:nvPr/>
        </p:nvSpPr>
        <p:spPr>
          <a:xfrm>
            <a:off x="457200" y="2057400"/>
            <a:ext cx="8229600" cy="548640"/>
          </a:xfrm>
          <a:prstGeom prst="rect">
            <a:avLst/>
          </a:prstGeom>
          <a:noFill/>
          <a:ln/>
        </p:spPr>
        <p:txBody>
          <a:bodyPr wrap="square" rtlCol="0" anchor="ctr"/>
          <a:lstStyle/>
          <a:p>
            <a:pPr algn="ctr" indent="0" marL="0">
              <a:buNone/>
            </a:pPr>
            <a:r>
              <a:rPr lang="en-US" sz="1300" i="1" dirty="0">
                <a:solidFill>
                  <a:srgbClr val="1E293B"/>
                </a:solidFill>
              </a:rPr>
              <a:t>Binary Classification: apakah di foto selfie ini terdapat identity card atau tidak.</a:t>
            </a:r>
            <a:endParaRPr lang="en-US" sz="1300" dirty="0"/>
          </a:p>
        </p:txBody>
      </p:sp>
      <p:sp>
        <p:nvSpPr>
          <p:cNvPr id="15" name="Shape 13"/>
          <p:cNvSpPr/>
          <p:nvPr/>
        </p:nvSpPr>
        <p:spPr>
          <a:xfrm>
            <a:off x="457200" y="2834640"/>
            <a:ext cx="2560320" cy="1737360"/>
          </a:xfrm>
          <a:prstGeom prst="rect">
            <a:avLst/>
          </a:prstGeom>
          <a:solidFill>
            <a:srgbClr val="065A82"/>
          </a:solidFill>
          <a:ln w="12700">
            <a:solidFill>
              <a:srgbClr val="065A82"/>
            </a:solidFill>
            <a:prstDash val="solid"/>
          </a:ln>
          <a:effectLst>
            <a:outerShdw sx="100000" sy="100000" kx="0" ky="0" algn="bl" rotWithShape="0" blurRad="76200" dist="25400" dir="8100000">
              <a:srgbClr val="000000">
                <a:alpha val="12000"/>
              </a:srgbClr>
            </a:outerShdw>
          </a:effectLst>
        </p:spPr>
      </p:sp>
      <p:pic>
        <p:nvPicPr>
          <p:cNvPr id="16" name="Image 0" descr="preencoded.png">    </p:cNvPr>
          <p:cNvPicPr>
            <a:picLocks noChangeAspect="1"/>
          </p:cNvPicPr>
          <p:nvPr/>
        </p:nvPicPr>
        <p:blipFill>
          <a:blip r:embed="rId1"/>
          <a:stretch>
            <a:fillRect/>
          </a:stretch>
        </p:blipFill>
        <p:spPr>
          <a:xfrm>
            <a:off x="1463040" y="2926080"/>
            <a:ext cx="548640" cy="548640"/>
          </a:xfrm>
          <a:prstGeom prst="rect">
            <a:avLst/>
          </a:prstGeom>
        </p:spPr>
      </p:pic>
      <p:sp>
        <p:nvSpPr>
          <p:cNvPr id="17" name="Text 14"/>
          <p:cNvSpPr/>
          <p:nvPr/>
        </p:nvSpPr>
        <p:spPr>
          <a:xfrm>
            <a:off x="457200" y="3520440"/>
            <a:ext cx="2560320" cy="384048"/>
          </a:xfrm>
          <a:prstGeom prst="rect">
            <a:avLst/>
          </a:prstGeom>
          <a:noFill/>
          <a:ln/>
        </p:spPr>
        <p:txBody>
          <a:bodyPr wrap="square" lIns="0" tIns="0" rIns="0" bIns="0" rtlCol="0" anchor="ctr"/>
          <a:lstStyle/>
          <a:p>
            <a:pPr algn="ctr" indent="0" marL="0">
              <a:buNone/>
            </a:pPr>
            <a:r>
              <a:rPr lang="en-US" sz="1400" b="1" dirty="0">
                <a:solidFill>
                  <a:srgbClr val="FFFFFF"/>
                </a:solidFill>
              </a:rPr>
              <a:t>CPU-Only</a:t>
            </a:r>
            <a:endParaRPr lang="en-US" sz="1400" dirty="0"/>
          </a:p>
        </p:txBody>
      </p:sp>
      <p:sp>
        <p:nvSpPr>
          <p:cNvPr id="18" name="Text 15"/>
          <p:cNvSpPr/>
          <p:nvPr/>
        </p:nvSpPr>
        <p:spPr>
          <a:xfrm>
            <a:off x="457200" y="3913632"/>
            <a:ext cx="2560320" cy="457200"/>
          </a:xfrm>
          <a:prstGeom prst="rect">
            <a:avLst/>
          </a:prstGeom>
          <a:noFill/>
          <a:ln/>
        </p:spPr>
        <p:txBody>
          <a:bodyPr wrap="square" lIns="50800" tIns="50800" rIns="50800" bIns="50800" rtlCol="0" anchor="ctr"/>
          <a:lstStyle/>
          <a:p>
            <a:pPr algn="ctr" indent="0" marL="0">
              <a:buNone/>
            </a:pPr>
            <a:r>
              <a:rPr lang="en-US" sz="1000" dirty="0">
                <a:solidFill>
                  <a:srgbClr val="CADCFC"/>
                </a:solidFill>
              </a:rPr>
              <a:t>No GPU required</a:t>
            </a:r>
            <a:endParaRPr lang="en-US" sz="1000" dirty="0"/>
          </a:p>
        </p:txBody>
      </p:sp>
      <p:sp>
        <p:nvSpPr>
          <p:cNvPr id="19" name="Shape 16"/>
          <p:cNvSpPr/>
          <p:nvPr/>
        </p:nvSpPr>
        <p:spPr>
          <a:xfrm>
            <a:off x="3291840" y="2834640"/>
            <a:ext cx="2560320" cy="1737360"/>
          </a:xfrm>
          <a:prstGeom prst="rect">
            <a:avLst/>
          </a:prstGeom>
          <a:solidFill>
            <a:srgbClr val="1C7293"/>
          </a:solidFill>
          <a:ln w="12700">
            <a:solidFill>
              <a:srgbClr val="1C7293"/>
            </a:solidFill>
            <a:prstDash val="solid"/>
          </a:ln>
          <a:effectLst>
            <a:outerShdw sx="100000" sy="100000" kx="0" ky="0" algn="bl" rotWithShape="0" blurRad="76200" dist="25400" dir="8100000">
              <a:srgbClr val="000000">
                <a:alpha val="12000"/>
              </a:srgbClr>
            </a:outerShdw>
          </a:effectLst>
        </p:spPr>
      </p:sp>
      <p:pic>
        <p:nvPicPr>
          <p:cNvPr id="20" name="Image 1" descr="preencoded.png">    </p:cNvPr>
          <p:cNvPicPr>
            <a:picLocks noChangeAspect="1"/>
          </p:cNvPicPr>
          <p:nvPr/>
        </p:nvPicPr>
        <p:blipFill>
          <a:blip r:embed="rId2"/>
          <a:stretch>
            <a:fillRect/>
          </a:stretch>
        </p:blipFill>
        <p:spPr>
          <a:xfrm>
            <a:off x="4297680" y="2926080"/>
            <a:ext cx="548640" cy="548640"/>
          </a:xfrm>
          <a:prstGeom prst="rect">
            <a:avLst/>
          </a:prstGeom>
        </p:spPr>
      </p:pic>
      <p:sp>
        <p:nvSpPr>
          <p:cNvPr id="21" name="Text 17"/>
          <p:cNvSpPr/>
          <p:nvPr/>
        </p:nvSpPr>
        <p:spPr>
          <a:xfrm>
            <a:off x="3291840" y="3520440"/>
            <a:ext cx="2560320" cy="384048"/>
          </a:xfrm>
          <a:prstGeom prst="rect">
            <a:avLst/>
          </a:prstGeom>
          <a:noFill/>
          <a:ln/>
        </p:spPr>
        <p:txBody>
          <a:bodyPr wrap="square" lIns="0" tIns="0" rIns="0" bIns="0" rtlCol="0" anchor="ctr"/>
          <a:lstStyle/>
          <a:p>
            <a:pPr algn="ctr" indent="0" marL="0">
              <a:buNone/>
            </a:pPr>
            <a:r>
              <a:rPr lang="en-US" sz="1400" b="1" dirty="0">
                <a:solidFill>
                  <a:srgbClr val="FFFFFF"/>
                </a:solidFill>
              </a:rPr>
              <a:t>Fully Offline</a:t>
            </a:r>
            <a:endParaRPr lang="en-US" sz="1400" dirty="0"/>
          </a:p>
        </p:txBody>
      </p:sp>
      <p:sp>
        <p:nvSpPr>
          <p:cNvPr id="22" name="Text 18"/>
          <p:cNvSpPr/>
          <p:nvPr/>
        </p:nvSpPr>
        <p:spPr>
          <a:xfrm>
            <a:off x="3291840" y="3913632"/>
            <a:ext cx="2560320" cy="457200"/>
          </a:xfrm>
          <a:prstGeom prst="rect">
            <a:avLst/>
          </a:prstGeom>
          <a:noFill/>
          <a:ln/>
        </p:spPr>
        <p:txBody>
          <a:bodyPr wrap="square" lIns="50800" tIns="50800" rIns="50800" bIns="50800" rtlCol="0" anchor="ctr"/>
          <a:lstStyle/>
          <a:p>
            <a:pPr algn="ctr" indent="0" marL="0">
              <a:buNone/>
            </a:pPr>
            <a:r>
              <a:rPr lang="en-US" sz="1000" dirty="0">
                <a:solidFill>
                  <a:srgbClr val="CADCFC"/>
                </a:solidFill>
              </a:rPr>
              <a:t>No external API</a:t>
            </a:r>
            <a:endParaRPr lang="en-US" sz="1000" dirty="0"/>
          </a:p>
          <a:p>
            <a:pPr algn="ctr" indent="0" marL="0">
              <a:buNone/>
            </a:pPr>
            <a:r>
              <a:rPr lang="en-US" sz="1000" dirty="0">
                <a:solidFill>
                  <a:srgbClr val="CADCFC"/>
                </a:solidFill>
              </a:rPr>
              <a:t>(data sensitif)</a:t>
            </a:r>
            <a:endParaRPr lang="en-US" sz="1000" dirty="0"/>
          </a:p>
        </p:txBody>
      </p:sp>
      <p:sp>
        <p:nvSpPr>
          <p:cNvPr id="23" name="Shape 19"/>
          <p:cNvSpPr/>
          <p:nvPr/>
        </p:nvSpPr>
        <p:spPr>
          <a:xfrm>
            <a:off x="6126480" y="2834640"/>
            <a:ext cx="2560320" cy="1737360"/>
          </a:xfrm>
          <a:prstGeom prst="rect">
            <a:avLst/>
          </a:prstGeom>
          <a:solidFill>
            <a:srgbClr val="0D9488"/>
          </a:solidFill>
          <a:ln w="12700">
            <a:solidFill>
              <a:srgbClr val="0D9488"/>
            </a:solidFill>
            <a:prstDash val="solid"/>
          </a:ln>
          <a:effectLst>
            <a:outerShdw sx="100000" sy="100000" kx="0" ky="0" algn="bl" rotWithShape="0" blurRad="76200" dist="25400" dir="8100000">
              <a:srgbClr val="000000">
                <a:alpha val="12000"/>
              </a:srgbClr>
            </a:outerShdw>
          </a:effectLst>
        </p:spPr>
      </p:sp>
      <p:pic>
        <p:nvPicPr>
          <p:cNvPr id="24" name="Image 2" descr="preencoded.png">    </p:cNvPr>
          <p:cNvPicPr>
            <a:picLocks noChangeAspect="1"/>
          </p:cNvPicPr>
          <p:nvPr/>
        </p:nvPicPr>
        <p:blipFill>
          <a:blip r:embed="rId3"/>
          <a:stretch>
            <a:fillRect/>
          </a:stretch>
        </p:blipFill>
        <p:spPr>
          <a:xfrm>
            <a:off x="7132320" y="2926080"/>
            <a:ext cx="548640" cy="548640"/>
          </a:xfrm>
          <a:prstGeom prst="rect">
            <a:avLst/>
          </a:prstGeom>
        </p:spPr>
      </p:pic>
      <p:sp>
        <p:nvSpPr>
          <p:cNvPr id="25" name="Text 20"/>
          <p:cNvSpPr/>
          <p:nvPr/>
        </p:nvSpPr>
        <p:spPr>
          <a:xfrm>
            <a:off x="6126480" y="3520440"/>
            <a:ext cx="2560320" cy="384048"/>
          </a:xfrm>
          <a:prstGeom prst="rect">
            <a:avLst/>
          </a:prstGeom>
          <a:noFill/>
          <a:ln/>
        </p:spPr>
        <p:txBody>
          <a:bodyPr wrap="square" lIns="0" tIns="0" rIns="0" bIns="0" rtlCol="0" anchor="ctr"/>
          <a:lstStyle/>
          <a:p>
            <a:pPr algn="ctr" indent="0" marL="0">
              <a:buNone/>
            </a:pPr>
            <a:r>
              <a:rPr lang="en-US" sz="1400" b="1" dirty="0">
                <a:solidFill>
                  <a:srgbClr val="FFFFFF"/>
                </a:solidFill>
              </a:rPr>
              <a:t>&lt; 10 Detik</a:t>
            </a:r>
            <a:endParaRPr lang="en-US" sz="1400" dirty="0"/>
          </a:p>
        </p:txBody>
      </p:sp>
      <p:sp>
        <p:nvSpPr>
          <p:cNvPr id="26" name="Text 21"/>
          <p:cNvSpPr/>
          <p:nvPr/>
        </p:nvSpPr>
        <p:spPr>
          <a:xfrm>
            <a:off x="6126480" y="3913632"/>
            <a:ext cx="2560320" cy="457200"/>
          </a:xfrm>
          <a:prstGeom prst="rect">
            <a:avLst/>
          </a:prstGeom>
          <a:noFill/>
          <a:ln/>
        </p:spPr>
        <p:txBody>
          <a:bodyPr wrap="square" lIns="50800" tIns="50800" rIns="50800" bIns="50800" rtlCol="0" anchor="ctr"/>
          <a:lstStyle/>
          <a:p>
            <a:pPr algn="ctr" indent="0" marL="0">
              <a:buNone/>
            </a:pPr>
            <a:r>
              <a:rPr lang="en-US" sz="1000" dirty="0">
                <a:solidFill>
                  <a:srgbClr val="CADCFC"/>
                </a:solidFill>
              </a:rPr>
              <a:t>Per image inference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rtlCol="0" anchor="ctr"/>
          <a:lstStyle/>
          <a:p>
            <a:pPr indent="0" marL="0">
              <a:buNone/>
            </a:pPr>
            <a:r>
              <a:rPr lang="en-US" sz="3000" b="1" dirty="0">
                <a:solidFill>
                  <a:srgbClr val="065A82"/>
                </a:solidFill>
                <a:latin typeface="Trebuchet MS" pitchFamily="34" charset="0"/>
                <a:ea typeface="Trebuchet MS" pitchFamily="34" charset="-122"/>
                <a:cs typeface="Trebuchet MS" pitchFamily="34" charset="-120"/>
              </a:rPr>
              <a:t>Real-World Input Variasi</a:t>
            </a:r>
            <a:endParaRPr lang="en-US" sz="3000" dirty="0"/>
          </a:p>
        </p:txBody>
      </p:sp>
      <p:sp>
        <p:nvSpPr>
          <p:cNvPr id="3" name="Text 1"/>
          <p:cNvSpPr/>
          <p:nvPr/>
        </p:nvSpPr>
        <p:spPr>
          <a:xfrm>
            <a:off x="457200" y="685800"/>
            <a:ext cx="8229600" cy="274320"/>
          </a:xfrm>
          <a:prstGeom prst="rect">
            <a:avLst/>
          </a:prstGeom>
          <a:noFill/>
          <a:ln/>
        </p:spPr>
        <p:txBody>
          <a:bodyPr wrap="square" rtlCol="0" anchor="ctr"/>
          <a:lstStyle/>
          <a:p>
            <a:pPr indent="0" marL="0">
              <a:buNone/>
            </a:pPr>
            <a:r>
              <a:rPr lang="en-US" sz="1200" i="1" dirty="0">
                <a:solidFill>
                  <a:srgbClr val="64748B"/>
                </a:solidFill>
              </a:rPr>
              <a:t>Setiap approach harus handle semua variasi ini.</a:t>
            </a:r>
            <a:endParaRPr lang="en-US" sz="1200" dirty="0"/>
          </a:p>
        </p:txBody>
      </p:sp>
      <p:sp>
        <p:nvSpPr>
          <p:cNvPr id="4" name="Shape 2"/>
          <p:cNvSpPr/>
          <p:nvPr/>
        </p:nvSpPr>
        <p:spPr>
          <a:xfrm>
            <a:off x="320040" y="1005840"/>
            <a:ext cx="4160520" cy="1828800"/>
          </a:xfrm>
          <a:prstGeom prst="rect">
            <a:avLst/>
          </a:prstGeom>
          <a:solidFill>
            <a:srgbClr val="EFF6FF"/>
          </a:solidFill>
          <a:ln w="12700">
            <a:solidFill>
              <a:srgbClr val="065A82"/>
            </a:solidFill>
            <a:prstDash val="solid"/>
          </a:ln>
          <a:effectLst>
            <a:outerShdw sx="100000" sy="100000" kx="0" ky="0" algn="bl" rotWithShape="0" blurRad="76200" dist="25400" dir="8100000">
              <a:srgbClr val="000000">
                <a:alpha val="12000"/>
              </a:srgbClr>
            </a:outerShdw>
          </a:effectLst>
        </p:spPr>
      </p:sp>
      <p:sp>
        <p:nvSpPr>
          <p:cNvPr id="5" name="Shape 3"/>
          <p:cNvSpPr/>
          <p:nvPr/>
        </p:nvSpPr>
        <p:spPr>
          <a:xfrm>
            <a:off x="320040" y="1005840"/>
            <a:ext cx="73152" cy="1828800"/>
          </a:xfrm>
          <a:prstGeom prst="rect">
            <a:avLst/>
          </a:prstGeom>
          <a:solidFill>
            <a:srgbClr val="065A82"/>
          </a:solidFill>
          <a:ln w="12700">
            <a:solidFill>
              <a:srgbClr val="065A82"/>
            </a:solidFill>
            <a:prstDash val="solid"/>
          </a:ln>
        </p:spPr>
      </p:sp>
      <p:pic>
        <p:nvPicPr>
          <p:cNvPr id="6" name="Image 0" descr="preencoded.png">    </p:cNvPr>
          <p:cNvPicPr>
            <a:picLocks noChangeAspect="1"/>
          </p:cNvPicPr>
          <p:nvPr/>
        </p:nvPicPr>
        <p:blipFill>
          <a:blip r:embed="rId1"/>
          <a:stretch>
            <a:fillRect/>
          </a:stretch>
        </p:blipFill>
        <p:spPr>
          <a:xfrm>
            <a:off x="502920" y="1508760"/>
            <a:ext cx="502920" cy="502920"/>
          </a:xfrm>
          <a:prstGeom prst="rect">
            <a:avLst/>
          </a:prstGeom>
        </p:spPr>
      </p:pic>
      <p:sp>
        <p:nvSpPr>
          <p:cNvPr id="7" name="Text 4"/>
          <p:cNvSpPr/>
          <p:nvPr/>
        </p:nvSpPr>
        <p:spPr>
          <a:xfrm>
            <a:off x="1097280" y="1188720"/>
            <a:ext cx="3200400" cy="411480"/>
          </a:xfrm>
          <a:prstGeom prst="rect">
            <a:avLst/>
          </a:prstGeom>
          <a:noFill/>
          <a:ln/>
        </p:spPr>
        <p:txBody>
          <a:bodyPr wrap="square" lIns="0" tIns="0" rIns="0" bIns="0" rtlCol="0" anchor="ctr"/>
          <a:lstStyle/>
          <a:p>
            <a:pPr indent="0" marL="0">
              <a:buNone/>
            </a:pPr>
            <a:r>
              <a:rPr lang="en-US" sz="1400" b="1" dirty="0">
                <a:solidFill>
                  <a:srgbClr val="065A82"/>
                </a:solidFill>
                <a:latin typeface="Trebuchet MS" pitchFamily="34" charset="0"/>
                <a:ea typeface="Trebuchet MS" pitchFamily="34" charset="-122"/>
                <a:cs typeface="Trebuchet MS" pitchFamily="34" charset="-120"/>
              </a:rPr>
              <a:t>Rotated Input</a:t>
            </a:r>
            <a:endParaRPr lang="en-US" sz="1400" dirty="0"/>
          </a:p>
        </p:txBody>
      </p:sp>
      <p:sp>
        <p:nvSpPr>
          <p:cNvPr id="8" name="Text 5"/>
          <p:cNvSpPr/>
          <p:nvPr/>
        </p:nvSpPr>
        <p:spPr>
          <a:xfrm>
            <a:off x="1097280" y="1600200"/>
            <a:ext cx="3200400" cy="1005840"/>
          </a:xfrm>
          <a:prstGeom prst="rect">
            <a:avLst/>
          </a:prstGeom>
          <a:noFill/>
          <a:ln/>
        </p:spPr>
        <p:txBody>
          <a:bodyPr wrap="square" lIns="0" tIns="0" rIns="0" bIns="0" rtlCol="0" anchor="ctr"/>
          <a:lstStyle/>
          <a:p>
            <a:pPr indent="0" marL="0">
              <a:buNone/>
            </a:pPr>
            <a:r>
              <a:rPr lang="en-US" sz="1100" dirty="0">
                <a:solidFill>
                  <a:srgbClr val="1E293B"/>
                </a:solidFill>
              </a:rPr>
              <a:t>Gambar bisa ter-rotate 90°, 180°, atau 270° — tergantung orientasi kamera saat selfie</a:t>
            </a:r>
            <a:endParaRPr lang="en-US" sz="1100" dirty="0"/>
          </a:p>
        </p:txBody>
      </p:sp>
      <p:sp>
        <p:nvSpPr>
          <p:cNvPr id="9" name="Shape 6"/>
          <p:cNvSpPr/>
          <p:nvPr/>
        </p:nvSpPr>
        <p:spPr>
          <a:xfrm>
            <a:off x="4754880" y="1005840"/>
            <a:ext cx="4160520" cy="1828800"/>
          </a:xfrm>
          <a:prstGeom prst="rect">
            <a:avLst/>
          </a:prstGeom>
          <a:solidFill>
            <a:srgbClr val="F0FDFA"/>
          </a:solidFill>
          <a:ln w="12700">
            <a:solidFill>
              <a:srgbClr val="0D9488"/>
            </a:solidFill>
            <a:prstDash val="solid"/>
          </a:ln>
          <a:effectLst>
            <a:outerShdw sx="100000" sy="100000" kx="0" ky="0" algn="bl" rotWithShape="0" blurRad="76200" dist="25400" dir="8100000">
              <a:srgbClr val="000000">
                <a:alpha val="12000"/>
              </a:srgbClr>
            </a:outerShdw>
          </a:effectLst>
        </p:spPr>
      </p:sp>
      <p:sp>
        <p:nvSpPr>
          <p:cNvPr id="10" name="Shape 7"/>
          <p:cNvSpPr/>
          <p:nvPr/>
        </p:nvSpPr>
        <p:spPr>
          <a:xfrm>
            <a:off x="4754880" y="1005840"/>
            <a:ext cx="73152" cy="1828800"/>
          </a:xfrm>
          <a:prstGeom prst="rect">
            <a:avLst/>
          </a:prstGeom>
          <a:solidFill>
            <a:srgbClr val="0D9488"/>
          </a:solidFill>
          <a:ln w="12700">
            <a:solidFill>
              <a:srgbClr val="0D9488"/>
            </a:solidFill>
            <a:prstDash val="solid"/>
          </a:ln>
        </p:spPr>
      </p:sp>
      <p:pic>
        <p:nvPicPr>
          <p:cNvPr id="11" name="Image 1" descr="preencoded.png">    </p:cNvPr>
          <p:cNvPicPr>
            <a:picLocks noChangeAspect="1"/>
          </p:cNvPicPr>
          <p:nvPr/>
        </p:nvPicPr>
        <p:blipFill>
          <a:blip r:embed="rId2"/>
          <a:stretch>
            <a:fillRect/>
          </a:stretch>
        </p:blipFill>
        <p:spPr>
          <a:xfrm>
            <a:off x="4937760" y="1508760"/>
            <a:ext cx="502920" cy="502920"/>
          </a:xfrm>
          <a:prstGeom prst="rect">
            <a:avLst/>
          </a:prstGeom>
        </p:spPr>
      </p:pic>
      <p:sp>
        <p:nvSpPr>
          <p:cNvPr id="12" name="Text 8"/>
          <p:cNvSpPr/>
          <p:nvPr/>
        </p:nvSpPr>
        <p:spPr>
          <a:xfrm>
            <a:off x="5532120" y="1188720"/>
            <a:ext cx="3200400" cy="411480"/>
          </a:xfrm>
          <a:prstGeom prst="rect">
            <a:avLst/>
          </a:prstGeom>
          <a:noFill/>
          <a:ln/>
        </p:spPr>
        <p:txBody>
          <a:bodyPr wrap="square" lIns="0" tIns="0" rIns="0" bIns="0" rtlCol="0" anchor="ctr"/>
          <a:lstStyle/>
          <a:p>
            <a:pPr indent="0" marL="0">
              <a:buNone/>
            </a:pPr>
            <a:r>
              <a:rPr lang="en-US" sz="1400" b="1" dirty="0">
                <a:solidFill>
                  <a:srgbClr val="0D9488"/>
                </a:solidFill>
                <a:latin typeface="Trebuchet MS" pitchFamily="34" charset="0"/>
                <a:ea typeface="Trebuchet MS" pitchFamily="34" charset="-122"/>
                <a:cs typeface="Trebuchet MS" pitchFamily="34" charset="-120"/>
              </a:rPr>
              <a:t>Black &amp; White</a:t>
            </a:r>
            <a:endParaRPr lang="en-US" sz="1400" dirty="0"/>
          </a:p>
        </p:txBody>
      </p:sp>
      <p:sp>
        <p:nvSpPr>
          <p:cNvPr id="13" name="Text 9"/>
          <p:cNvSpPr/>
          <p:nvPr/>
        </p:nvSpPr>
        <p:spPr>
          <a:xfrm>
            <a:off x="5532120" y="1600200"/>
            <a:ext cx="3200400" cy="1005840"/>
          </a:xfrm>
          <a:prstGeom prst="rect">
            <a:avLst/>
          </a:prstGeom>
          <a:noFill/>
          <a:ln/>
        </p:spPr>
        <p:txBody>
          <a:bodyPr wrap="square" lIns="0" tIns="0" rIns="0" bIns="0" rtlCol="0" anchor="ctr"/>
          <a:lstStyle/>
          <a:p>
            <a:pPr indent="0" marL="0">
              <a:buNone/>
            </a:pPr>
            <a:r>
              <a:rPr lang="en-US" sz="1100" dirty="0">
                <a:solidFill>
                  <a:srgbClr val="1E293B"/>
                </a:solidFill>
              </a:rPr>
              <a:t>Input bisa grayscale, bukan selalu berwarna — tergantung kamera atau kondisi pencahayaan</a:t>
            </a:r>
            <a:endParaRPr lang="en-US" sz="1100" dirty="0"/>
          </a:p>
        </p:txBody>
      </p:sp>
      <p:sp>
        <p:nvSpPr>
          <p:cNvPr id="14" name="Shape 10"/>
          <p:cNvSpPr/>
          <p:nvPr/>
        </p:nvSpPr>
        <p:spPr>
          <a:xfrm>
            <a:off x="320040" y="3017520"/>
            <a:ext cx="4160520" cy="1828800"/>
          </a:xfrm>
          <a:prstGeom prst="rect">
            <a:avLst/>
          </a:prstGeom>
          <a:solidFill>
            <a:srgbClr val="FFFBEB"/>
          </a:solidFill>
          <a:ln w="12700">
            <a:solidFill>
              <a:srgbClr val="D97706"/>
            </a:solidFill>
            <a:prstDash val="solid"/>
          </a:ln>
          <a:effectLst>
            <a:outerShdw sx="100000" sy="100000" kx="0" ky="0" algn="bl" rotWithShape="0" blurRad="76200" dist="25400" dir="8100000">
              <a:srgbClr val="000000">
                <a:alpha val="12000"/>
              </a:srgbClr>
            </a:outerShdw>
          </a:effectLst>
        </p:spPr>
      </p:sp>
      <p:sp>
        <p:nvSpPr>
          <p:cNvPr id="15" name="Shape 11"/>
          <p:cNvSpPr/>
          <p:nvPr/>
        </p:nvSpPr>
        <p:spPr>
          <a:xfrm>
            <a:off x="320040" y="3017520"/>
            <a:ext cx="73152" cy="1828800"/>
          </a:xfrm>
          <a:prstGeom prst="rect">
            <a:avLst/>
          </a:prstGeom>
          <a:solidFill>
            <a:srgbClr val="D97706"/>
          </a:solidFill>
          <a:ln w="12700">
            <a:solidFill>
              <a:srgbClr val="D97706"/>
            </a:solidFill>
            <a:prstDash val="solid"/>
          </a:ln>
        </p:spPr>
      </p:sp>
      <p:pic>
        <p:nvPicPr>
          <p:cNvPr id="16" name="Image 2" descr="preencoded.png">    </p:cNvPr>
          <p:cNvPicPr>
            <a:picLocks noChangeAspect="1"/>
          </p:cNvPicPr>
          <p:nvPr/>
        </p:nvPicPr>
        <p:blipFill>
          <a:blip r:embed="rId3"/>
          <a:stretch>
            <a:fillRect/>
          </a:stretch>
        </p:blipFill>
        <p:spPr>
          <a:xfrm>
            <a:off x="502920" y="3520440"/>
            <a:ext cx="502920" cy="502920"/>
          </a:xfrm>
          <a:prstGeom prst="rect">
            <a:avLst/>
          </a:prstGeom>
        </p:spPr>
      </p:pic>
      <p:sp>
        <p:nvSpPr>
          <p:cNvPr id="17" name="Text 12"/>
          <p:cNvSpPr/>
          <p:nvPr/>
        </p:nvSpPr>
        <p:spPr>
          <a:xfrm>
            <a:off x="1097280" y="3200400"/>
            <a:ext cx="3200400" cy="411480"/>
          </a:xfrm>
          <a:prstGeom prst="rect">
            <a:avLst/>
          </a:prstGeom>
          <a:noFill/>
          <a:ln/>
        </p:spPr>
        <p:txBody>
          <a:bodyPr wrap="square" lIns="0" tIns="0" rIns="0" bIns="0" rtlCol="0" anchor="ctr"/>
          <a:lstStyle/>
          <a:p>
            <a:pPr indent="0" marL="0">
              <a:buNone/>
            </a:pPr>
            <a:r>
              <a:rPr lang="en-US" sz="1400" b="1" dirty="0">
                <a:solidFill>
                  <a:srgbClr val="D97706"/>
                </a:solidFill>
                <a:latin typeface="Trebuchet MS" pitchFamily="34" charset="0"/>
                <a:ea typeface="Trebuchet MS" pitchFamily="34" charset="-122"/>
                <a:cs typeface="Trebuchet MS" pitchFamily="34" charset="-120"/>
              </a:rPr>
              <a:t>Varying Quality</a:t>
            </a:r>
            <a:endParaRPr lang="en-US" sz="1400" dirty="0"/>
          </a:p>
        </p:txBody>
      </p:sp>
      <p:sp>
        <p:nvSpPr>
          <p:cNvPr id="18" name="Text 13"/>
          <p:cNvSpPr/>
          <p:nvPr/>
        </p:nvSpPr>
        <p:spPr>
          <a:xfrm>
            <a:off x="1097280" y="3611880"/>
            <a:ext cx="3200400" cy="1005840"/>
          </a:xfrm>
          <a:prstGeom prst="rect">
            <a:avLst/>
          </a:prstGeom>
          <a:noFill/>
          <a:ln/>
        </p:spPr>
        <p:txBody>
          <a:bodyPr wrap="square" lIns="0" tIns="0" rIns="0" bIns="0" rtlCol="0" anchor="ctr"/>
          <a:lstStyle/>
          <a:p>
            <a:pPr indent="0" marL="0">
              <a:buNone/>
            </a:pPr>
            <a:r>
              <a:rPr lang="en-US" sz="1100" dirty="0">
                <a:solidFill>
                  <a:srgbClr val="1E293B"/>
                </a:solidFill>
              </a:rPr>
              <a:t>Blur, low light, partial card visibility — kondisi nyata tidak selalu ideal</a:t>
            </a:r>
            <a:endParaRPr lang="en-US" sz="1100" dirty="0"/>
          </a:p>
        </p:txBody>
      </p:sp>
      <p:sp>
        <p:nvSpPr>
          <p:cNvPr id="19" name="Shape 14"/>
          <p:cNvSpPr/>
          <p:nvPr/>
        </p:nvSpPr>
        <p:spPr>
          <a:xfrm>
            <a:off x="4754880" y="3017520"/>
            <a:ext cx="4160520" cy="1828800"/>
          </a:xfrm>
          <a:prstGeom prst="rect">
            <a:avLst/>
          </a:prstGeom>
          <a:solidFill>
            <a:srgbClr val="F5F3FF"/>
          </a:solidFill>
          <a:ln w="12700">
            <a:solidFill>
              <a:srgbClr val="7C3AED"/>
            </a:solidFill>
            <a:prstDash val="solid"/>
          </a:ln>
          <a:effectLst>
            <a:outerShdw sx="100000" sy="100000" kx="0" ky="0" algn="bl" rotWithShape="0" blurRad="76200" dist="25400" dir="8100000">
              <a:srgbClr val="000000">
                <a:alpha val="12000"/>
              </a:srgbClr>
            </a:outerShdw>
          </a:effectLst>
        </p:spPr>
      </p:sp>
      <p:sp>
        <p:nvSpPr>
          <p:cNvPr id="20" name="Shape 15"/>
          <p:cNvSpPr/>
          <p:nvPr/>
        </p:nvSpPr>
        <p:spPr>
          <a:xfrm>
            <a:off x="4754880" y="3017520"/>
            <a:ext cx="73152" cy="1828800"/>
          </a:xfrm>
          <a:prstGeom prst="rect">
            <a:avLst/>
          </a:prstGeom>
          <a:solidFill>
            <a:srgbClr val="7C3AED"/>
          </a:solidFill>
          <a:ln w="12700">
            <a:solidFill>
              <a:srgbClr val="7C3AED"/>
            </a:solidFill>
            <a:prstDash val="solid"/>
          </a:ln>
        </p:spPr>
      </p:sp>
      <p:pic>
        <p:nvPicPr>
          <p:cNvPr id="21" name="Image 3" descr="preencoded.png">    </p:cNvPr>
          <p:cNvPicPr>
            <a:picLocks noChangeAspect="1"/>
          </p:cNvPicPr>
          <p:nvPr/>
        </p:nvPicPr>
        <p:blipFill>
          <a:blip r:embed="rId4"/>
          <a:stretch>
            <a:fillRect/>
          </a:stretch>
        </p:blipFill>
        <p:spPr>
          <a:xfrm>
            <a:off x="4937760" y="3520440"/>
            <a:ext cx="502920" cy="502920"/>
          </a:xfrm>
          <a:prstGeom prst="rect">
            <a:avLst/>
          </a:prstGeom>
        </p:spPr>
      </p:pic>
      <p:sp>
        <p:nvSpPr>
          <p:cNvPr id="22" name="Text 16"/>
          <p:cNvSpPr/>
          <p:nvPr/>
        </p:nvSpPr>
        <p:spPr>
          <a:xfrm>
            <a:off x="5532120" y="3200400"/>
            <a:ext cx="3200400" cy="411480"/>
          </a:xfrm>
          <a:prstGeom prst="rect">
            <a:avLst/>
          </a:prstGeom>
          <a:noFill/>
          <a:ln/>
        </p:spPr>
        <p:txBody>
          <a:bodyPr wrap="square" lIns="0" tIns="0" rIns="0" bIns="0" rtlCol="0" anchor="ctr"/>
          <a:lstStyle/>
          <a:p>
            <a:pPr indent="0" marL="0">
              <a:buNone/>
            </a:pPr>
            <a:r>
              <a:rPr lang="en-US" sz="1400" b="1" dirty="0">
                <a:solidFill>
                  <a:srgbClr val="7C3AED"/>
                </a:solidFill>
                <a:latin typeface="Trebuchet MS" pitchFamily="34" charset="0"/>
                <a:ea typeface="Trebuchet MS" pitchFamily="34" charset="-122"/>
                <a:cs typeface="Trebuchet MS" pitchFamily="34" charset="-120"/>
              </a:rPr>
              <a:t>Diverse Framing</a:t>
            </a:r>
            <a:endParaRPr lang="en-US" sz="1400" dirty="0"/>
          </a:p>
        </p:txBody>
      </p:sp>
      <p:sp>
        <p:nvSpPr>
          <p:cNvPr id="23" name="Text 17"/>
          <p:cNvSpPr/>
          <p:nvPr/>
        </p:nvSpPr>
        <p:spPr>
          <a:xfrm>
            <a:off x="5532120" y="3611880"/>
            <a:ext cx="3200400" cy="1005840"/>
          </a:xfrm>
          <a:prstGeom prst="rect">
            <a:avLst/>
          </a:prstGeom>
          <a:noFill/>
          <a:ln/>
        </p:spPr>
        <p:txBody>
          <a:bodyPr wrap="square" lIns="0" tIns="0" rIns="0" bIns="0" rtlCol="0" anchor="ctr"/>
          <a:lstStyle/>
          <a:p>
            <a:pPr indent="0" marL="0">
              <a:buNone/>
            </a:pPr>
            <a:r>
              <a:rPr lang="en-US" sz="1100" dirty="0">
                <a:solidFill>
                  <a:srgbClr val="1E293B"/>
                </a:solidFill>
              </a:rPr>
              <a:t>Kartu bisa kecil atau besar di frame, posisi bervariasi — tidak ada standar framing</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8412480" cy="502920"/>
          </a:xfrm>
          <a:prstGeom prst="rect">
            <a:avLst/>
          </a:prstGeom>
          <a:noFill/>
          <a:ln/>
        </p:spPr>
        <p:txBody>
          <a:bodyPr wrap="square" rtlCol="0" anchor="ctr"/>
          <a:lstStyle/>
          <a:p>
            <a:pPr indent="0" marL="0">
              <a:buNone/>
            </a:pPr>
            <a:r>
              <a:rPr lang="en-US" sz="2600" b="1" dirty="0">
                <a:solidFill>
                  <a:srgbClr val="065A82"/>
                </a:solidFill>
                <a:latin typeface="Trebuchet MS" pitchFamily="34" charset="0"/>
                <a:ea typeface="Trebuchet MS" pitchFamily="34" charset="-122"/>
                <a:cs typeface="Trebuchet MS" pitchFamily="34" charset="-120"/>
              </a:rPr>
              <a:t>3 Paradigma yang Fundamentally Berbeda</a:t>
            </a:r>
            <a:endParaRPr lang="en-US" sz="2600" dirty="0"/>
          </a:p>
        </p:txBody>
      </p:sp>
      <p:sp>
        <p:nvSpPr>
          <p:cNvPr id="3" name="Text 1"/>
          <p:cNvSpPr/>
          <p:nvPr/>
        </p:nvSpPr>
        <p:spPr>
          <a:xfrm>
            <a:off x="365760" y="685800"/>
            <a:ext cx="8412480" cy="274320"/>
          </a:xfrm>
          <a:prstGeom prst="rect">
            <a:avLst/>
          </a:prstGeom>
          <a:noFill/>
          <a:ln/>
        </p:spPr>
        <p:txBody>
          <a:bodyPr wrap="square" rtlCol="0" anchor="ctr"/>
          <a:lstStyle/>
          <a:p>
            <a:pPr indent="0" marL="0">
              <a:buNone/>
            </a:pPr>
            <a:r>
              <a:rPr lang="en-US" sz="1300" i="1" dirty="0">
                <a:solidFill>
                  <a:srgbClr val="64748B"/>
                </a:solidFill>
              </a:rPr>
              <a:t>Bukan ganti model, tapi ganti cara berpikir</a:t>
            </a:r>
            <a:endParaRPr lang="en-US" sz="1300" dirty="0"/>
          </a:p>
        </p:txBody>
      </p:sp>
      <p:sp>
        <p:nvSpPr>
          <p:cNvPr id="4" name="Shape 2"/>
          <p:cNvSpPr/>
          <p:nvPr/>
        </p:nvSpPr>
        <p:spPr>
          <a:xfrm>
            <a:off x="274320" y="1005840"/>
            <a:ext cx="2743200" cy="3840480"/>
          </a:xfrm>
          <a:prstGeom prst="rect">
            <a:avLst/>
          </a:prstGeom>
          <a:solidFill>
            <a:srgbClr val="F0FDFA"/>
          </a:solidFill>
          <a:ln w="12700">
            <a:solidFill>
              <a:srgbClr val="59BDB9"/>
            </a:solidFill>
            <a:prstDash val="solid"/>
          </a:ln>
          <a:effectLst>
            <a:outerShdw sx="100000" sy="100000" kx="0" ky="0" algn="bl" rotWithShape="0" blurRad="76200" dist="25400" dir="8100000">
              <a:srgbClr val="000000">
                <a:alpha val="12000"/>
              </a:srgbClr>
            </a:outerShdw>
          </a:effectLst>
        </p:spPr>
      </p:sp>
      <p:sp>
        <p:nvSpPr>
          <p:cNvPr id="5" name="Shape 3"/>
          <p:cNvSpPr/>
          <p:nvPr/>
        </p:nvSpPr>
        <p:spPr>
          <a:xfrm>
            <a:off x="274320" y="1005840"/>
            <a:ext cx="2743200" cy="411480"/>
          </a:xfrm>
          <a:prstGeom prst="rect">
            <a:avLst/>
          </a:prstGeom>
          <a:solidFill>
            <a:srgbClr val="0D9488"/>
          </a:solidFill>
          <a:ln w="12700">
            <a:solidFill>
              <a:srgbClr val="0D9488"/>
            </a:solidFill>
            <a:prstDash val="solid"/>
          </a:ln>
        </p:spPr>
      </p:sp>
      <p:sp>
        <p:nvSpPr>
          <p:cNvPr id="6" name="Text 4"/>
          <p:cNvSpPr/>
          <p:nvPr/>
        </p:nvSpPr>
        <p:spPr>
          <a:xfrm>
            <a:off x="274320" y="1005840"/>
            <a:ext cx="2743200" cy="411480"/>
          </a:xfrm>
          <a:prstGeom prst="rect">
            <a:avLst/>
          </a:prstGeom>
          <a:noFill/>
          <a:ln/>
        </p:spPr>
        <p:txBody>
          <a:bodyPr wrap="square" lIns="0" tIns="0" rIns="0" bIns="0" rtlCol="0" anchor="ctr"/>
          <a:lstStyle/>
          <a:p>
            <a:pPr algn="ctr" indent="0" marL="0">
              <a:buNone/>
            </a:pPr>
            <a:r>
              <a:rPr lang="en-US" sz="1300" b="1" dirty="0">
                <a:solidFill>
                  <a:srgbClr val="FFFFFF"/>
                </a:solidFill>
              </a:rPr>
              <a:t>01</a:t>
            </a:r>
            <a:endParaRPr lang="en-US" sz="1300" dirty="0"/>
          </a:p>
        </p:txBody>
      </p:sp>
      <p:pic>
        <p:nvPicPr>
          <p:cNvPr id="7" name="Image 0" descr="preencoded.png">    </p:cNvPr>
          <p:cNvPicPr>
            <a:picLocks noChangeAspect="1"/>
          </p:cNvPicPr>
          <p:nvPr/>
        </p:nvPicPr>
        <p:blipFill>
          <a:blip r:embed="rId1"/>
          <a:stretch>
            <a:fillRect/>
          </a:stretch>
        </p:blipFill>
        <p:spPr>
          <a:xfrm>
            <a:off x="1280160" y="1508760"/>
            <a:ext cx="731520" cy="731520"/>
          </a:xfrm>
          <a:prstGeom prst="rect">
            <a:avLst/>
          </a:prstGeom>
        </p:spPr>
      </p:pic>
      <p:sp>
        <p:nvSpPr>
          <p:cNvPr id="8" name="Text 5"/>
          <p:cNvSpPr/>
          <p:nvPr/>
        </p:nvSpPr>
        <p:spPr>
          <a:xfrm>
            <a:off x="365760" y="2286000"/>
            <a:ext cx="2560320" cy="457200"/>
          </a:xfrm>
          <a:prstGeom prst="rect">
            <a:avLst/>
          </a:prstGeom>
          <a:noFill/>
          <a:ln/>
        </p:spPr>
        <p:txBody>
          <a:bodyPr wrap="square" lIns="0" tIns="0" rIns="0" bIns="0" rtlCol="0" anchor="ctr"/>
          <a:lstStyle/>
          <a:p>
            <a:pPr algn="ctr" indent="0" marL="0">
              <a:buNone/>
            </a:pPr>
            <a:r>
              <a:rPr lang="en-US" sz="1300" b="1" dirty="0">
                <a:solidFill>
                  <a:srgbClr val="0D9488"/>
                </a:solidFill>
                <a:latin typeface="Trebuchet MS" pitchFamily="34" charset="0"/>
                <a:ea typeface="Trebuchet MS" pitchFamily="34" charset="-122"/>
                <a:cs typeface="Trebuchet MS" pitchFamily="34" charset="-120"/>
              </a:rPr>
              <a:t>MobileNetV3-Small</a:t>
            </a:r>
            <a:endParaRPr lang="en-US" sz="1300" dirty="0"/>
          </a:p>
        </p:txBody>
      </p:sp>
      <p:sp>
        <p:nvSpPr>
          <p:cNvPr id="9" name="Text 6"/>
          <p:cNvSpPr/>
          <p:nvPr/>
        </p:nvSpPr>
        <p:spPr>
          <a:xfrm>
            <a:off x="365760" y="2743200"/>
            <a:ext cx="2560320" cy="411480"/>
          </a:xfrm>
          <a:prstGeom prst="rect">
            <a:avLst/>
          </a:prstGeom>
          <a:noFill/>
          <a:ln/>
        </p:spPr>
        <p:txBody>
          <a:bodyPr wrap="square" lIns="0" tIns="0" rIns="0" bIns="0" rtlCol="0" anchor="ctr"/>
          <a:lstStyle/>
          <a:p>
            <a:pPr algn="ctr" indent="0" marL="0">
              <a:buNone/>
            </a:pPr>
            <a:r>
              <a:rPr lang="en-US" sz="1000" i="1" dirty="0">
                <a:solidFill>
                  <a:srgbClr val="64748B"/>
                </a:solidFill>
              </a:rPr>
              <a:t>Supervised Deep Learning</a:t>
            </a:r>
            <a:endParaRPr lang="en-US" sz="1000" dirty="0"/>
          </a:p>
        </p:txBody>
      </p:sp>
      <p:sp>
        <p:nvSpPr>
          <p:cNvPr id="10" name="Shape 7"/>
          <p:cNvSpPr/>
          <p:nvPr/>
        </p:nvSpPr>
        <p:spPr>
          <a:xfrm>
            <a:off x="365760" y="3200400"/>
            <a:ext cx="2560320" cy="640080"/>
          </a:xfrm>
          <a:prstGeom prst="rect">
            <a:avLst/>
          </a:prstGeom>
          <a:solidFill>
            <a:srgbClr val="D8F5F3"/>
          </a:solidFill>
          <a:ln w="12700">
            <a:solidFill>
              <a:srgbClr val="B3E9E6"/>
            </a:solidFill>
            <a:prstDash val="solid"/>
          </a:ln>
        </p:spPr>
      </p:sp>
      <p:sp>
        <p:nvSpPr>
          <p:cNvPr id="11" name="Text 8"/>
          <p:cNvSpPr/>
          <p:nvPr/>
        </p:nvSpPr>
        <p:spPr>
          <a:xfrm>
            <a:off x="411480" y="3200400"/>
            <a:ext cx="2468880" cy="640080"/>
          </a:xfrm>
          <a:prstGeom prst="rect">
            <a:avLst/>
          </a:prstGeom>
          <a:noFill/>
          <a:ln/>
        </p:spPr>
        <p:txBody>
          <a:bodyPr wrap="square" lIns="50800" tIns="50800" rIns="50800" bIns="50800" rtlCol="0" anchor="ctr"/>
          <a:lstStyle/>
          <a:p>
            <a:pPr algn="ctr" indent="0" marL="0">
              <a:buNone/>
            </a:pPr>
            <a:r>
              <a:rPr lang="en-US" sz="1000" i="1" dirty="0">
                <a:solidFill>
                  <a:srgbClr val="0D9488"/>
                </a:solidFill>
              </a:rPr>
              <a:t>"Biarkan neural network belajar pattern sendiri"</a:t>
            </a:r>
            <a:endParaRPr lang="en-US" sz="1000" dirty="0"/>
          </a:p>
        </p:txBody>
      </p:sp>
      <p:sp>
        <p:nvSpPr>
          <p:cNvPr id="12" name="Text 9"/>
          <p:cNvSpPr/>
          <p:nvPr/>
        </p:nvSpPr>
        <p:spPr>
          <a:xfrm>
            <a:off x="365760" y="3886200"/>
            <a:ext cx="2560320" cy="777240"/>
          </a:xfrm>
          <a:prstGeom prst="rect">
            <a:avLst/>
          </a:prstGeom>
          <a:noFill/>
          <a:ln/>
        </p:spPr>
        <p:txBody>
          <a:bodyPr wrap="square" lIns="50800" tIns="50800" rIns="50800" bIns="50800" rtlCol="0" anchor="ctr"/>
          <a:lstStyle/>
          <a:p>
            <a:pPr algn="ctr" indent="0" marL="0">
              <a:buNone/>
            </a:pPr>
            <a:r>
              <a:rPr lang="en-US" sz="950" dirty="0">
                <a:solidFill>
                  <a:srgbClr val="1E293B"/>
                </a:solidFill>
              </a:rPr>
              <a:t>Pretrained ImageNet backbone + custom classifier head</a:t>
            </a:r>
            <a:endParaRPr lang="en-US" sz="950" dirty="0"/>
          </a:p>
        </p:txBody>
      </p:sp>
      <p:sp>
        <p:nvSpPr>
          <p:cNvPr id="13" name="Shape 10"/>
          <p:cNvSpPr/>
          <p:nvPr/>
        </p:nvSpPr>
        <p:spPr>
          <a:xfrm>
            <a:off x="3200400" y="1005840"/>
            <a:ext cx="2743200" cy="3840480"/>
          </a:xfrm>
          <a:prstGeom prst="rect">
            <a:avLst/>
          </a:prstGeom>
          <a:solidFill>
            <a:srgbClr val="FFFBEB"/>
          </a:solidFill>
          <a:ln w="12700">
            <a:solidFill>
              <a:srgbClr val="EEB050"/>
            </a:solidFill>
            <a:prstDash val="solid"/>
          </a:ln>
          <a:effectLst>
            <a:outerShdw sx="100000" sy="100000" kx="0" ky="0" algn="bl" rotWithShape="0" blurRad="76200" dist="25400" dir="8100000">
              <a:srgbClr val="000000">
                <a:alpha val="12000"/>
              </a:srgbClr>
            </a:outerShdw>
          </a:effectLst>
        </p:spPr>
      </p:sp>
      <p:sp>
        <p:nvSpPr>
          <p:cNvPr id="14" name="Shape 11"/>
          <p:cNvSpPr/>
          <p:nvPr/>
        </p:nvSpPr>
        <p:spPr>
          <a:xfrm>
            <a:off x="3200400" y="1005840"/>
            <a:ext cx="2743200" cy="411480"/>
          </a:xfrm>
          <a:prstGeom prst="rect">
            <a:avLst/>
          </a:prstGeom>
          <a:solidFill>
            <a:srgbClr val="D97706"/>
          </a:solidFill>
          <a:ln w="12700">
            <a:solidFill>
              <a:srgbClr val="D97706"/>
            </a:solidFill>
            <a:prstDash val="solid"/>
          </a:ln>
        </p:spPr>
      </p:sp>
      <p:sp>
        <p:nvSpPr>
          <p:cNvPr id="15" name="Text 12"/>
          <p:cNvSpPr/>
          <p:nvPr/>
        </p:nvSpPr>
        <p:spPr>
          <a:xfrm>
            <a:off x="3200400" y="1005840"/>
            <a:ext cx="2743200" cy="411480"/>
          </a:xfrm>
          <a:prstGeom prst="rect">
            <a:avLst/>
          </a:prstGeom>
          <a:noFill/>
          <a:ln/>
        </p:spPr>
        <p:txBody>
          <a:bodyPr wrap="square" lIns="0" tIns="0" rIns="0" bIns="0" rtlCol="0" anchor="ctr"/>
          <a:lstStyle/>
          <a:p>
            <a:pPr algn="ctr" indent="0" marL="0">
              <a:buNone/>
            </a:pPr>
            <a:r>
              <a:rPr lang="en-US" sz="1300" b="1" dirty="0">
                <a:solidFill>
                  <a:srgbClr val="FFFFFF"/>
                </a:solidFill>
              </a:rPr>
              <a:t>02</a:t>
            </a:r>
            <a:endParaRPr lang="en-US" sz="1300" dirty="0"/>
          </a:p>
        </p:txBody>
      </p:sp>
      <p:pic>
        <p:nvPicPr>
          <p:cNvPr id="16" name="Image 1" descr="preencoded.png">    </p:cNvPr>
          <p:cNvPicPr>
            <a:picLocks noChangeAspect="1"/>
          </p:cNvPicPr>
          <p:nvPr/>
        </p:nvPicPr>
        <p:blipFill>
          <a:blip r:embed="rId2"/>
          <a:stretch>
            <a:fillRect/>
          </a:stretch>
        </p:blipFill>
        <p:spPr>
          <a:xfrm>
            <a:off x="4206240" y="1508760"/>
            <a:ext cx="731520" cy="731520"/>
          </a:xfrm>
          <a:prstGeom prst="rect">
            <a:avLst/>
          </a:prstGeom>
        </p:spPr>
      </p:pic>
      <p:sp>
        <p:nvSpPr>
          <p:cNvPr id="17" name="Text 13"/>
          <p:cNvSpPr/>
          <p:nvPr/>
        </p:nvSpPr>
        <p:spPr>
          <a:xfrm>
            <a:off x="3291840" y="2286000"/>
            <a:ext cx="2560320" cy="457200"/>
          </a:xfrm>
          <a:prstGeom prst="rect">
            <a:avLst/>
          </a:prstGeom>
          <a:noFill/>
          <a:ln/>
        </p:spPr>
        <p:txBody>
          <a:bodyPr wrap="square" lIns="0" tIns="0" rIns="0" bIns="0" rtlCol="0" anchor="ctr"/>
          <a:lstStyle/>
          <a:p>
            <a:pPr algn="ctr" indent="0" marL="0">
              <a:buNone/>
            </a:pPr>
            <a:r>
              <a:rPr lang="en-US" sz="1300" b="1" dirty="0">
                <a:solidFill>
                  <a:srgbClr val="D97706"/>
                </a:solidFill>
                <a:latin typeface="Trebuchet MS" pitchFamily="34" charset="0"/>
                <a:ea typeface="Trebuchet MS" pitchFamily="34" charset="-122"/>
                <a:cs typeface="Trebuchet MS" pitchFamily="34" charset="-120"/>
              </a:rPr>
              <a:t>XGBoost + Features</a:t>
            </a:r>
            <a:endParaRPr lang="en-US" sz="1300" dirty="0"/>
          </a:p>
        </p:txBody>
      </p:sp>
      <p:sp>
        <p:nvSpPr>
          <p:cNvPr id="18" name="Text 14"/>
          <p:cNvSpPr/>
          <p:nvPr/>
        </p:nvSpPr>
        <p:spPr>
          <a:xfrm>
            <a:off x="3291840" y="2743200"/>
            <a:ext cx="2560320" cy="411480"/>
          </a:xfrm>
          <a:prstGeom prst="rect">
            <a:avLst/>
          </a:prstGeom>
          <a:noFill/>
          <a:ln/>
        </p:spPr>
        <p:txBody>
          <a:bodyPr wrap="square" lIns="0" tIns="0" rIns="0" bIns="0" rtlCol="0" anchor="ctr"/>
          <a:lstStyle/>
          <a:p>
            <a:pPr algn="ctr" indent="0" marL="0">
              <a:buNone/>
            </a:pPr>
            <a:r>
              <a:rPr lang="en-US" sz="1000" i="1" dirty="0">
                <a:solidFill>
                  <a:srgbClr val="64748B"/>
                </a:solidFill>
              </a:rPr>
              <a:t>Classical ML + Handcrafted Features</a:t>
            </a:r>
            <a:endParaRPr lang="en-US" sz="1000" dirty="0"/>
          </a:p>
        </p:txBody>
      </p:sp>
      <p:sp>
        <p:nvSpPr>
          <p:cNvPr id="19" name="Shape 15"/>
          <p:cNvSpPr/>
          <p:nvPr/>
        </p:nvSpPr>
        <p:spPr>
          <a:xfrm>
            <a:off x="3291840" y="3200400"/>
            <a:ext cx="2560320" cy="640080"/>
          </a:xfrm>
          <a:prstGeom prst="rect">
            <a:avLst/>
          </a:prstGeom>
          <a:solidFill>
            <a:srgbClr val="FEF3C7"/>
          </a:solidFill>
          <a:ln w="12700">
            <a:solidFill>
              <a:srgbClr val="FDE68A"/>
            </a:solidFill>
            <a:prstDash val="solid"/>
          </a:ln>
        </p:spPr>
      </p:sp>
      <p:sp>
        <p:nvSpPr>
          <p:cNvPr id="20" name="Text 16"/>
          <p:cNvSpPr/>
          <p:nvPr/>
        </p:nvSpPr>
        <p:spPr>
          <a:xfrm>
            <a:off x="3337560" y="3200400"/>
            <a:ext cx="2468880" cy="640080"/>
          </a:xfrm>
          <a:prstGeom prst="rect">
            <a:avLst/>
          </a:prstGeom>
          <a:noFill/>
          <a:ln/>
        </p:spPr>
        <p:txBody>
          <a:bodyPr wrap="square" lIns="50800" tIns="50800" rIns="50800" bIns="50800" rtlCol="0" anchor="ctr"/>
          <a:lstStyle/>
          <a:p>
            <a:pPr algn="ctr" indent="0" marL="0">
              <a:buNone/>
            </a:pPr>
            <a:r>
              <a:rPr lang="en-US" sz="1000" i="1" dirty="0">
                <a:solidFill>
                  <a:srgbClr val="D97706"/>
                </a:solidFill>
              </a:rPr>
              <a:t>"Kita definisikan apa yang penting, model memutuskan"</a:t>
            </a:r>
            <a:endParaRPr lang="en-US" sz="1000" dirty="0"/>
          </a:p>
        </p:txBody>
      </p:sp>
      <p:sp>
        <p:nvSpPr>
          <p:cNvPr id="21" name="Text 17"/>
          <p:cNvSpPr/>
          <p:nvPr/>
        </p:nvSpPr>
        <p:spPr>
          <a:xfrm>
            <a:off x="3291840" y="3886200"/>
            <a:ext cx="2560320" cy="777240"/>
          </a:xfrm>
          <a:prstGeom prst="rect">
            <a:avLst/>
          </a:prstGeom>
          <a:noFill/>
          <a:ln/>
        </p:spPr>
        <p:txBody>
          <a:bodyPr wrap="square" lIns="50800" tIns="50800" rIns="50800" bIns="50800" rtlCol="0" anchor="ctr"/>
          <a:lstStyle/>
          <a:p>
            <a:pPr algn="ctr" indent="0" marL="0">
              <a:buNone/>
            </a:pPr>
            <a:r>
              <a:rPr lang="en-US" sz="950" dirty="0">
                <a:solidFill>
                  <a:srgbClr val="1E293B"/>
                </a:solidFill>
              </a:rPr>
              <a:t>LBP, edges, frequency, GLCM, shape features → XGBoost</a:t>
            </a:r>
            <a:endParaRPr lang="en-US" sz="950" dirty="0"/>
          </a:p>
        </p:txBody>
      </p:sp>
      <p:sp>
        <p:nvSpPr>
          <p:cNvPr id="22" name="Shape 18"/>
          <p:cNvSpPr/>
          <p:nvPr/>
        </p:nvSpPr>
        <p:spPr>
          <a:xfrm>
            <a:off x="6126480" y="1005840"/>
            <a:ext cx="2743200" cy="3840480"/>
          </a:xfrm>
          <a:prstGeom prst="rect">
            <a:avLst/>
          </a:prstGeom>
          <a:solidFill>
            <a:srgbClr val="F5F3FF"/>
          </a:solidFill>
          <a:ln w="12700">
            <a:solidFill>
              <a:srgbClr val="A082D8"/>
            </a:solidFill>
            <a:prstDash val="solid"/>
          </a:ln>
          <a:effectLst>
            <a:outerShdw sx="100000" sy="100000" kx="0" ky="0" algn="bl" rotWithShape="0" blurRad="76200" dist="25400" dir="8100000">
              <a:srgbClr val="000000">
                <a:alpha val="12000"/>
              </a:srgbClr>
            </a:outerShdw>
          </a:effectLst>
        </p:spPr>
      </p:sp>
      <p:sp>
        <p:nvSpPr>
          <p:cNvPr id="23" name="Shape 19"/>
          <p:cNvSpPr/>
          <p:nvPr/>
        </p:nvSpPr>
        <p:spPr>
          <a:xfrm>
            <a:off x="6126480" y="1005840"/>
            <a:ext cx="2743200" cy="411480"/>
          </a:xfrm>
          <a:prstGeom prst="rect">
            <a:avLst/>
          </a:prstGeom>
          <a:solidFill>
            <a:srgbClr val="7C3AED"/>
          </a:solidFill>
          <a:ln w="12700">
            <a:solidFill>
              <a:srgbClr val="7C3AED"/>
            </a:solidFill>
            <a:prstDash val="solid"/>
          </a:ln>
        </p:spPr>
      </p:sp>
      <p:sp>
        <p:nvSpPr>
          <p:cNvPr id="24" name="Text 20"/>
          <p:cNvSpPr/>
          <p:nvPr/>
        </p:nvSpPr>
        <p:spPr>
          <a:xfrm>
            <a:off x="6126480" y="1005840"/>
            <a:ext cx="2743200" cy="411480"/>
          </a:xfrm>
          <a:prstGeom prst="rect">
            <a:avLst/>
          </a:prstGeom>
          <a:noFill/>
          <a:ln/>
        </p:spPr>
        <p:txBody>
          <a:bodyPr wrap="square" lIns="0" tIns="0" rIns="0" bIns="0" rtlCol="0" anchor="ctr"/>
          <a:lstStyle/>
          <a:p>
            <a:pPr algn="ctr" indent="0" marL="0">
              <a:buNone/>
            </a:pPr>
            <a:r>
              <a:rPr lang="en-US" sz="1300" b="1" dirty="0">
                <a:solidFill>
                  <a:srgbClr val="FFFFFF"/>
                </a:solidFill>
              </a:rPr>
              <a:t>03</a:t>
            </a:r>
            <a:endParaRPr lang="en-US" sz="1300" dirty="0"/>
          </a:p>
        </p:txBody>
      </p:sp>
      <p:pic>
        <p:nvPicPr>
          <p:cNvPr id="25" name="Image 2" descr="preencoded.png">    </p:cNvPr>
          <p:cNvPicPr>
            <a:picLocks noChangeAspect="1"/>
          </p:cNvPicPr>
          <p:nvPr/>
        </p:nvPicPr>
        <p:blipFill>
          <a:blip r:embed="rId3"/>
          <a:stretch>
            <a:fillRect/>
          </a:stretch>
        </p:blipFill>
        <p:spPr>
          <a:xfrm>
            <a:off x="7132320" y="1508760"/>
            <a:ext cx="731520" cy="731520"/>
          </a:xfrm>
          <a:prstGeom prst="rect">
            <a:avLst/>
          </a:prstGeom>
        </p:spPr>
      </p:pic>
      <p:sp>
        <p:nvSpPr>
          <p:cNvPr id="26" name="Text 21"/>
          <p:cNvSpPr/>
          <p:nvPr/>
        </p:nvSpPr>
        <p:spPr>
          <a:xfrm>
            <a:off x="6217920" y="2286000"/>
            <a:ext cx="2560320" cy="457200"/>
          </a:xfrm>
          <a:prstGeom prst="rect">
            <a:avLst/>
          </a:prstGeom>
          <a:noFill/>
          <a:ln/>
        </p:spPr>
        <p:txBody>
          <a:bodyPr wrap="square" lIns="0" tIns="0" rIns="0" bIns="0" rtlCol="0" anchor="ctr"/>
          <a:lstStyle/>
          <a:p>
            <a:pPr algn="ctr" indent="0" marL="0">
              <a:buNone/>
            </a:pPr>
            <a:r>
              <a:rPr lang="en-US" sz="1300" b="1" dirty="0">
                <a:solidFill>
                  <a:srgbClr val="7C3AED"/>
                </a:solidFill>
                <a:latin typeface="Trebuchet MS" pitchFamily="34" charset="0"/>
                <a:ea typeface="Trebuchet MS" pitchFamily="34" charset="-122"/>
                <a:cs typeface="Trebuchet MS" pitchFamily="34" charset="-120"/>
              </a:rPr>
              <a:t>OpenCLIP Zero-Shot</a:t>
            </a:r>
            <a:endParaRPr lang="en-US" sz="1300" dirty="0"/>
          </a:p>
        </p:txBody>
      </p:sp>
      <p:sp>
        <p:nvSpPr>
          <p:cNvPr id="27" name="Text 22"/>
          <p:cNvSpPr/>
          <p:nvPr/>
        </p:nvSpPr>
        <p:spPr>
          <a:xfrm>
            <a:off x="6217920" y="2743200"/>
            <a:ext cx="2560320" cy="411480"/>
          </a:xfrm>
          <a:prstGeom prst="rect">
            <a:avLst/>
          </a:prstGeom>
          <a:noFill/>
          <a:ln/>
        </p:spPr>
        <p:txBody>
          <a:bodyPr wrap="square" lIns="0" tIns="0" rIns="0" bIns="0" rtlCol="0" anchor="ctr"/>
          <a:lstStyle/>
          <a:p>
            <a:pPr algn="ctr" indent="0" marL="0">
              <a:buNone/>
            </a:pPr>
            <a:r>
              <a:rPr lang="en-US" sz="1000" i="1" dirty="0">
                <a:solidFill>
                  <a:srgbClr val="64748B"/>
                </a:solidFill>
              </a:rPr>
              <a:t>Vision-Language Model</a:t>
            </a:r>
            <a:endParaRPr lang="en-US" sz="1000" dirty="0"/>
          </a:p>
        </p:txBody>
      </p:sp>
      <p:sp>
        <p:nvSpPr>
          <p:cNvPr id="28" name="Shape 23"/>
          <p:cNvSpPr/>
          <p:nvPr/>
        </p:nvSpPr>
        <p:spPr>
          <a:xfrm>
            <a:off x="6217920" y="3200400"/>
            <a:ext cx="2560320" cy="640080"/>
          </a:xfrm>
          <a:prstGeom prst="rect">
            <a:avLst/>
          </a:prstGeom>
          <a:solidFill>
            <a:srgbClr val="EDE6FA"/>
          </a:solidFill>
          <a:ln w="12700">
            <a:solidFill>
              <a:srgbClr val="D0C0F5"/>
            </a:solidFill>
            <a:prstDash val="solid"/>
          </a:ln>
        </p:spPr>
      </p:sp>
      <p:sp>
        <p:nvSpPr>
          <p:cNvPr id="29" name="Text 24"/>
          <p:cNvSpPr/>
          <p:nvPr/>
        </p:nvSpPr>
        <p:spPr>
          <a:xfrm>
            <a:off x="6263640" y="3200400"/>
            <a:ext cx="2468880" cy="640080"/>
          </a:xfrm>
          <a:prstGeom prst="rect">
            <a:avLst/>
          </a:prstGeom>
          <a:noFill/>
          <a:ln/>
        </p:spPr>
        <p:txBody>
          <a:bodyPr wrap="square" lIns="50800" tIns="50800" rIns="50800" bIns="50800" rtlCol="0" anchor="ctr"/>
          <a:lstStyle/>
          <a:p>
            <a:pPr algn="ctr" indent="0" marL="0">
              <a:buNone/>
            </a:pPr>
            <a:r>
              <a:rPr lang="en-US" sz="1000" i="1" dirty="0">
                <a:solidFill>
                  <a:srgbClr val="7C3AED"/>
                </a:solidFill>
              </a:rPr>
              <a:t>"Describe what you want, model understands"</a:t>
            </a:r>
            <a:endParaRPr lang="en-US" sz="1000" dirty="0"/>
          </a:p>
        </p:txBody>
      </p:sp>
      <p:sp>
        <p:nvSpPr>
          <p:cNvPr id="30" name="Text 25"/>
          <p:cNvSpPr/>
          <p:nvPr/>
        </p:nvSpPr>
        <p:spPr>
          <a:xfrm>
            <a:off x="6217920" y="3886200"/>
            <a:ext cx="2560320" cy="777240"/>
          </a:xfrm>
          <a:prstGeom prst="rect">
            <a:avLst/>
          </a:prstGeom>
          <a:noFill/>
          <a:ln/>
        </p:spPr>
        <p:txBody>
          <a:bodyPr wrap="square" lIns="50800" tIns="50800" rIns="50800" bIns="50800" rtlCol="0" anchor="ctr"/>
          <a:lstStyle/>
          <a:p>
            <a:pPr algn="ctr" indent="0" marL="0">
              <a:buNone/>
            </a:pPr>
            <a:r>
              <a:rPr lang="en-US" sz="950" dirty="0">
                <a:solidFill>
                  <a:srgbClr val="1E293B"/>
                </a:solidFill>
              </a:rPr>
              <a:t>Text prompts + image embeddings → cosine similarity</a:t>
            </a:r>
            <a:endParaRPr lang="en-US" sz="950" dirty="0"/>
          </a:p>
        </p:txBody>
      </p:sp>
      <p:sp>
        <p:nvSpPr>
          <p:cNvPr id="31" name="Shape 26"/>
          <p:cNvSpPr/>
          <p:nvPr/>
        </p:nvSpPr>
        <p:spPr>
          <a:xfrm>
            <a:off x="274320" y="4754880"/>
            <a:ext cx="8595360" cy="274320"/>
          </a:xfrm>
          <a:prstGeom prst="rect">
            <a:avLst/>
          </a:prstGeom>
          <a:solidFill>
            <a:srgbClr val="F1F5F9"/>
          </a:solidFill>
          <a:ln w="12700">
            <a:solidFill>
              <a:srgbClr val="E2E8F0"/>
            </a:solidFill>
            <a:prstDash val="solid"/>
          </a:ln>
        </p:spPr>
      </p:sp>
      <p:sp>
        <p:nvSpPr>
          <p:cNvPr id="32" name="Text 27"/>
          <p:cNvSpPr/>
          <p:nvPr/>
        </p:nvSpPr>
        <p:spPr>
          <a:xfrm>
            <a:off x="320040" y="4754880"/>
            <a:ext cx="8503920" cy="274320"/>
          </a:xfrm>
          <a:prstGeom prst="rect">
            <a:avLst/>
          </a:prstGeom>
          <a:noFill/>
          <a:ln/>
        </p:spPr>
        <p:txBody>
          <a:bodyPr wrap="square" lIns="50800" tIns="50800" rIns="50800" bIns="50800" rtlCol="0" anchor="ctr"/>
          <a:lstStyle/>
          <a:p>
            <a:pPr indent="0" marL="0">
              <a:buNone/>
            </a:pPr>
            <a:r>
              <a:rPr lang="en-US" sz="950" dirty="0">
                <a:solidFill>
                  <a:srgbClr val="64748B"/>
                </a:solidFill>
              </a:rPr>
              <a:t>Tim lain menggunakan YOLO-v4 (Object Detection paradigm) — semua approach kita adalah Classification-first, bukan Detection-first.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8412480" cy="502920"/>
          </a:xfrm>
          <a:prstGeom prst="rect">
            <a:avLst/>
          </a:prstGeom>
          <a:noFill/>
          <a:ln/>
        </p:spPr>
        <p:txBody>
          <a:bodyPr wrap="square" rtlCol="0" anchor="ctr"/>
          <a:lstStyle/>
          <a:p>
            <a:pPr indent="0" marL="0">
              <a:buNone/>
            </a:pPr>
            <a:r>
              <a:rPr lang="en-US" sz="2600" b="1" dirty="0">
                <a:solidFill>
                  <a:srgbClr val="065A82"/>
                </a:solidFill>
                <a:latin typeface="Trebuchet MS" pitchFamily="34" charset="0"/>
                <a:ea typeface="Trebuchet MS" pitchFamily="34" charset="-122"/>
                <a:cs typeface="Trebuchet MS" pitchFamily="34" charset="-120"/>
              </a:rPr>
              <a:t>Detection vs Classification — Different Questions</a:t>
            </a:r>
            <a:endParaRPr lang="en-US" sz="2600" dirty="0"/>
          </a:p>
        </p:txBody>
      </p:sp>
      <p:sp>
        <p:nvSpPr>
          <p:cNvPr id="3" name="Shape 1"/>
          <p:cNvSpPr/>
          <p:nvPr/>
        </p:nvSpPr>
        <p:spPr>
          <a:xfrm>
            <a:off x="274320" y="777240"/>
            <a:ext cx="4069080" cy="3931920"/>
          </a:xfrm>
          <a:prstGeom prst="rect">
            <a:avLst/>
          </a:prstGeom>
          <a:solidFill>
            <a:srgbClr val="FEF2F2"/>
          </a:solidFill>
          <a:ln w="12700">
            <a:solidFill>
              <a:srgbClr val="FECACA"/>
            </a:solidFill>
            <a:prstDash val="solid"/>
          </a:ln>
          <a:effectLst>
            <a:outerShdw sx="100000" sy="100000" kx="0" ky="0" algn="bl" rotWithShape="0" blurRad="76200" dist="25400" dir="8100000">
              <a:srgbClr val="000000">
                <a:alpha val="12000"/>
              </a:srgbClr>
            </a:outerShdw>
          </a:effectLst>
        </p:spPr>
      </p:sp>
      <p:sp>
        <p:nvSpPr>
          <p:cNvPr id="4" name="Shape 2"/>
          <p:cNvSpPr/>
          <p:nvPr/>
        </p:nvSpPr>
        <p:spPr>
          <a:xfrm>
            <a:off x="274320" y="777240"/>
            <a:ext cx="4069080" cy="457200"/>
          </a:xfrm>
          <a:prstGeom prst="rect">
            <a:avLst/>
          </a:prstGeom>
          <a:solidFill>
            <a:srgbClr val="EF4444"/>
          </a:solidFill>
          <a:ln w="12700">
            <a:solidFill>
              <a:srgbClr val="EF4444"/>
            </a:solidFill>
            <a:prstDash val="solid"/>
          </a:ln>
        </p:spPr>
      </p:sp>
      <p:sp>
        <p:nvSpPr>
          <p:cNvPr id="5" name="Text 3"/>
          <p:cNvSpPr/>
          <p:nvPr/>
        </p:nvSpPr>
        <p:spPr>
          <a:xfrm>
            <a:off x="274320" y="777240"/>
            <a:ext cx="4069080" cy="457200"/>
          </a:xfrm>
          <a:prstGeom prst="rect">
            <a:avLst/>
          </a:prstGeom>
          <a:noFill/>
          <a:ln/>
        </p:spPr>
        <p:txBody>
          <a:bodyPr wrap="square" lIns="0" tIns="0" rIns="0" bIns="0" rtlCol="0" anchor="ctr"/>
          <a:lstStyle/>
          <a:p>
            <a:pPr algn="ctr" indent="0" marL="0">
              <a:buNone/>
            </a:pPr>
            <a:r>
              <a:rPr lang="en-US" sz="1300" b="1" dirty="0">
                <a:solidFill>
                  <a:srgbClr val="FFFFFF"/>
                </a:solidFill>
              </a:rPr>
              <a:t>YOLO / Object Detection</a:t>
            </a:r>
            <a:endParaRPr lang="en-US" sz="1300" dirty="0"/>
          </a:p>
        </p:txBody>
      </p:sp>
      <p:sp>
        <p:nvSpPr>
          <p:cNvPr id="6" name="Text 4"/>
          <p:cNvSpPr/>
          <p:nvPr/>
        </p:nvSpPr>
        <p:spPr>
          <a:xfrm>
            <a:off x="411480" y="1371600"/>
            <a:ext cx="1371600" cy="457200"/>
          </a:xfrm>
          <a:prstGeom prst="rect">
            <a:avLst/>
          </a:prstGeom>
          <a:noFill/>
          <a:ln/>
        </p:spPr>
        <p:txBody>
          <a:bodyPr wrap="square" lIns="0" tIns="0" rIns="0" bIns="0" rtlCol="0" anchor="ctr"/>
          <a:lstStyle/>
          <a:p>
            <a:pPr indent="0" marL="0">
              <a:buNone/>
            </a:pPr>
            <a:r>
              <a:rPr lang="en-US" sz="1100" b="1" dirty="0">
                <a:solidFill>
                  <a:srgbClr val="EF4444"/>
                </a:solidFill>
              </a:rPr>
              <a:t>Menjawab:</a:t>
            </a:r>
            <a:endParaRPr lang="en-US" sz="1100" dirty="0"/>
          </a:p>
        </p:txBody>
      </p:sp>
      <p:sp>
        <p:nvSpPr>
          <p:cNvPr id="7" name="Text 5"/>
          <p:cNvSpPr/>
          <p:nvPr/>
        </p:nvSpPr>
        <p:spPr>
          <a:xfrm>
            <a:off x="1783080" y="1371600"/>
            <a:ext cx="2377440" cy="457200"/>
          </a:xfrm>
          <a:prstGeom prst="rect">
            <a:avLst/>
          </a:prstGeom>
          <a:noFill/>
          <a:ln/>
        </p:spPr>
        <p:txBody>
          <a:bodyPr wrap="square" lIns="0" tIns="0" rIns="0" bIns="0" rtlCol="0" anchor="ctr"/>
          <a:lstStyle/>
          <a:p>
            <a:pPr indent="0" marL="0">
              <a:buNone/>
            </a:pPr>
            <a:r>
              <a:rPr lang="en-US" sz="1100" dirty="0">
                <a:solidFill>
                  <a:srgbClr val="1E293B"/>
                </a:solidFill>
              </a:rPr>
              <a:t>"Di MANA kartunya?"</a:t>
            </a:r>
            <a:endParaRPr lang="en-US" sz="1100" dirty="0"/>
          </a:p>
        </p:txBody>
      </p:sp>
      <p:sp>
        <p:nvSpPr>
          <p:cNvPr id="8" name="Text 6"/>
          <p:cNvSpPr/>
          <p:nvPr/>
        </p:nvSpPr>
        <p:spPr>
          <a:xfrm>
            <a:off x="411480" y="2057400"/>
            <a:ext cx="1371600" cy="457200"/>
          </a:xfrm>
          <a:prstGeom prst="rect">
            <a:avLst/>
          </a:prstGeom>
          <a:noFill/>
          <a:ln/>
        </p:spPr>
        <p:txBody>
          <a:bodyPr wrap="square" lIns="0" tIns="0" rIns="0" bIns="0" rtlCol="0" anchor="ctr"/>
          <a:lstStyle/>
          <a:p>
            <a:pPr indent="0" marL="0">
              <a:buNone/>
            </a:pPr>
            <a:r>
              <a:rPr lang="en-US" sz="1100" b="1" dirty="0">
                <a:solidFill>
                  <a:srgbClr val="EF4444"/>
                </a:solidFill>
              </a:rPr>
              <a:t>Output:</a:t>
            </a:r>
            <a:endParaRPr lang="en-US" sz="1100" dirty="0"/>
          </a:p>
        </p:txBody>
      </p:sp>
      <p:sp>
        <p:nvSpPr>
          <p:cNvPr id="9" name="Text 7"/>
          <p:cNvSpPr/>
          <p:nvPr/>
        </p:nvSpPr>
        <p:spPr>
          <a:xfrm>
            <a:off x="1783080" y="2057400"/>
            <a:ext cx="2377440" cy="457200"/>
          </a:xfrm>
          <a:prstGeom prst="rect">
            <a:avLst/>
          </a:prstGeom>
          <a:noFill/>
          <a:ln/>
        </p:spPr>
        <p:txBody>
          <a:bodyPr wrap="square" lIns="0" tIns="0" rIns="0" bIns="0" rtlCol="0" anchor="ctr"/>
          <a:lstStyle/>
          <a:p>
            <a:pPr indent="0" marL="0">
              <a:buNone/>
            </a:pPr>
            <a:r>
              <a:rPr lang="en-US" sz="1100" dirty="0">
                <a:solidFill>
                  <a:srgbClr val="1E293B"/>
                </a:solidFill>
              </a:rPr>
              <a:t>Bounding box + class label</a:t>
            </a:r>
            <a:endParaRPr lang="en-US" sz="1100" dirty="0"/>
          </a:p>
        </p:txBody>
      </p:sp>
      <p:sp>
        <p:nvSpPr>
          <p:cNvPr id="10" name="Text 8"/>
          <p:cNvSpPr/>
          <p:nvPr/>
        </p:nvSpPr>
        <p:spPr>
          <a:xfrm>
            <a:off x="411480" y="2743200"/>
            <a:ext cx="1371600" cy="457200"/>
          </a:xfrm>
          <a:prstGeom prst="rect">
            <a:avLst/>
          </a:prstGeom>
          <a:noFill/>
          <a:ln/>
        </p:spPr>
        <p:txBody>
          <a:bodyPr wrap="square" lIns="0" tIns="0" rIns="0" bIns="0" rtlCol="0" anchor="ctr"/>
          <a:lstStyle/>
          <a:p>
            <a:pPr indent="0" marL="0">
              <a:buNone/>
            </a:pPr>
            <a:r>
              <a:rPr lang="en-US" sz="1100" b="1" dirty="0">
                <a:solidFill>
                  <a:srgbClr val="EF4444"/>
                </a:solidFill>
              </a:rPr>
              <a:t>Butuh:</a:t>
            </a:r>
            <a:endParaRPr lang="en-US" sz="1100" dirty="0"/>
          </a:p>
        </p:txBody>
      </p:sp>
      <p:sp>
        <p:nvSpPr>
          <p:cNvPr id="11" name="Text 9"/>
          <p:cNvSpPr/>
          <p:nvPr/>
        </p:nvSpPr>
        <p:spPr>
          <a:xfrm>
            <a:off x="1783080" y="2743200"/>
            <a:ext cx="2377440" cy="457200"/>
          </a:xfrm>
          <a:prstGeom prst="rect">
            <a:avLst/>
          </a:prstGeom>
          <a:noFill/>
          <a:ln/>
        </p:spPr>
        <p:txBody>
          <a:bodyPr wrap="square" lIns="0" tIns="0" rIns="0" bIns="0" rtlCol="0" anchor="ctr"/>
          <a:lstStyle/>
          <a:p>
            <a:pPr indent="0" marL="0">
              <a:buNone/>
            </a:pPr>
            <a:r>
              <a:rPr lang="en-US" sz="1100" dirty="0">
                <a:solidFill>
                  <a:srgbClr val="1E293B"/>
                </a:solidFill>
              </a:rPr>
              <a:t>Ribuan bounding box annotations</a:t>
            </a:r>
            <a:endParaRPr lang="en-US" sz="1100" dirty="0"/>
          </a:p>
        </p:txBody>
      </p:sp>
      <p:sp>
        <p:nvSpPr>
          <p:cNvPr id="12" name="Text 10"/>
          <p:cNvSpPr/>
          <p:nvPr/>
        </p:nvSpPr>
        <p:spPr>
          <a:xfrm>
            <a:off x="411480" y="3429000"/>
            <a:ext cx="1371600" cy="457200"/>
          </a:xfrm>
          <a:prstGeom prst="rect">
            <a:avLst/>
          </a:prstGeom>
          <a:noFill/>
          <a:ln/>
        </p:spPr>
        <p:txBody>
          <a:bodyPr wrap="square" lIns="0" tIns="0" rIns="0" bIns="0" rtlCol="0" anchor="ctr"/>
          <a:lstStyle/>
          <a:p>
            <a:pPr indent="0" marL="0">
              <a:buNone/>
            </a:pPr>
            <a:r>
              <a:rPr lang="en-US" sz="1100" b="1" dirty="0">
                <a:solidFill>
                  <a:srgbClr val="EF4444"/>
                </a:solidFill>
              </a:rPr>
              <a:t>Labeling cost:</a:t>
            </a:r>
            <a:endParaRPr lang="en-US" sz="1100" dirty="0"/>
          </a:p>
        </p:txBody>
      </p:sp>
      <p:sp>
        <p:nvSpPr>
          <p:cNvPr id="13" name="Text 11"/>
          <p:cNvSpPr/>
          <p:nvPr/>
        </p:nvSpPr>
        <p:spPr>
          <a:xfrm>
            <a:off x="1783080" y="3429000"/>
            <a:ext cx="2377440" cy="457200"/>
          </a:xfrm>
          <a:prstGeom prst="rect">
            <a:avLst/>
          </a:prstGeom>
          <a:noFill/>
          <a:ln/>
        </p:spPr>
        <p:txBody>
          <a:bodyPr wrap="square" lIns="0" tIns="0" rIns="0" bIns="0" rtlCol="0" anchor="ctr"/>
          <a:lstStyle/>
          <a:p>
            <a:pPr indent="0" marL="0">
              <a:buNone/>
            </a:pPr>
            <a:r>
              <a:rPr lang="en-US" sz="1100" dirty="0">
                <a:solidFill>
                  <a:srgbClr val="1E293B"/>
                </a:solidFill>
              </a:rPr>
              <a:t>⚠️  TINGGI</a:t>
            </a:r>
            <a:endParaRPr lang="en-US" sz="1100" dirty="0"/>
          </a:p>
        </p:txBody>
      </p:sp>
      <p:sp>
        <p:nvSpPr>
          <p:cNvPr id="14" name="Shape 12"/>
          <p:cNvSpPr/>
          <p:nvPr/>
        </p:nvSpPr>
        <p:spPr>
          <a:xfrm>
            <a:off x="4800600" y="777240"/>
            <a:ext cx="4069080" cy="3931920"/>
          </a:xfrm>
          <a:prstGeom prst="rect">
            <a:avLst/>
          </a:prstGeom>
          <a:solidFill>
            <a:srgbClr val="F0FDFA"/>
          </a:solidFill>
          <a:ln w="12700">
            <a:solidFill>
              <a:srgbClr val="6EE7D4"/>
            </a:solidFill>
            <a:prstDash val="solid"/>
          </a:ln>
          <a:effectLst>
            <a:outerShdw sx="100000" sy="100000" kx="0" ky="0" algn="bl" rotWithShape="0" blurRad="76200" dist="25400" dir="8100000">
              <a:srgbClr val="000000">
                <a:alpha val="12000"/>
              </a:srgbClr>
            </a:outerShdw>
          </a:effectLst>
        </p:spPr>
      </p:sp>
      <p:sp>
        <p:nvSpPr>
          <p:cNvPr id="15" name="Shape 13"/>
          <p:cNvSpPr/>
          <p:nvPr/>
        </p:nvSpPr>
        <p:spPr>
          <a:xfrm>
            <a:off x="4800600" y="777240"/>
            <a:ext cx="4069080" cy="457200"/>
          </a:xfrm>
          <a:prstGeom prst="rect">
            <a:avLst/>
          </a:prstGeom>
          <a:solidFill>
            <a:srgbClr val="0D9488"/>
          </a:solidFill>
          <a:ln w="12700">
            <a:solidFill>
              <a:srgbClr val="0D9488"/>
            </a:solidFill>
            <a:prstDash val="solid"/>
          </a:ln>
        </p:spPr>
      </p:sp>
      <p:sp>
        <p:nvSpPr>
          <p:cNvPr id="16" name="Text 14"/>
          <p:cNvSpPr/>
          <p:nvPr/>
        </p:nvSpPr>
        <p:spPr>
          <a:xfrm>
            <a:off x="4800600" y="777240"/>
            <a:ext cx="4069080" cy="457200"/>
          </a:xfrm>
          <a:prstGeom prst="rect">
            <a:avLst/>
          </a:prstGeom>
          <a:noFill/>
          <a:ln/>
        </p:spPr>
        <p:txBody>
          <a:bodyPr wrap="square" lIns="0" tIns="0" rIns="0" bIns="0" rtlCol="0" anchor="ctr"/>
          <a:lstStyle/>
          <a:p>
            <a:pPr algn="ctr" indent="0" marL="0">
              <a:buNone/>
            </a:pPr>
            <a:r>
              <a:rPr lang="en-US" sz="1300" b="1" dirty="0">
                <a:solidFill>
                  <a:srgbClr val="FFFFFF"/>
                </a:solidFill>
              </a:rPr>
              <a:t>Our Approach / Classification</a:t>
            </a:r>
            <a:endParaRPr lang="en-US" sz="1300" dirty="0"/>
          </a:p>
        </p:txBody>
      </p:sp>
      <p:sp>
        <p:nvSpPr>
          <p:cNvPr id="17" name="Text 15"/>
          <p:cNvSpPr/>
          <p:nvPr/>
        </p:nvSpPr>
        <p:spPr>
          <a:xfrm>
            <a:off x="4937760" y="1371600"/>
            <a:ext cx="1371600" cy="457200"/>
          </a:xfrm>
          <a:prstGeom prst="rect">
            <a:avLst/>
          </a:prstGeom>
          <a:noFill/>
          <a:ln/>
        </p:spPr>
        <p:txBody>
          <a:bodyPr wrap="square" lIns="0" tIns="0" rIns="0" bIns="0" rtlCol="0" anchor="ctr"/>
          <a:lstStyle/>
          <a:p>
            <a:pPr indent="0" marL="0">
              <a:buNone/>
            </a:pPr>
            <a:r>
              <a:rPr lang="en-US" sz="1100" b="1" dirty="0">
                <a:solidFill>
                  <a:srgbClr val="0D9488"/>
                </a:solidFill>
              </a:rPr>
              <a:t>Menjawab:</a:t>
            </a:r>
            <a:endParaRPr lang="en-US" sz="1100" dirty="0"/>
          </a:p>
        </p:txBody>
      </p:sp>
      <p:sp>
        <p:nvSpPr>
          <p:cNvPr id="18" name="Text 16"/>
          <p:cNvSpPr/>
          <p:nvPr/>
        </p:nvSpPr>
        <p:spPr>
          <a:xfrm>
            <a:off x="6309360" y="1371600"/>
            <a:ext cx="2468880" cy="457200"/>
          </a:xfrm>
          <a:prstGeom prst="rect">
            <a:avLst/>
          </a:prstGeom>
          <a:noFill/>
          <a:ln/>
        </p:spPr>
        <p:txBody>
          <a:bodyPr wrap="square" lIns="0" tIns="0" rIns="0" bIns="0" rtlCol="0" anchor="ctr"/>
          <a:lstStyle/>
          <a:p>
            <a:pPr indent="0" marL="0">
              <a:buNone/>
            </a:pPr>
            <a:r>
              <a:rPr lang="en-US" sz="1100" dirty="0">
                <a:solidFill>
                  <a:srgbClr val="1E293B"/>
                </a:solidFill>
              </a:rPr>
              <a:t>"APAKAH ada kartu?"</a:t>
            </a:r>
            <a:endParaRPr lang="en-US" sz="1100" dirty="0"/>
          </a:p>
        </p:txBody>
      </p:sp>
      <p:sp>
        <p:nvSpPr>
          <p:cNvPr id="19" name="Text 17"/>
          <p:cNvSpPr/>
          <p:nvPr/>
        </p:nvSpPr>
        <p:spPr>
          <a:xfrm>
            <a:off x="4937760" y="2057400"/>
            <a:ext cx="1371600" cy="457200"/>
          </a:xfrm>
          <a:prstGeom prst="rect">
            <a:avLst/>
          </a:prstGeom>
          <a:noFill/>
          <a:ln/>
        </p:spPr>
        <p:txBody>
          <a:bodyPr wrap="square" lIns="0" tIns="0" rIns="0" bIns="0" rtlCol="0" anchor="ctr"/>
          <a:lstStyle/>
          <a:p>
            <a:pPr indent="0" marL="0">
              <a:buNone/>
            </a:pPr>
            <a:r>
              <a:rPr lang="en-US" sz="1100" b="1" dirty="0">
                <a:solidFill>
                  <a:srgbClr val="0D9488"/>
                </a:solidFill>
              </a:rPr>
              <a:t>Output:</a:t>
            </a:r>
            <a:endParaRPr lang="en-US" sz="1100" dirty="0"/>
          </a:p>
        </p:txBody>
      </p:sp>
      <p:sp>
        <p:nvSpPr>
          <p:cNvPr id="20" name="Text 18"/>
          <p:cNvSpPr/>
          <p:nvPr/>
        </p:nvSpPr>
        <p:spPr>
          <a:xfrm>
            <a:off x="6309360" y="2057400"/>
            <a:ext cx="2468880" cy="457200"/>
          </a:xfrm>
          <a:prstGeom prst="rect">
            <a:avLst/>
          </a:prstGeom>
          <a:noFill/>
          <a:ln/>
        </p:spPr>
        <p:txBody>
          <a:bodyPr wrap="square" lIns="0" tIns="0" rIns="0" bIns="0" rtlCol="0" anchor="ctr"/>
          <a:lstStyle/>
          <a:p>
            <a:pPr indent="0" marL="0">
              <a:buNone/>
            </a:pPr>
            <a:r>
              <a:rPr lang="en-US" sz="1100" dirty="0">
                <a:solidFill>
                  <a:srgbClr val="1E293B"/>
                </a:solidFill>
              </a:rPr>
              <a:t>Yes/No + confidence score</a:t>
            </a:r>
            <a:endParaRPr lang="en-US" sz="1100" dirty="0"/>
          </a:p>
        </p:txBody>
      </p:sp>
      <p:sp>
        <p:nvSpPr>
          <p:cNvPr id="21" name="Text 19"/>
          <p:cNvSpPr/>
          <p:nvPr/>
        </p:nvSpPr>
        <p:spPr>
          <a:xfrm>
            <a:off x="4937760" y="2743200"/>
            <a:ext cx="1371600" cy="457200"/>
          </a:xfrm>
          <a:prstGeom prst="rect">
            <a:avLst/>
          </a:prstGeom>
          <a:noFill/>
          <a:ln/>
        </p:spPr>
        <p:txBody>
          <a:bodyPr wrap="square" lIns="0" tIns="0" rIns="0" bIns="0" rtlCol="0" anchor="ctr"/>
          <a:lstStyle/>
          <a:p>
            <a:pPr indent="0" marL="0">
              <a:buNone/>
            </a:pPr>
            <a:r>
              <a:rPr lang="en-US" sz="1100" b="1" dirty="0">
                <a:solidFill>
                  <a:srgbClr val="0D9488"/>
                </a:solidFill>
              </a:rPr>
              <a:t>Butuh:</a:t>
            </a:r>
            <a:endParaRPr lang="en-US" sz="1100" dirty="0"/>
          </a:p>
        </p:txBody>
      </p:sp>
      <p:sp>
        <p:nvSpPr>
          <p:cNvPr id="22" name="Text 20"/>
          <p:cNvSpPr/>
          <p:nvPr/>
        </p:nvSpPr>
        <p:spPr>
          <a:xfrm>
            <a:off x="6309360" y="2743200"/>
            <a:ext cx="2468880" cy="457200"/>
          </a:xfrm>
          <a:prstGeom prst="rect">
            <a:avLst/>
          </a:prstGeom>
          <a:noFill/>
          <a:ln/>
        </p:spPr>
        <p:txBody>
          <a:bodyPr wrap="square" lIns="0" tIns="0" rIns="0" bIns="0" rtlCol="0" anchor="ctr"/>
          <a:lstStyle/>
          <a:p>
            <a:pPr indent="0" marL="0">
              <a:buNone/>
            </a:pPr>
            <a:r>
              <a:rPr lang="en-US" sz="1100" dirty="0">
                <a:solidFill>
                  <a:srgbClr val="1E293B"/>
                </a:solidFill>
              </a:rPr>
              <a:t>Label per gambar (yes/no)</a:t>
            </a:r>
            <a:endParaRPr lang="en-US" sz="1100" dirty="0"/>
          </a:p>
        </p:txBody>
      </p:sp>
      <p:sp>
        <p:nvSpPr>
          <p:cNvPr id="23" name="Text 21"/>
          <p:cNvSpPr/>
          <p:nvPr/>
        </p:nvSpPr>
        <p:spPr>
          <a:xfrm>
            <a:off x="4937760" y="3429000"/>
            <a:ext cx="1371600" cy="457200"/>
          </a:xfrm>
          <a:prstGeom prst="rect">
            <a:avLst/>
          </a:prstGeom>
          <a:noFill/>
          <a:ln/>
        </p:spPr>
        <p:txBody>
          <a:bodyPr wrap="square" lIns="0" tIns="0" rIns="0" bIns="0" rtlCol="0" anchor="ctr"/>
          <a:lstStyle/>
          <a:p>
            <a:pPr indent="0" marL="0">
              <a:buNone/>
            </a:pPr>
            <a:r>
              <a:rPr lang="en-US" sz="1100" b="1" dirty="0">
                <a:solidFill>
                  <a:srgbClr val="0D9488"/>
                </a:solidFill>
              </a:rPr>
              <a:t>Labeling cost:</a:t>
            </a:r>
            <a:endParaRPr lang="en-US" sz="1100" dirty="0"/>
          </a:p>
        </p:txBody>
      </p:sp>
      <p:sp>
        <p:nvSpPr>
          <p:cNvPr id="24" name="Text 22"/>
          <p:cNvSpPr/>
          <p:nvPr/>
        </p:nvSpPr>
        <p:spPr>
          <a:xfrm>
            <a:off x="6309360" y="3429000"/>
            <a:ext cx="2468880" cy="457200"/>
          </a:xfrm>
          <a:prstGeom prst="rect">
            <a:avLst/>
          </a:prstGeom>
          <a:noFill/>
          <a:ln/>
        </p:spPr>
        <p:txBody>
          <a:bodyPr wrap="square" lIns="0" tIns="0" rIns="0" bIns="0" rtlCol="0" anchor="ctr"/>
          <a:lstStyle/>
          <a:p>
            <a:pPr indent="0" marL="0">
              <a:buNone/>
            </a:pPr>
            <a:r>
              <a:rPr lang="en-US" sz="1100" dirty="0">
                <a:solidFill>
                  <a:srgbClr val="1E293B"/>
                </a:solidFill>
              </a:rPr>
              <a:t>✅  RENDAH</a:t>
            </a:r>
            <a:endParaRPr lang="en-US" sz="1100" dirty="0"/>
          </a:p>
        </p:txBody>
      </p:sp>
      <p:sp>
        <p:nvSpPr>
          <p:cNvPr id="25" name="Text 23"/>
          <p:cNvSpPr/>
          <p:nvPr/>
        </p:nvSpPr>
        <p:spPr>
          <a:xfrm>
            <a:off x="4114800" y="1554480"/>
            <a:ext cx="914400" cy="640080"/>
          </a:xfrm>
          <a:prstGeom prst="rect">
            <a:avLst/>
          </a:prstGeom>
          <a:noFill/>
          <a:ln/>
        </p:spPr>
        <p:txBody>
          <a:bodyPr wrap="square" rtlCol="0" anchor="ctr"/>
          <a:lstStyle/>
          <a:p>
            <a:pPr algn="ctr" indent="0" marL="0">
              <a:buNone/>
            </a:pPr>
            <a:r>
              <a:rPr lang="en-US" sz="2400" b="1" dirty="0">
                <a:solidFill>
                  <a:srgbClr val="64748B"/>
                </a:solidFill>
              </a:rPr>
              <a:t>VS</a:t>
            </a:r>
            <a:endParaRPr lang="en-US" sz="2400" dirty="0"/>
          </a:p>
        </p:txBody>
      </p:sp>
      <p:sp>
        <p:nvSpPr>
          <p:cNvPr id="26" name="Shape 24"/>
          <p:cNvSpPr/>
          <p:nvPr/>
        </p:nvSpPr>
        <p:spPr>
          <a:xfrm>
            <a:off x="274320" y="4617720"/>
            <a:ext cx="8595360" cy="384048"/>
          </a:xfrm>
          <a:prstGeom prst="rect">
            <a:avLst/>
          </a:prstGeom>
          <a:solidFill>
            <a:srgbClr val="065A82"/>
          </a:solidFill>
          <a:ln w="12700">
            <a:solidFill>
              <a:srgbClr val="065A82"/>
            </a:solidFill>
            <a:prstDash val="solid"/>
          </a:ln>
        </p:spPr>
      </p:sp>
      <p:sp>
        <p:nvSpPr>
          <p:cNvPr id="27" name="Text 25"/>
          <p:cNvSpPr/>
          <p:nvPr/>
        </p:nvSpPr>
        <p:spPr>
          <a:xfrm>
            <a:off x="320040" y="4617720"/>
            <a:ext cx="8503920" cy="384048"/>
          </a:xfrm>
          <a:prstGeom prst="rect">
            <a:avLst/>
          </a:prstGeom>
          <a:noFill/>
          <a:ln/>
        </p:spPr>
        <p:txBody>
          <a:bodyPr wrap="square" lIns="50800" tIns="50800" rIns="50800" bIns="50800" rtlCol="0" anchor="ctr"/>
          <a:lstStyle/>
          <a:p>
            <a:pPr algn="ctr" indent="0" marL="0">
              <a:buNone/>
            </a:pPr>
            <a:r>
              <a:rPr lang="en-US" sz="1100" b="1" i="1" dirty="0">
                <a:solidFill>
                  <a:srgbClr val="FFFFFF"/>
                </a:solidFill>
              </a:rPr>
              <a:t>Kita menjawab pertanyaan bisnis secara langsung — ada atau tidak. Simpler problem, simpler solution, cheaper data.</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228600" cy="548640"/>
          </a:xfrm>
          <a:prstGeom prst="rect">
            <a:avLst/>
          </a:prstGeom>
          <a:solidFill>
            <a:srgbClr val="0D9488"/>
          </a:solidFill>
          <a:ln w="12700">
            <a:solidFill>
              <a:srgbClr val="0D9488"/>
            </a:solidFill>
            <a:prstDash val="solid"/>
          </a:ln>
        </p:spPr>
      </p:sp>
      <p:sp>
        <p:nvSpPr>
          <p:cNvPr id="3" name="Text 1"/>
          <p:cNvSpPr/>
          <p:nvPr/>
        </p:nvSpPr>
        <p:spPr>
          <a:xfrm>
            <a:off x="594360" y="137160"/>
            <a:ext cx="8229600" cy="548640"/>
          </a:xfrm>
          <a:prstGeom prst="rect">
            <a:avLst/>
          </a:prstGeom>
          <a:noFill/>
          <a:ln/>
        </p:spPr>
        <p:txBody>
          <a:bodyPr wrap="square" lIns="0" tIns="0" rIns="0" bIns="0" rtlCol="0" anchor="ctr"/>
          <a:lstStyle/>
          <a:p>
            <a:pPr indent="0" marL="0">
              <a:buNone/>
            </a:pPr>
            <a:r>
              <a:rPr lang="en-US" sz="2200" b="1" dirty="0">
                <a:solidFill>
                  <a:srgbClr val="065A82"/>
                </a:solidFill>
                <a:latin typeface="Trebuchet MS" pitchFamily="34" charset="0"/>
                <a:ea typeface="Trebuchet MS" pitchFamily="34" charset="-122"/>
                <a:cs typeface="Trebuchet MS" pitchFamily="34" charset="-120"/>
              </a:rPr>
              <a:t>Approach 1: Lightweight CNN (MobileNetV3-Small)</a:t>
            </a:r>
            <a:endParaRPr lang="en-US" sz="2200" dirty="0"/>
          </a:p>
        </p:txBody>
      </p:sp>
      <p:sp>
        <p:nvSpPr>
          <p:cNvPr id="4" name="Shape 2"/>
          <p:cNvSpPr/>
          <p:nvPr/>
        </p:nvSpPr>
        <p:spPr>
          <a:xfrm>
            <a:off x="182880" y="822960"/>
            <a:ext cx="1600200" cy="731520"/>
          </a:xfrm>
          <a:prstGeom prst="rect">
            <a:avLst/>
          </a:prstGeom>
          <a:solidFill>
            <a:srgbClr val="1C7293"/>
          </a:solidFill>
          <a:ln w="12700">
            <a:solidFill>
              <a:srgbClr val="1C7293"/>
            </a:solidFill>
            <a:prstDash val="solid"/>
          </a:ln>
          <a:effectLst>
            <a:outerShdw sx="100000" sy="100000" kx="0" ky="0" algn="bl" rotWithShape="0" blurRad="76200" dist="25400" dir="8100000">
              <a:srgbClr val="000000">
                <a:alpha val="12000"/>
              </a:srgbClr>
            </a:outerShdw>
          </a:effectLst>
        </p:spPr>
      </p:sp>
      <p:sp>
        <p:nvSpPr>
          <p:cNvPr id="5" name="Text 3"/>
          <p:cNvSpPr/>
          <p:nvPr/>
        </p:nvSpPr>
        <p:spPr>
          <a:xfrm>
            <a:off x="182880" y="822960"/>
            <a:ext cx="1600200" cy="731520"/>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Input</a:t>
            </a:r>
            <a:endParaRPr lang="en-US" sz="1000" dirty="0"/>
          </a:p>
          <a:p>
            <a:pPr algn="ctr" indent="0" marL="0">
              <a:buNone/>
            </a:pPr>
            <a:r>
              <a:rPr lang="en-US" sz="1000" b="1" dirty="0">
                <a:solidFill>
                  <a:srgbClr val="FFFFFF"/>
                </a:solidFill>
              </a:rPr>
              <a:t>Image</a:t>
            </a:r>
            <a:endParaRPr lang="en-US" sz="1000" dirty="0"/>
          </a:p>
        </p:txBody>
      </p:sp>
      <p:sp>
        <p:nvSpPr>
          <p:cNvPr id="6" name="Text 4"/>
          <p:cNvSpPr/>
          <p:nvPr/>
        </p:nvSpPr>
        <p:spPr>
          <a:xfrm>
            <a:off x="1764792" y="960120"/>
            <a:ext cx="228600" cy="457200"/>
          </a:xfrm>
          <a:prstGeom prst="rect">
            <a:avLst/>
          </a:prstGeom>
          <a:noFill/>
          <a:ln/>
        </p:spPr>
        <p:txBody>
          <a:bodyPr wrap="square" lIns="0" tIns="0" rIns="0" bIns="0" rtlCol="0" anchor="ctr"/>
          <a:lstStyle/>
          <a:p>
            <a:pPr algn="ctr" indent="0" marL="0">
              <a:buNone/>
            </a:pPr>
            <a:r>
              <a:rPr lang="en-US" sz="1400" dirty="0">
                <a:solidFill>
                  <a:srgbClr val="64748B"/>
                </a:solidFill>
              </a:rPr>
              <a:t>→</a:t>
            </a:r>
            <a:endParaRPr lang="en-US" sz="1400" dirty="0"/>
          </a:p>
        </p:txBody>
      </p:sp>
      <p:sp>
        <p:nvSpPr>
          <p:cNvPr id="7" name="Shape 5"/>
          <p:cNvSpPr/>
          <p:nvPr/>
        </p:nvSpPr>
        <p:spPr>
          <a:xfrm>
            <a:off x="1956816" y="822960"/>
            <a:ext cx="1600200" cy="731520"/>
          </a:xfrm>
          <a:prstGeom prst="rect">
            <a:avLst/>
          </a:prstGeom>
          <a:solidFill>
            <a:srgbClr val="0D9488"/>
          </a:solidFill>
          <a:ln w="12700">
            <a:solidFill>
              <a:srgbClr val="0D9488"/>
            </a:solidFill>
            <a:prstDash val="solid"/>
          </a:ln>
          <a:effectLst>
            <a:outerShdw sx="100000" sy="100000" kx="0" ky="0" algn="bl" rotWithShape="0" blurRad="76200" dist="25400" dir="8100000">
              <a:srgbClr val="000000">
                <a:alpha val="12000"/>
              </a:srgbClr>
            </a:outerShdw>
          </a:effectLst>
        </p:spPr>
      </p:sp>
      <p:sp>
        <p:nvSpPr>
          <p:cNvPr id="8" name="Text 6"/>
          <p:cNvSpPr/>
          <p:nvPr/>
        </p:nvSpPr>
        <p:spPr>
          <a:xfrm>
            <a:off x="1956816" y="822960"/>
            <a:ext cx="1600200" cy="731520"/>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Data</a:t>
            </a:r>
            <a:endParaRPr lang="en-US" sz="1000" dirty="0"/>
          </a:p>
          <a:p>
            <a:pPr algn="ctr" indent="0" marL="0">
              <a:buNone/>
            </a:pPr>
            <a:r>
              <a:rPr lang="en-US" sz="1000" b="1" dirty="0">
                <a:solidFill>
                  <a:srgbClr val="FFFFFF"/>
                </a:solidFill>
              </a:rPr>
              <a:t>Augmentation</a:t>
            </a:r>
            <a:endParaRPr lang="en-US" sz="1000" dirty="0"/>
          </a:p>
        </p:txBody>
      </p:sp>
      <p:sp>
        <p:nvSpPr>
          <p:cNvPr id="9" name="Text 7"/>
          <p:cNvSpPr/>
          <p:nvPr/>
        </p:nvSpPr>
        <p:spPr>
          <a:xfrm>
            <a:off x="3538728" y="960120"/>
            <a:ext cx="228600" cy="457200"/>
          </a:xfrm>
          <a:prstGeom prst="rect">
            <a:avLst/>
          </a:prstGeom>
          <a:noFill/>
          <a:ln/>
        </p:spPr>
        <p:txBody>
          <a:bodyPr wrap="square" lIns="0" tIns="0" rIns="0" bIns="0" rtlCol="0" anchor="ctr"/>
          <a:lstStyle/>
          <a:p>
            <a:pPr algn="ctr" indent="0" marL="0">
              <a:buNone/>
            </a:pPr>
            <a:r>
              <a:rPr lang="en-US" sz="1400" dirty="0">
                <a:solidFill>
                  <a:srgbClr val="64748B"/>
                </a:solidFill>
              </a:rPr>
              <a:t>→</a:t>
            </a:r>
            <a:endParaRPr lang="en-US" sz="1400" dirty="0"/>
          </a:p>
        </p:txBody>
      </p:sp>
      <p:sp>
        <p:nvSpPr>
          <p:cNvPr id="10" name="Shape 8"/>
          <p:cNvSpPr/>
          <p:nvPr/>
        </p:nvSpPr>
        <p:spPr>
          <a:xfrm>
            <a:off x="3730752" y="822960"/>
            <a:ext cx="1600200" cy="731520"/>
          </a:xfrm>
          <a:prstGeom prst="rect">
            <a:avLst/>
          </a:prstGeom>
          <a:solidFill>
            <a:srgbClr val="065A82"/>
          </a:solidFill>
          <a:ln w="12700">
            <a:solidFill>
              <a:srgbClr val="065A82"/>
            </a:solidFill>
            <a:prstDash val="solid"/>
          </a:ln>
          <a:effectLst>
            <a:outerShdw sx="100000" sy="100000" kx="0" ky="0" algn="bl" rotWithShape="0" blurRad="76200" dist="25400" dir="8100000">
              <a:srgbClr val="000000">
                <a:alpha val="12000"/>
              </a:srgbClr>
            </a:outerShdw>
          </a:effectLst>
        </p:spPr>
      </p:sp>
      <p:sp>
        <p:nvSpPr>
          <p:cNvPr id="11" name="Text 9"/>
          <p:cNvSpPr/>
          <p:nvPr/>
        </p:nvSpPr>
        <p:spPr>
          <a:xfrm>
            <a:off x="3730752" y="822960"/>
            <a:ext cx="1600200" cy="731520"/>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MobileNetV3</a:t>
            </a:r>
            <a:endParaRPr lang="en-US" sz="1000" dirty="0"/>
          </a:p>
          <a:p>
            <a:pPr algn="ctr" indent="0" marL="0">
              <a:buNone/>
            </a:pPr>
            <a:r>
              <a:rPr lang="en-US" sz="1000" b="1" dirty="0">
                <a:solidFill>
                  <a:srgbClr val="FFFFFF"/>
                </a:solidFill>
              </a:rPr>
              <a:t>Backbone (frozen)</a:t>
            </a:r>
            <a:endParaRPr lang="en-US" sz="1000" dirty="0"/>
          </a:p>
        </p:txBody>
      </p:sp>
      <p:sp>
        <p:nvSpPr>
          <p:cNvPr id="12" name="Text 10"/>
          <p:cNvSpPr/>
          <p:nvPr/>
        </p:nvSpPr>
        <p:spPr>
          <a:xfrm>
            <a:off x="5312664" y="960120"/>
            <a:ext cx="228600" cy="457200"/>
          </a:xfrm>
          <a:prstGeom prst="rect">
            <a:avLst/>
          </a:prstGeom>
          <a:noFill/>
          <a:ln/>
        </p:spPr>
        <p:txBody>
          <a:bodyPr wrap="square" lIns="0" tIns="0" rIns="0" bIns="0" rtlCol="0" anchor="ctr"/>
          <a:lstStyle/>
          <a:p>
            <a:pPr algn="ctr" indent="0" marL="0">
              <a:buNone/>
            </a:pPr>
            <a:r>
              <a:rPr lang="en-US" sz="1400" dirty="0">
                <a:solidFill>
                  <a:srgbClr val="64748B"/>
                </a:solidFill>
              </a:rPr>
              <a:t>→</a:t>
            </a:r>
            <a:endParaRPr lang="en-US" sz="1400" dirty="0"/>
          </a:p>
        </p:txBody>
      </p:sp>
      <p:sp>
        <p:nvSpPr>
          <p:cNvPr id="13" name="Shape 11"/>
          <p:cNvSpPr/>
          <p:nvPr/>
        </p:nvSpPr>
        <p:spPr>
          <a:xfrm>
            <a:off x="5504688" y="822960"/>
            <a:ext cx="1600200" cy="731520"/>
          </a:xfrm>
          <a:prstGeom prst="rect">
            <a:avLst/>
          </a:prstGeom>
          <a:solidFill>
            <a:srgbClr val="00A896"/>
          </a:solidFill>
          <a:ln w="12700">
            <a:solidFill>
              <a:srgbClr val="00A896"/>
            </a:solidFill>
            <a:prstDash val="solid"/>
          </a:ln>
          <a:effectLst>
            <a:outerShdw sx="100000" sy="100000" kx="0" ky="0" algn="bl" rotWithShape="0" blurRad="76200" dist="25400" dir="8100000">
              <a:srgbClr val="000000">
                <a:alpha val="12000"/>
              </a:srgbClr>
            </a:outerShdw>
          </a:effectLst>
        </p:spPr>
      </p:sp>
      <p:sp>
        <p:nvSpPr>
          <p:cNvPr id="14" name="Text 12"/>
          <p:cNvSpPr/>
          <p:nvPr/>
        </p:nvSpPr>
        <p:spPr>
          <a:xfrm>
            <a:off x="5504688" y="822960"/>
            <a:ext cx="1600200" cy="731520"/>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Custom</a:t>
            </a:r>
            <a:endParaRPr lang="en-US" sz="1000" dirty="0"/>
          </a:p>
          <a:p>
            <a:pPr algn="ctr" indent="0" marL="0">
              <a:buNone/>
            </a:pPr>
            <a:r>
              <a:rPr lang="en-US" sz="1000" b="1" dirty="0">
                <a:solidFill>
                  <a:srgbClr val="FFFFFF"/>
                </a:solidFill>
              </a:rPr>
              <a:t>Classifier Head</a:t>
            </a:r>
            <a:endParaRPr lang="en-US" sz="1000" dirty="0"/>
          </a:p>
        </p:txBody>
      </p:sp>
      <p:sp>
        <p:nvSpPr>
          <p:cNvPr id="15" name="Text 13"/>
          <p:cNvSpPr/>
          <p:nvPr/>
        </p:nvSpPr>
        <p:spPr>
          <a:xfrm>
            <a:off x="7086600" y="960120"/>
            <a:ext cx="228600" cy="457200"/>
          </a:xfrm>
          <a:prstGeom prst="rect">
            <a:avLst/>
          </a:prstGeom>
          <a:noFill/>
          <a:ln/>
        </p:spPr>
        <p:txBody>
          <a:bodyPr wrap="square" lIns="0" tIns="0" rIns="0" bIns="0" rtlCol="0" anchor="ctr"/>
          <a:lstStyle/>
          <a:p>
            <a:pPr algn="ctr" indent="0" marL="0">
              <a:buNone/>
            </a:pPr>
            <a:r>
              <a:rPr lang="en-US" sz="1400" dirty="0">
                <a:solidFill>
                  <a:srgbClr val="64748B"/>
                </a:solidFill>
              </a:rPr>
              <a:t>→</a:t>
            </a:r>
            <a:endParaRPr lang="en-US" sz="1400" dirty="0"/>
          </a:p>
        </p:txBody>
      </p:sp>
      <p:sp>
        <p:nvSpPr>
          <p:cNvPr id="16" name="Shape 14"/>
          <p:cNvSpPr/>
          <p:nvPr/>
        </p:nvSpPr>
        <p:spPr>
          <a:xfrm>
            <a:off x="7278624" y="822960"/>
            <a:ext cx="1600200" cy="731520"/>
          </a:xfrm>
          <a:prstGeom prst="rect">
            <a:avLst/>
          </a:prstGeom>
          <a:solidFill>
            <a:srgbClr val="059669"/>
          </a:solidFill>
          <a:ln w="12700">
            <a:solidFill>
              <a:srgbClr val="059669"/>
            </a:solidFill>
            <a:prstDash val="solid"/>
          </a:ln>
          <a:effectLst>
            <a:outerShdw sx="100000" sy="100000" kx="0" ky="0" algn="bl" rotWithShape="0" blurRad="76200" dist="25400" dir="8100000">
              <a:srgbClr val="000000">
                <a:alpha val="12000"/>
              </a:srgbClr>
            </a:outerShdw>
          </a:effectLst>
        </p:spPr>
      </p:sp>
      <p:sp>
        <p:nvSpPr>
          <p:cNvPr id="17" name="Text 15"/>
          <p:cNvSpPr/>
          <p:nvPr/>
        </p:nvSpPr>
        <p:spPr>
          <a:xfrm>
            <a:off x="7278624" y="822960"/>
            <a:ext cx="1600200" cy="731520"/>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HAS_CARD /</a:t>
            </a:r>
            <a:endParaRPr lang="en-US" sz="1000" dirty="0"/>
          </a:p>
          <a:p>
            <a:pPr algn="ctr" indent="0" marL="0">
              <a:buNone/>
            </a:pPr>
            <a:r>
              <a:rPr lang="en-US" sz="1000" b="1" dirty="0">
                <a:solidFill>
                  <a:srgbClr val="FFFFFF"/>
                </a:solidFill>
              </a:rPr>
              <a:t>NO_CARD</a:t>
            </a:r>
            <a:endParaRPr lang="en-US" sz="1000" dirty="0"/>
          </a:p>
        </p:txBody>
      </p:sp>
      <p:sp>
        <p:nvSpPr>
          <p:cNvPr id="18" name="Shape 16"/>
          <p:cNvSpPr/>
          <p:nvPr/>
        </p:nvSpPr>
        <p:spPr>
          <a:xfrm>
            <a:off x="228600" y="1737360"/>
            <a:ext cx="4160520" cy="1234440"/>
          </a:xfrm>
          <a:prstGeom prst="rect">
            <a:avLst/>
          </a:prstGeom>
          <a:solidFill>
            <a:srgbClr val="F0FDFA"/>
          </a:solidFill>
          <a:ln w="12700">
            <a:solidFill>
              <a:srgbClr val="0D9488"/>
            </a:solidFill>
            <a:prstDash val="solid"/>
          </a:ln>
          <a:effectLst>
            <a:outerShdw sx="100000" sy="100000" kx="0" ky="0" algn="bl" rotWithShape="0" blurRad="76200" dist="25400" dir="8100000">
              <a:srgbClr val="000000">
                <a:alpha val="12000"/>
              </a:srgbClr>
            </a:outerShdw>
          </a:effectLst>
        </p:spPr>
      </p:sp>
      <p:sp>
        <p:nvSpPr>
          <p:cNvPr id="19" name="Shape 17"/>
          <p:cNvSpPr/>
          <p:nvPr/>
        </p:nvSpPr>
        <p:spPr>
          <a:xfrm>
            <a:off x="228600" y="1737360"/>
            <a:ext cx="73152" cy="1234440"/>
          </a:xfrm>
          <a:prstGeom prst="rect">
            <a:avLst/>
          </a:prstGeom>
          <a:solidFill>
            <a:srgbClr val="0D9488"/>
          </a:solidFill>
          <a:ln w="12700">
            <a:solidFill>
              <a:srgbClr val="0D9488"/>
            </a:solidFill>
            <a:prstDash val="solid"/>
          </a:ln>
        </p:spPr>
      </p:sp>
      <p:pic>
        <p:nvPicPr>
          <p:cNvPr id="20" name="Image 0" descr="preencoded.png">    </p:cNvPr>
          <p:cNvPicPr>
            <a:picLocks noChangeAspect="1"/>
          </p:cNvPicPr>
          <p:nvPr/>
        </p:nvPicPr>
        <p:blipFill>
          <a:blip r:embed="rId1"/>
          <a:stretch>
            <a:fillRect/>
          </a:stretch>
        </p:blipFill>
        <p:spPr>
          <a:xfrm>
            <a:off x="411480" y="2103120"/>
            <a:ext cx="411480" cy="411480"/>
          </a:xfrm>
          <a:prstGeom prst="rect">
            <a:avLst/>
          </a:prstGeom>
        </p:spPr>
      </p:pic>
      <p:sp>
        <p:nvSpPr>
          <p:cNvPr id="21" name="Text 18"/>
          <p:cNvSpPr/>
          <p:nvPr/>
        </p:nvSpPr>
        <p:spPr>
          <a:xfrm>
            <a:off x="960120" y="1828800"/>
            <a:ext cx="3337560" cy="347472"/>
          </a:xfrm>
          <a:prstGeom prst="rect">
            <a:avLst/>
          </a:prstGeom>
          <a:noFill/>
          <a:ln/>
        </p:spPr>
        <p:txBody>
          <a:bodyPr wrap="square" lIns="0" tIns="0" rIns="0" bIns="0" rtlCol="0" anchor="ctr"/>
          <a:lstStyle/>
          <a:p>
            <a:pPr indent="0" marL="0">
              <a:buNone/>
            </a:pPr>
            <a:r>
              <a:rPr lang="en-US" sz="1200" b="1" dirty="0">
                <a:solidFill>
                  <a:srgbClr val="0D9488"/>
                </a:solidFill>
              </a:rPr>
              <a:t>Transfer Learning</a:t>
            </a:r>
            <a:endParaRPr lang="en-US" sz="1200" dirty="0"/>
          </a:p>
        </p:txBody>
      </p:sp>
      <p:sp>
        <p:nvSpPr>
          <p:cNvPr id="22" name="Text 19"/>
          <p:cNvSpPr/>
          <p:nvPr/>
        </p:nvSpPr>
        <p:spPr>
          <a:xfrm>
            <a:off x="960120" y="2176272"/>
            <a:ext cx="3337560" cy="713232"/>
          </a:xfrm>
          <a:prstGeom prst="rect">
            <a:avLst/>
          </a:prstGeom>
          <a:noFill/>
          <a:ln/>
        </p:spPr>
        <p:txBody>
          <a:bodyPr wrap="square" lIns="0" tIns="0" rIns="0" bIns="0" rtlCol="0" anchor="ctr"/>
          <a:lstStyle/>
          <a:p>
            <a:pPr indent="0" marL="0">
              <a:buNone/>
            </a:pPr>
            <a:r>
              <a:rPr lang="en-US" sz="1000" dirty="0">
                <a:solidFill>
                  <a:srgbClr val="1E293B"/>
                </a:solidFill>
              </a:rPr>
              <a:t>Pretrained ImageNet — hanya train classifier head (~50K params vs 3.4M total). Fast convergence, sedikit data.</a:t>
            </a:r>
            <a:endParaRPr lang="en-US" sz="1000" dirty="0"/>
          </a:p>
        </p:txBody>
      </p:sp>
      <p:sp>
        <p:nvSpPr>
          <p:cNvPr id="23" name="Shape 20"/>
          <p:cNvSpPr/>
          <p:nvPr/>
        </p:nvSpPr>
        <p:spPr>
          <a:xfrm>
            <a:off x="4617720" y="1737360"/>
            <a:ext cx="4160520" cy="1234440"/>
          </a:xfrm>
          <a:prstGeom prst="rect">
            <a:avLst/>
          </a:prstGeom>
          <a:solidFill>
            <a:srgbClr val="EFF6FF"/>
          </a:solidFill>
          <a:ln w="12700">
            <a:solidFill>
              <a:srgbClr val="065A82"/>
            </a:solidFill>
            <a:prstDash val="solid"/>
          </a:ln>
          <a:effectLst>
            <a:outerShdw sx="100000" sy="100000" kx="0" ky="0" algn="bl" rotWithShape="0" blurRad="76200" dist="25400" dir="8100000">
              <a:srgbClr val="000000">
                <a:alpha val="12000"/>
              </a:srgbClr>
            </a:outerShdw>
          </a:effectLst>
        </p:spPr>
      </p:sp>
      <p:sp>
        <p:nvSpPr>
          <p:cNvPr id="24" name="Shape 21"/>
          <p:cNvSpPr/>
          <p:nvPr/>
        </p:nvSpPr>
        <p:spPr>
          <a:xfrm>
            <a:off x="4617720" y="1737360"/>
            <a:ext cx="73152" cy="1234440"/>
          </a:xfrm>
          <a:prstGeom prst="rect">
            <a:avLst/>
          </a:prstGeom>
          <a:solidFill>
            <a:srgbClr val="065A82"/>
          </a:solidFill>
          <a:ln w="12700">
            <a:solidFill>
              <a:srgbClr val="065A82"/>
            </a:solidFill>
            <a:prstDash val="solid"/>
          </a:ln>
        </p:spPr>
      </p:sp>
      <p:pic>
        <p:nvPicPr>
          <p:cNvPr id="25" name="Image 1" descr="preencoded.png">    </p:cNvPr>
          <p:cNvPicPr>
            <a:picLocks noChangeAspect="1"/>
          </p:cNvPicPr>
          <p:nvPr/>
        </p:nvPicPr>
        <p:blipFill>
          <a:blip r:embed="rId2"/>
          <a:stretch>
            <a:fillRect/>
          </a:stretch>
        </p:blipFill>
        <p:spPr>
          <a:xfrm>
            <a:off x="4800600" y="2103120"/>
            <a:ext cx="411480" cy="411480"/>
          </a:xfrm>
          <a:prstGeom prst="rect">
            <a:avLst/>
          </a:prstGeom>
        </p:spPr>
      </p:pic>
      <p:sp>
        <p:nvSpPr>
          <p:cNvPr id="26" name="Text 22"/>
          <p:cNvSpPr/>
          <p:nvPr/>
        </p:nvSpPr>
        <p:spPr>
          <a:xfrm>
            <a:off x="5349240" y="1828800"/>
            <a:ext cx="3337560" cy="347472"/>
          </a:xfrm>
          <a:prstGeom prst="rect">
            <a:avLst/>
          </a:prstGeom>
          <a:noFill/>
          <a:ln/>
        </p:spPr>
        <p:txBody>
          <a:bodyPr wrap="square" lIns="0" tIns="0" rIns="0" bIns="0" rtlCol="0" anchor="ctr"/>
          <a:lstStyle/>
          <a:p>
            <a:pPr indent="0" marL="0">
              <a:buNone/>
            </a:pPr>
            <a:r>
              <a:rPr lang="en-US" sz="1200" b="1" dirty="0">
                <a:solidFill>
                  <a:srgbClr val="065A82"/>
                </a:solidFill>
              </a:rPr>
              <a:t>Rotation Handling</a:t>
            </a:r>
            <a:endParaRPr lang="en-US" sz="1200" dirty="0"/>
          </a:p>
        </p:txBody>
      </p:sp>
      <p:sp>
        <p:nvSpPr>
          <p:cNvPr id="27" name="Text 23"/>
          <p:cNvSpPr/>
          <p:nvPr/>
        </p:nvSpPr>
        <p:spPr>
          <a:xfrm>
            <a:off x="5349240" y="2176272"/>
            <a:ext cx="3337560" cy="713232"/>
          </a:xfrm>
          <a:prstGeom prst="rect">
            <a:avLst/>
          </a:prstGeom>
          <a:noFill/>
          <a:ln/>
        </p:spPr>
        <p:txBody>
          <a:bodyPr wrap="square" lIns="0" tIns="0" rIns="0" bIns="0" rtlCol="0" anchor="ctr"/>
          <a:lstStyle/>
          <a:p>
            <a:pPr indent="0" marL="0">
              <a:buNone/>
            </a:pPr>
            <a:r>
              <a:rPr lang="en-US" sz="1000" dirty="0">
                <a:solidFill>
                  <a:srgbClr val="1E293B"/>
                </a:solidFill>
              </a:rPr>
              <a:t>RandomRotation(360°) saat training + Test-Time Augmentation (4 rotasi) saat inference untuk robustness.</a:t>
            </a:r>
            <a:endParaRPr lang="en-US" sz="1000" dirty="0"/>
          </a:p>
        </p:txBody>
      </p:sp>
      <p:sp>
        <p:nvSpPr>
          <p:cNvPr id="28" name="Shape 24"/>
          <p:cNvSpPr/>
          <p:nvPr/>
        </p:nvSpPr>
        <p:spPr>
          <a:xfrm>
            <a:off x="228600" y="3154680"/>
            <a:ext cx="4160520" cy="1234440"/>
          </a:xfrm>
          <a:prstGeom prst="rect">
            <a:avLst/>
          </a:prstGeom>
          <a:solidFill>
            <a:srgbClr val="F0FDFA"/>
          </a:solidFill>
          <a:ln w="12700">
            <a:solidFill>
              <a:srgbClr val="0D9488"/>
            </a:solidFill>
            <a:prstDash val="solid"/>
          </a:ln>
          <a:effectLst>
            <a:outerShdw sx="100000" sy="100000" kx="0" ky="0" algn="bl" rotWithShape="0" blurRad="76200" dist="25400" dir="8100000">
              <a:srgbClr val="000000">
                <a:alpha val="12000"/>
              </a:srgbClr>
            </a:outerShdw>
          </a:effectLst>
        </p:spPr>
      </p:sp>
      <p:sp>
        <p:nvSpPr>
          <p:cNvPr id="29" name="Shape 25"/>
          <p:cNvSpPr/>
          <p:nvPr/>
        </p:nvSpPr>
        <p:spPr>
          <a:xfrm>
            <a:off x="228600" y="3154680"/>
            <a:ext cx="73152" cy="1234440"/>
          </a:xfrm>
          <a:prstGeom prst="rect">
            <a:avLst/>
          </a:prstGeom>
          <a:solidFill>
            <a:srgbClr val="0D9488"/>
          </a:solidFill>
          <a:ln w="12700">
            <a:solidFill>
              <a:srgbClr val="0D9488"/>
            </a:solidFill>
            <a:prstDash val="solid"/>
          </a:ln>
        </p:spPr>
      </p:sp>
      <p:pic>
        <p:nvPicPr>
          <p:cNvPr id="30" name="Image 2" descr="preencoded.png">    </p:cNvPr>
          <p:cNvPicPr>
            <a:picLocks noChangeAspect="1"/>
          </p:cNvPicPr>
          <p:nvPr/>
        </p:nvPicPr>
        <p:blipFill>
          <a:blip r:embed="rId3"/>
          <a:stretch>
            <a:fillRect/>
          </a:stretch>
        </p:blipFill>
        <p:spPr>
          <a:xfrm>
            <a:off x="411480" y="3520440"/>
            <a:ext cx="411480" cy="411480"/>
          </a:xfrm>
          <a:prstGeom prst="rect">
            <a:avLst/>
          </a:prstGeom>
        </p:spPr>
      </p:pic>
      <p:sp>
        <p:nvSpPr>
          <p:cNvPr id="31" name="Text 26"/>
          <p:cNvSpPr/>
          <p:nvPr/>
        </p:nvSpPr>
        <p:spPr>
          <a:xfrm>
            <a:off x="960120" y="3246120"/>
            <a:ext cx="3337560" cy="347472"/>
          </a:xfrm>
          <a:prstGeom prst="rect">
            <a:avLst/>
          </a:prstGeom>
          <a:noFill/>
          <a:ln/>
        </p:spPr>
        <p:txBody>
          <a:bodyPr wrap="square" lIns="0" tIns="0" rIns="0" bIns="0" rtlCol="0" anchor="ctr"/>
          <a:lstStyle/>
          <a:p>
            <a:pPr indent="0" marL="0">
              <a:buNone/>
            </a:pPr>
            <a:r>
              <a:rPr lang="en-US" sz="1200" b="1" dirty="0">
                <a:solidFill>
                  <a:srgbClr val="0D9488"/>
                </a:solidFill>
              </a:rPr>
              <a:t>B&amp;W Handling</a:t>
            </a:r>
            <a:endParaRPr lang="en-US" sz="1200" dirty="0"/>
          </a:p>
        </p:txBody>
      </p:sp>
      <p:sp>
        <p:nvSpPr>
          <p:cNvPr id="32" name="Text 27"/>
          <p:cNvSpPr/>
          <p:nvPr/>
        </p:nvSpPr>
        <p:spPr>
          <a:xfrm>
            <a:off x="960120" y="3593592"/>
            <a:ext cx="3337560" cy="713232"/>
          </a:xfrm>
          <a:prstGeom prst="rect">
            <a:avLst/>
          </a:prstGeom>
          <a:noFill/>
          <a:ln/>
        </p:spPr>
        <p:txBody>
          <a:bodyPr wrap="square" lIns="0" tIns="0" rIns="0" bIns="0" rtlCol="0" anchor="ctr"/>
          <a:lstStyle/>
          <a:p>
            <a:pPr indent="0" marL="0">
              <a:buNone/>
            </a:pPr>
            <a:r>
              <a:rPr lang="en-US" sz="1000" dirty="0">
                <a:solidFill>
                  <a:srgbClr val="1E293B"/>
                </a:solidFill>
              </a:rPr>
              <a:t>RandomGrayscale augmentation (p=0.3) saat training — model belajar handle grayscale input secara natural.</a:t>
            </a:r>
            <a:endParaRPr lang="en-US" sz="1000" dirty="0"/>
          </a:p>
        </p:txBody>
      </p:sp>
      <p:sp>
        <p:nvSpPr>
          <p:cNvPr id="33" name="Shape 28"/>
          <p:cNvSpPr/>
          <p:nvPr/>
        </p:nvSpPr>
        <p:spPr>
          <a:xfrm>
            <a:off x="4617720" y="3154680"/>
            <a:ext cx="4160520" cy="1234440"/>
          </a:xfrm>
          <a:prstGeom prst="rect">
            <a:avLst/>
          </a:prstGeom>
          <a:solidFill>
            <a:srgbClr val="F0FDFA"/>
          </a:solidFill>
          <a:ln w="12700">
            <a:solidFill>
              <a:srgbClr val="00A896"/>
            </a:solidFill>
            <a:prstDash val="solid"/>
          </a:ln>
          <a:effectLst>
            <a:outerShdw sx="100000" sy="100000" kx="0" ky="0" algn="bl" rotWithShape="0" blurRad="76200" dist="25400" dir="8100000">
              <a:srgbClr val="000000">
                <a:alpha val="12000"/>
              </a:srgbClr>
            </a:outerShdw>
          </a:effectLst>
        </p:spPr>
      </p:sp>
      <p:sp>
        <p:nvSpPr>
          <p:cNvPr id="34" name="Shape 29"/>
          <p:cNvSpPr/>
          <p:nvPr/>
        </p:nvSpPr>
        <p:spPr>
          <a:xfrm>
            <a:off x="4617720" y="3154680"/>
            <a:ext cx="73152" cy="1234440"/>
          </a:xfrm>
          <a:prstGeom prst="rect">
            <a:avLst/>
          </a:prstGeom>
          <a:solidFill>
            <a:srgbClr val="00A896"/>
          </a:solidFill>
          <a:ln w="12700">
            <a:solidFill>
              <a:srgbClr val="00A896"/>
            </a:solidFill>
            <a:prstDash val="solid"/>
          </a:ln>
        </p:spPr>
      </p:sp>
      <p:pic>
        <p:nvPicPr>
          <p:cNvPr id="35" name="Image 3" descr="preencoded.png">    </p:cNvPr>
          <p:cNvPicPr>
            <a:picLocks noChangeAspect="1"/>
          </p:cNvPicPr>
          <p:nvPr/>
        </p:nvPicPr>
        <p:blipFill>
          <a:blip r:embed="rId4"/>
          <a:stretch>
            <a:fillRect/>
          </a:stretch>
        </p:blipFill>
        <p:spPr>
          <a:xfrm>
            <a:off x="4800600" y="3520440"/>
            <a:ext cx="411480" cy="411480"/>
          </a:xfrm>
          <a:prstGeom prst="rect">
            <a:avLst/>
          </a:prstGeom>
        </p:spPr>
      </p:pic>
      <p:sp>
        <p:nvSpPr>
          <p:cNvPr id="36" name="Text 30"/>
          <p:cNvSpPr/>
          <p:nvPr/>
        </p:nvSpPr>
        <p:spPr>
          <a:xfrm>
            <a:off x="5349240" y="3246120"/>
            <a:ext cx="3337560" cy="347472"/>
          </a:xfrm>
          <a:prstGeom prst="rect">
            <a:avLst/>
          </a:prstGeom>
          <a:noFill/>
          <a:ln/>
        </p:spPr>
        <p:txBody>
          <a:bodyPr wrap="square" lIns="0" tIns="0" rIns="0" bIns="0" rtlCol="0" anchor="ctr"/>
          <a:lstStyle/>
          <a:p>
            <a:pPr indent="0" marL="0">
              <a:buNone/>
            </a:pPr>
            <a:r>
              <a:rPr lang="en-US" sz="1200" b="1" dirty="0">
                <a:solidFill>
                  <a:srgbClr val="00A896"/>
                </a:solidFill>
              </a:rPr>
              <a:t>Speed</a:t>
            </a:r>
            <a:endParaRPr lang="en-US" sz="1200" dirty="0"/>
          </a:p>
        </p:txBody>
      </p:sp>
      <p:sp>
        <p:nvSpPr>
          <p:cNvPr id="37" name="Text 31"/>
          <p:cNvSpPr/>
          <p:nvPr/>
        </p:nvSpPr>
        <p:spPr>
          <a:xfrm>
            <a:off x="5349240" y="3593592"/>
            <a:ext cx="3337560" cy="713232"/>
          </a:xfrm>
          <a:prstGeom prst="rect">
            <a:avLst/>
          </a:prstGeom>
          <a:noFill/>
          <a:ln/>
        </p:spPr>
        <p:txBody>
          <a:bodyPr wrap="square" lIns="0" tIns="0" rIns="0" bIns="0" rtlCol="0" anchor="ctr"/>
          <a:lstStyle/>
          <a:p>
            <a:pPr indent="0" marL="0">
              <a:buNone/>
            </a:pPr>
            <a:r>
              <a:rPr lang="en-US" sz="1000" dirty="0">
                <a:solidFill>
                  <a:srgbClr val="1E293B"/>
                </a:solidFill>
              </a:rPr>
              <a:t>&lt;100ms per image di CPU. Bahkan dengan TTA (4x) masih &lt;400ms — well within 10s constraint.</a:t>
            </a:r>
            <a:endParaRPr lang="en-US" sz="1000" dirty="0"/>
          </a:p>
        </p:txBody>
      </p:sp>
      <p:sp>
        <p:nvSpPr>
          <p:cNvPr id="38" name="Shape 32"/>
          <p:cNvSpPr/>
          <p:nvPr/>
        </p:nvSpPr>
        <p:spPr>
          <a:xfrm>
            <a:off x="228600" y="4572000"/>
            <a:ext cx="8686800" cy="411480"/>
          </a:xfrm>
          <a:prstGeom prst="rect">
            <a:avLst/>
          </a:prstGeom>
          <a:solidFill>
            <a:srgbClr val="CCF0EE"/>
          </a:solidFill>
          <a:ln w="12700">
            <a:solidFill>
              <a:srgbClr val="5DBBAA"/>
            </a:solidFill>
            <a:prstDash val="solid"/>
          </a:ln>
        </p:spPr>
      </p:sp>
      <p:sp>
        <p:nvSpPr>
          <p:cNvPr id="39" name="Text 33"/>
          <p:cNvSpPr/>
          <p:nvPr/>
        </p:nvSpPr>
        <p:spPr>
          <a:xfrm>
            <a:off x="274320" y="4572000"/>
            <a:ext cx="8595360" cy="411480"/>
          </a:xfrm>
          <a:prstGeom prst="rect">
            <a:avLst/>
          </a:prstGeom>
          <a:noFill/>
          <a:ln/>
        </p:spPr>
        <p:txBody>
          <a:bodyPr wrap="square" lIns="0" tIns="0" rIns="0" bIns="0" rtlCol="0" anchor="ctr"/>
          <a:lstStyle/>
          <a:p>
            <a:pPr algn="ctr" indent="0" marL="0">
              <a:buNone/>
            </a:pPr>
            <a:r>
              <a:rPr lang="en-US" sz="1050" b="1" dirty="0">
                <a:solidFill>
                  <a:srgbClr val="0D9488"/>
                </a:solidFill>
              </a:rPr>
              <a:t>Model size: ~14MB   |   Trainable params: ~50K   |   Training: 30 min – 2 jam (CPU)</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228600" cy="548640"/>
          </a:xfrm>
          <a:prstGeom prst="rect">
            <a:avLst/>
          </a:prstGeom>
          <a:solidFill>
            <a:srgbClr val="D97706"/>
          </a:solidFill>
          <a:ln w="12700">
            <a:solidFill>
              <a:srgbClr val="D97706"/>
            </a:solidFill>
            <a:prstDash val="solid"/>
          </a:ln>
        </p:spPr>
      </p:sp>
      <p:sp>
        <p:nvSpPr>
          <p:cNvPr id="3" name="Text 1"/>
          <p:cNvSpPr/>
          <p:nvPr/>
        </p:nvSpPr>
        <p:spPr>
          <a:xfrm>
            <a:off x="594360" y="137160"/>
            <a:ext cx="8229600" cy="548640"/>
          </a:xfrm>
          <a:prstGeom prst="rect">
            <a:avLst/>
          </a:prstGeom>
          <a:noFill/>
          <a:ln/>
        </p:spPr>
        <p:txBody>
          <a:bodyPr wrap="square" lIns="0" tIns="0" rIns="0" bIns="0" rtlCol="0" anchor="ctr"/>
          <a:lstStyle/>
          <a:p>
            <a:pPr indent="0" marL="0">
              <a:buNone/>
            </a:pPr>
            <a:r>
              <a:rPr lang="en-US" sz="2200" b="1" dirty="0">
                <a:solidFill>
                  <a:srgbClr val="065A82"/>
                </a:solidFill>
                <a:latin typeface="Trebuchet MS" pitchFamily="34" charset="0"/>
                <a:ea typeface="Trebuchet MS" pitchFamily="34" charset="-122"/>
                <a:cs typeface="Trebuchet MS" pitchFamily="34" charset="-120"/>
              </a:rPr>
              <a:t>Approach 2: Classical ML (Feature Engineering + XGBoost)</a:t>
            </a:r>
            <a:endParaRPr lang="en-US" sz="2200" dirty="0"/>
          </a:p>
        </p:txBody>
      </p:sp>
      <p:sp>
        <p:nvSpPr>
          <p:cNvPr id="4" name="Shape 2"/>
          <p:cNvSpPr/>
          <p:nvPr/>
        </p:nvSpPr>
        <p:spPr>
          <a:xfrm>
            <a:off x="182880" y="822960"/>
            <a:ext cx="1600200" cy="731520"/>
          </a:xfrm>
          <a:prstGeom prst="rect">
            <a:avLst/>
          </a:prstGeom>
          <a:solidFill>
            <a:srgbClr val="1C7293"/>
          </a:solidFill>
          <a:ln w="12700">
            <a:solidFill>
              <a:srgbClr val="1C7293"/>
            </a:solidFill>
            <a:prstDash val="solid"/>
          </a:ln>
          <a:effectLst>
            <a:outerShdw sx="100000" sy="100000" kx="0" ky="0" algn="bl" rotWithShape="0" blurRad="76200" dist="25400" dir="8100000">
              <a:srgbClr val="000000">
                <a:alpha val="12000"/>
              </a:srgbClr>
            </a:outerShdw>
          </a:effectLst>
        </p:spPr>
      </p:sp>
      <p:sp>
        <p:nvSpPr>
          <p:cNvPr id="5" name="Text 3"/>
          <p:cNvSpPr/>
          <p:nvPr/>
        </p:nvSpPr>
        <p:spPr>
          <a:xfrm>
            <a:off x="182880" y="822960"/>
            <a:ext cx="1600200" cy="731520"/>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Input</a:t>
            </a:r>
            <a:endParaRPr lang="en-US" sz="1000" dirty="0"/>
          </a:p>
          <a:p>
            <a:pPr algn="ctr" indent="0" marL="0">
              <a:buNone/>
            </a:pPr>
            <a:r>
              <a:rPr lang="en-US" sz="1000" b="1" dirty="0">
                <a:solidFill>
                  <a:srgbClr val="FFFFFF"/>
                </a:solidFill>
              </a:rPr>
              <a:t>Image</a:t>
            </a:r>
            <a:endParaRPr lang="en-US" sz="1000" dirty="0"/>
          </a:p>
        </p:txBody>
      </p:sp>
      <p:sp>
        <p:nvSpPr>
          <p:cNvPr id="6" name="Text 4"/>
          <p:cNvSpPr/>
          <p:nvPr/>
        </p:nvSpPr>
        <p:spPr>
          <a:xfrm>
            <a:off x="1764792" y="960120"/>
            <a:ext cx="228600" cy="457200"/>
          </a:xfrm>
          <a:prstGeom prst="rect">
            <a:avLst/>
          </a:prstGeom>
          <a:noFill/>
          <a:ln/>
        </p:spPr>
        <p:txBody>
          <a:bodyPr wrap="square" lIns="0" tIns="0" rIns="0" bIns="0" rtlCol="0" anchor="ctr"/>
          <a:lstStyle/>
          <a:p>
            <a:pPr algn="ctr" indent="0" marL="0">
              <a:buNone/>
            </a:pPr>
            <a:r>
              <a:rPr lang="en-US" sz="1400" dirty="0">
                <a:solidFill>
                  <a:srgbClr val="64748B"/>
                </a:solidFill>
              </a:rPr>
              <a:t>→</a:t>
            </a:r>
            <a:endParaRPr lang="en-US" sz="1400" dirty="0"/>
          </a:p>
        </p:txBody>
      </p:sp>
      <p:sp>
        <p:nvSpPr>
          <p:cNvPr id="7" name="Shape 5"/>
          <p:cNvSpPr/>
          <p:nvPr/>
        </p:nvSpPr>
        <p:spPr>
          <a:xfrm>
            <a:off x="1956816" y="822960"/>
            <a:ext cx="1600200" cy="731520"/>
          </a:xfrm>
          <a:prstGeom prst="rect">
            <a:avLst/>
          </a:prstGeom>
          <a:solidFill>
            <a:srgbClr val="D97706"/>
          </a:solidFill>
          <a:ln w="12700">
            <a:solidFill>
              <a:srgbClr val="D97706"/>
            </a:solidFill>
            <a:prstDash val="solid"/>
          </a:ln>
          <a:effectLst>
            <a:outerShdw sx="100000" sy="100000" kx="0" ky="0" algn="bl" rotWithShape="0" blurRad="76200" dist="25400" dir="8100000">
              <a:srgbClr val="000000">
                <a:alpha val="12000"/>
              </a:srgbClr>
            </a:outerShdw>
          </a:effectLst>
        </p:spPr>
      </p:sp>
      <p:sp>
        <p:nvSpPr>
          <p:cNvPr id="8" name="Text 6"/>
          <p:cNvSpPr/>
          <p:nvPr/>
        </p:nvSpPr>
        <p:spPr>
          <a:xfrm>
            <a:off x="1956816" y="822960"/>
            <a:ext cx="1600200" cy="731520"/>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Feature</a:t>
            </a:r>
            <a:endParaRPr lang="en-US" sz="1000" dirty="0"/>
          </a:p>
          <a:p>
            <a:pPr algn="ctr" indent="0" marL="0">
              <a:buNone/>
            </a:pPr>
            <a:r>
              <a:rPr lang="en-US" sz="1000" b="1" dirty="0">
                <a:solidFill>
                  <a:srgbClr val="FFFFFF"/>
                </a:solidFill>
              </a:rPr>
              <a:t>Extraction</a:t>
            </a:r>
            <a:endParaRPr lang="en-US" sz="1000" dirty="0"/>
          </a:p>
        </p:txBody>
      </p:sp>
      <p:sp>
        <p:nvSpPr>
          <p:cNvPr id="9" name="Text 7"/>
          <p:cNvSpPr/>
          <p:nvPr/>
        </p:nvSpPr>
        <p:spPr>
          <a:xfrm>
            <a:off x="3538728" y="960120"/>
            <a:ext cx="228600" cy="457200"/>
          </a:xfrm>
          <a:prstGeom prst="rect">
            <a:avLst/>
          </a:prstGeom>
          <a:noFill/>
          <a:ln/>
        </p:spPr>
        <p:txBody>
          <a:bodyPr wrap="square" lIns="0" tIns="0" rIns="0" bIns="0" rtlCol="0" anchor="ctr"/>
          <a:lstStyle/>
          <a:p>
            <a:pPr algn="ctr" indent="0" marL="0">
              <a:buNone/>
            </a:pPr>
            <a:r>
              <a:rPr lang="en-US" sz="1400" dirty="0">
                <a:solidFill>
                  <a:srgbClr val="64748B"/>
                </a:solidFill>
              </a:rPr>
              <a:t>→</a:t>
            </a:r>
            <a:endParaRPr lang="en-US" sz="1400" dirty="0"/>
          </a:p>
        </p:txBody>
      </p:sp>
      <p:sp>
        <p:nvSpPr>
          <p:cNvPr id="10" name="Shape 8"/>
          <p:cNvSpPr/>
          <p:nvPr/>
        </p:nvSpPr>
        <p:spPr>
          <a:xfrm>
            <a:off x="3730752" y="822960"/>
            <a:ext cx="1600200" cy="731520"/>
          </a:xfrm>
          <a:prstGeom prst="rect">
            <a:avLst/>
          </a:prstGeom>
          <a:solidFill>
            <a:srgbClr val="065A82"/>
          </a:solidFill>
          <a:ln w="12700">
            <a:solidFill>
              <a:srgbClr val="065A82"/>
            </a:solidFill>
            <a:prstDash val="solid"/>
          </a:ln>
          <a:effectLst>
            <a:outerShdw sx="100000" sy="100000" kx="0" ky="0" algn="bl" rotWithShape="0" blurRad="76200" dist="25400" dir="8100000">
              <a:srgbClr val="000000">
                <a:alpha val="12000"/>
              </a:srgbClr>
            </a:outerShdw>
          </a:effectLst>
        </p:spPr>
      </p:sp>
      <p:sp>
        <p:nvSpPr>
          <p:cNvPr id="11" name="Text 9"/>
          <p:cNvSpPr/>
          <p:nvPr/>
        </p:nvSpPr>
        <p:spPr>
          <a:xfrm>
            <a:off x="3730752" y="822960"/>
            <a:ext cx="1600200" cy="731520"/>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Feature Vector</a:t>
            </a:r>
            <a:endParaRPr lang="en-US" sz="1000" dirty="0"/>
          </a:p>
          <a:p>
            <a:pPr algn="ctr" indent="0" marL="0">
              <a:buNone/>
            </a:pPr>
            <a:r>
              <a:rPr lang="en-US" sz="1000" b="1" dirty="0">
                <a:solidFill>
                  <a:srgbClr val="FFFFFF"/>
                </a:solidFill>
              </a:rPr>
              <a:t>(~66 dims)</a:t>
            </a:r>
            <a:endParaRPr lang="en-US" sz="1000" dirty="0"/>
          </a:p>
        </p:txBody>
      </p:sp>
      <p:sp>
        <p:nvSpPr>
          <p:cNvPr id="12" name="Text 10"/>
          <p:cNvSpPr/>
          <p:nvPr/>
        </p:nvSpPr>
        <p:spPr>
          <a:xfrm>
            <a:off x="5312664" y="960120"/>
            <a:ext cx="228600" cy="457200"/>
          </a:xfrm>
          <a:prstGeom prst="rect">
            <a:avLst/>
          </a:prstGeom>
          <a:noFill/>
          <a:ln/>
        </p:spPr>
        <p:txBody>
          <a:bodyPr wrap="square" lIns="0" tIns="0" rIns="0" bIns="0" rtlCol="0" anchor="ctr"/>
          <a:lstStyle/>
          <a:p>
            <a:pPr algn="ctr" indent="0" marL="0">
              <a:buNone/>
            </a:pPr>
            <a:r>
              <a:rPr lang="en-US" sz="1400" dirty="0">
                <a:solidFill>
                  <a:srgbClr val="64748B"/>
                </a:solidFill>
              </a:rPr>
              <a:t>→</a:t>
            </a:r>
            <a:endParaRPr lang="en-US" sz="1400" dirty="0"/>
          </a:p>
        </p:txBody>
      </p:sp>
      <p:sp>
        <p:nvSpPr>
          <p:cNvPr id="13" name="Shape 11"/>
          <p:cNvSpPr/>
          <p:nvPr/>
        </p:nvSpPr>
        <p:spPr>
          <a:xfrm>
            <a:off x="5504688" y="822960"/>
            <a:ext cx="1600200" cy="731520"/>
          </a:xfrm>
          <a:prstGeom prst="rect">
            <a:avLst/>
          </a:prstGeom>
          <a:solidFill>
            <a:srgbClr val="D97706"/>
          </a:solidFill>
          <a:ln w="12700">
            <a:solidFill>
              <a:srgbClr val="D97706"/>
            </a:solidFill>
            <a:prstDash val="solid"/>
          </a:ln>
          <a:effectLst>
            <a:outerShdw sx="100000" sy="100000" kx="0" ky="0" algn="bl" rotWithShape="0" blurRad="76200" dist="25400" dir="8100000">
              <a:srgbClr val="000000">
                <a:alpha val="12000"/>
              </a:srgbClr>
            </a:outerShdw>
          </a:effectLst>
        </p:spPr>
      </p:sp>
      <p:sp>
        <p:nvSpPr>
          <p:cNvPr id="14" name="Text 12"/>
          <p:cNvSpPr/>
          <p:nvPr/>
        </p:nvSpPr>
        <p:spPr>
          <a:xfrm>
            <a:off x="5504688" y="822960"/>
            <a:ext cx="1600200" cy="731520"/>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XGBoost</a:t>
            </a:r>
            <a:endParaRPr lang="en-US" sz="1000" dirty="0"/>
          </a:p>
          <a:p>
            <a:pPr algn="ctr" indent="0" marL="0">
              <a:buNone/>
            </a:pPr>
            <a:r>
              <a:rPr lang="en-US" sz="1000" b="1" dirty="0">
                <a:solidFill>
                  <a:srgbClr val="FFFFFF"/>
                </a:solidFill>
              </a:rPr>
              <a:t>Classifier</a:t>
            </a:r>
            <a:endParaRPr lang="en-US" sz="1000" dirty="0"/>
          </a:p>
        </p:txBody>
      </p:sp>
      <p:sp>
        <p:nvSpPr>
          <p:cNvPr id="15" name="Text 13"/>
          <p:cNvSpPr/>
          <p:nvPr/>
        </p:nvSpPr>
        <p:spPr>
          <a:xfrm>
            <a:off x="7086600" y="960120"/>
            <a:ext cx="228600" cy="457200"/>
          </a:xfrm>
          <a:prstGeom prst="rect">
            <a:avLst/>
          </a:prstGeom>
          <a:noFill/>
          <a:ln/>
        </p:spPr>
        <p:txBody>
          <a:bodyPr wrap="square" lIns="0" tIns="0" rIns="0" bIns="0" rtlCol="0" anchor="ctr"/>
          <a:lstStyle/>
          <a:p>
            <a:pPr algn="ctr" indent="0" marL="0">
              <a:buNone/>
            </a:pPr>
            <a:r>
              <a:rPr lang="en-US" sz="1400" dirty="0">
                <a:solidFill>
                  <a:srgbClr val="64748B"/>
                </a:solidFill>
              </a:rPr>
              <a:t>→</a:t>
            </a:r>
            <a:endParaRPr lang="en-US" sz="1400" dirty="0"/>
          </a:p>
        </p:txBody>
      </p:sp>
      <p:sp>
        <p:nvSpPr>
          <p:cNvPr id="16" name="Shape 14"/>
          <p:cNvSpPr/>
          <p:nvPr/>
        </p:nvSpPr>
        <p:spPr>
          <a:xfrm>
            <a:off x="7278624" y="822960"/>
            <a:ext cx="1600200" cy="731520"/>
          </a:xfrm>
          <a:prstGeom prst="rect">
            <a:avLst/>
          </a:prstGeom>
          <a:solidFill>
            <a:srgbClr val="059669"/>
          </a:solidFill>
          <a:ln w="12700">
            <a:solidFill>
              <a:srgbClr val="059669"/>
            </a:solidFill>
            <a:prstDash val="solid"/>
          </a:ln>
          <a:effectLst>
            <a:outerShdw sx="100000" sy="100000" kx="0" ky="0" algn="bl" rotWithShape="0" blurRad="76200" dist="25400" dir="8100000">
              <a:srgbClr val="000000">
                <a:alpha val="12000"/>
              </a:srgbClr>
            </a:outerShdw>
          </a:effectLst>
        </p:spPr>
      </p:sp>
      <p:sp>
        <p:nvSpPr>
          <p:cNvPr id="17" name="Text 15"/>
          <p:cNvSpPr/>
          <p:nvPr/>
        </p:nvSpPr>
        <p:spPr>
          <a:xfrm>
            <a:off x="7278624" y="822960"/>
            <a:ext cx="1600200" cy="731520"/>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HAS_CARD /</a:t>
            </a:r>
            <a:endParaRPr lang="en-US" sz="1000" dirty="0"/>
          </a:p>
          <a:p>
            <a:pPr algn="ctr" indent="0" marL="0">
              <a:buNone/>
            </a:pPr>
            <a:r>
              <a:rPr lang="en-US" sz="1000" b="1" dirty="0">
                <a:solidFill>
                  <a:srgbClr val="FFFFFF"/>
                </a:solidFill>
              </a:rPr>
              <a:t>NO_CARD</a:t>
            </a:r>
            <a:endParaRPr lang="en-US" sz="1000" dirty="0"/>
          </a:p>
        </p:txBody>
      </p:sp>
      <p:sp>
        <p:nvSpPr>
          <p:cNvPr id="18" name="Shape 16"/>
          <p:cNvSpPr/>
          <p:nvPr/>
        </p:nvSpPr>
        <p:spPr>
          <a:xfrm>
            <a:off x="228600" y="1737360"/>
            <a:ext cx="2743200" cy="1097280"/>
          </a:xfrm>
          <a:prstGeom prst="rect">
            <a:avLst/>
          </a:prstGeom>
          <a:solidFill>
            <a:srgbClr val="FAFAFA"/>
          </a:solidFill>
          <a:ln w="12700">
            <a:solidFill>
              <a:srgbClr val="D97706"/>
            </a:solidFill>
            <a:prstDash val="solid"/>
          </a:ln>
          <a:effectLst>
            <a:outerShdw sx="100000" sy="100000" kx="0" ky="0" algn="bl" rotWithShape="0" blurRad="76200" dist="25400" dir="8100000">
              <a:srgbClr val="000000">
                <a:alpha val="12000"/>
              </a:srgbClr>
            </a:outerShdw>
          </a:effectLst>
        </p:spPr>
      </p:sp>
      <p:sp>
        <p:nvSpPr>
          <p:cNvPr id="19" name="Shape 17"/>
          <p:cNvSpPr/>
          <p:nvPr/>
        </p:nvSpPr>
        <p:spPr>
          <a:xfrm>
            <a:off x="228600" y="1737360"/>
            <a:ext cx="73152" cy="1097280"/>
          </a:xfrm>
          <a:prstGeom prst="rect">
            <a:avLst/>
          </a:prstGeom>
          <a:solidFill>
            <a:srgbClr val="D97706"/>
          </a:solidFill>
          <a:ln w="12700">
            <a:solidFill>
              <a:srgbClr val="D97706"/>
            </a:solidFill>
            <a:prstDash val="solid"/>
          </a:ln>
        </p:spPr>
      </p:sp>
      <p:sp>
        <p:nvSpPr>
          <p:cNvPr id="20" name="Text 18"/>
          <p:cNvSpPr/>
          <p:nvPr/>
        </p:nvSpPr>
        <p:spPr>
          <a:xfrm>
            <a:off x="411480" y="1828800"/>
            <a:ext cx="2468880" cy="347472"/>
          </a:xfrm>
          <a:prstGeom prst="rect">
            <a:avLst/>
          </a:prstGeom>
          <a:noFill/>
          <a:ln/>
        </p:spPr>
        <p:txBody>
          <a:bodyPr wrap="square" lIns="0" tIns="0" rIns="0" bIns="0" rtlCol="0" anchor="ctr"/>
          <a:lstStyle/>
          <a:p>
            <a:pPr indent="0" marL="0">
              <a:buNone/>
            </a:pPr>
            <a:r>
              <a:rPr lang="en-US" sz="1150" b="1" dirty="0">
                <a:solidFill>
                  <a:srgbClr val="D97706"/>
                </a:solidFill>
              </a:rPr>
              <a:t>LBP Texture</a:t>
            </a:r>
            <a:endParaRPr lang="en-US" sz="1150" dirty="0"/>
          </a:p>
        </p:txBody>
      </p:sp>
      <p:sp>
        <p:nvSpPr>
          <p:cNvPr id="21" name="Text 19"/>
          <p:cNvSpPr/>
          <p:nvPr/>
        </p:nvSpPr>
        <p:spPr>
          <a:xfrm>
            <a:off x="411480" y="2176272"/>
            <a:ext cx="2468880" cy="594360"/>
          </a:xfrm>
          <a:prstGeom prst="rect">
            <a:avLst/>
          </a:prstGeom>
          <a:noFill/>
          <a:ln/>
        </p:spPr>
        <p:txBody>
          <a:bodyPr wrap="square" lIns="0" tIns="0" rIns="0" bIns="0" rtlCol="0" anchor="ctr"/>
          <a:lstStyle/>
          <a:p>
            <a:pPr indent="0" marL="0">
              <a:buNone/>
            </a:pPr>
            <a:r>
              <a:rPr lang="en-US" sz="950" dirty="0">
                <a:solidFill>
                  <a:srgbClr val="1E293B"/>
                </a:solidFill>
              </a:rPr>
              <a:t>Local Binary Pattern, rotation-invariant by design (~30 features)</a:t>
            </a:r>
            <a:endParaRPr lang="en-US" sz="950" dirty="0"/>
          </a:p>
        </p:txBody>
      </p:sp>
      <p:sp>
        <p:nvSpPr>
          <p:cNvPr id="22" name="Shape 20"/>
          <p:cNvSpPr/>
          <p:nvPr/>
        </p:nvSpPr>
        <p:spPr>
          <a:xfrm>
            <a:off x="3154680" y="1737360"/>
            <a:ext cx="2743200" cy="1097280"/>
          </a:xfrm>
          <a:prstGeom prst="rect">
            <a:avLst/>
          </a:prstGeom>
          <a:solidFill>
            <a:srgbClr val="FAFAFA"/>
          </a:solidFill>
          <a:ln w="12700">
            <a:solidFill>
              <a:srgbClr val="065A82"/>
            </a:solidFill>
            <a:prstDash val="solid"/>
          </a:ln>
          <a:effectLst>
            <a:outerShdw sx="100000" sy="100000" kx="0" ky="0" algn="bl" rotWithShape="0" blurRad="76200" dist="25400" dir="8100000">
              <a:srgbClr val="000000">
                <a:alpha val="12000"/>
              </a:srgbClr>
            </a:outerShdw>
          </a:effectLst>
        </p:spPr>
      </p:sp>
      <p:sp>
        <p:nvSpPr>
          <p:cNvPr id="23" name="Shape 21"/>
          <p:cNvSpPr/>
          <p:nvPr/>
        </p:nvSpPr>
        <p:spPr>
          <a:xfrm>
            <a:off x="3154680" y="1737360"/>
            <a:ext cx="73152" cy="1097280"/>
          </a:xfrm>
          <a:prstGeom prst="rect">
            <a:avLst/>
          </a:prstGeom>
          <a:solidFill>
            <a:srgbClr val="065A82"/>
          </a:solidFill>
          <a:ln w="12700">
            <a:solidFill>
              <a:srgbClr val="065A82"/>
            </a:solidFill>
            <a:prstDash val="solid"/>
          </a:ln>
        </p:spPr>
      </p:sp>
      <p:sp>
        <p:nvSpPr>
          <p:cNvPr id="24" name="Text 22"/>
          <p:cNvSpPr/>
          <p:nvPr/>
        </p:nvSpPr>
        <p:spPr>
          <a:xfrm>
            <a:off x="3337560" y="1828800"/>
            <a:ext cx="2468880" cy="347472"/>
          </a:xfrm>
          <a:prstGeom prst="rect">
            <a:avLst/>
          </a:prstGeom>
          <a:noFill/>
          <a:ln/>
        </p:spPr>
        <p:txBody>
          <a:bodyPr wrap="square" lIns="0" tIns="0" rIns="0" bIns="0" rtlCol="0" anchor="ctr"/>
          <a:lstStyle/>
          <a:p>
            <a:pPr indent="0" marL="0">
              <a:buNone/>
            </a:pPr>
            <a:r>
              <a:rPr lang="en-US" sz="1150" b="1" dirty="0">
                <a:solidFill>
                  <a:srgbClr val="065A82"/>
                </a:solidFill>
              </a:rPr>
              <a:t>Edge Features</a:t>
            </a:r>
            <a:endParaRPr lang="en-US" sz="1150" dirty="0"/>
          </a:p>
        </p:txBody>
      </p:sp>
      <p:sp>
        <p:nvSpPr>
          <p:cNvPr id="25" name="Text 23"/>
          <p:cNvSpPr/>
          <p:nvPr/>
        </p:nvSpPr>
        <p:spPr>
          <a:xfrm>
            <a:off x="3337560" y="2176272"/>
            <a:ext cx="2468880" cy="594360"/>
          </a:xfrm>
          <a:prstGeom prst="rect">
            <a:avLst/>
          </a:prstGeom>
          <a:noFill/>
          <a:ln/>
        </p:spPr>
        <p:txBody>
          <a:bodyPr wrap="square" lIns="0" tIns="0" rIns="0" bIns="0" rtlCol="0" anchor="ctr"/>
          <a:lstStyle/>
          <a:p>
            <a:pPr indent="0" marL="0">
              <a:buNone/>
            </a:pPr>
            <a:r>
              <a:rPr lang="en-US" sz="950" dirty="0">
                <a:solidFill>
                  <a:srgbClr val="1E293B"/>
                </a:solidFill>
              </a:rPr>
              <a:t>Canny edge density, line detection via Hough transform (~5 features)</a:t>
            </a:r>
            <a:endParaRPr lang="en-US" sz="950" dirty="0"/>
          </a:p>
        </p:txBody>
      </p:sp>
      <p:sp>
        <p:nvSpPr>
          <p:cNvPr id="26" name="Shape 24"/>
          <p:cNvSpPr/>
          <p:nvPr/>
        </p:nvSpPr>
        <p:spPr>
          <a:xfrm>
            <a:off x="6080760" y="1737360"/>
            <a:ext cx="2743200" cy="1097280"/>
          </a:xfrm>
          <a:prstGeom prst="rect">
            <a:avLst/>
          </a:prstGeom>
          <a:solidFill>
            <a:srgbClr val="FAFAFA"/>
          </a:solidFill>
          <a:ln w="12700">
            <a:solidFill>
              <a:srgbClr val="0D9488"/>
            </a:solidFill>
            <a:prstDash val="solid"/>
          </a:ln>
          <a:effectLst>
            <a:outerShdw sx="100000" sy="100000" kx="0" ky="0" algn="bl" rotWithShape="0" blurRad="76200" dist="25400" dir="8100000">
              <a:srgbClr val="000000">
                <a:alpha val="12000"/>
              </a:srgbClr>
            </a:outerShdw>
          </a:effectLst>
        </p:spPr>
      </p:sp>
      <p:sp>
        <p:nvSpPr>
          <p:cNvPr id="27" name="Shape 25"/>
          <p:cNvSpPr/>
          <p:nvPr/>
        </p:nvSpPr>
        <p:spPr>
          <a:xfrm>
            <a:off x="6080760" y="1737360"/>
            <a:ext cx="73152" cy="1097280"/>
          </a:xfrm>
          <a:prstGeom prst="rect">
            <a:avLst/>
          </a:prstGeom>
          <a:solidFill>
            <a:srgbClr val="0D9488"/>
          </a:solidFill>
          <a:ln w="12700">
            <a:solidFill>
              <a:srgbClr val="0D9488"/>
            </a:solidFill>
            <a:prstDash val="solid"/>
          </a:ln>
        </p:spPr>
      </p:sp>
      <p:sp>
        <p:nvSpPr>
          <p:cNvPr id="28" name="Text 26"/>
          <p:cNvSpPr/>
          <p:nvPr/>
        </p:nvSpPr>
        <p:spPr>
          <a:xfrm>
            <a:off x="6263640" y="1828800"/>
            <a:ext cx="2468880" cy="347472"/>
          </a:xfrm>
          <a:prstGeom prst="rect">
            <a:avLst/>
          </a:prstGeom>
          <a:noFill/>
          <a:ln/>
        </p:spPr>
        <p:txBody>
          <a:bodyPr wrap="square" lIns="0" tIns="0" rIns="0" bIns="0" rtlCol="0" anchor="ctr"/>
          <a:lstStyle/>
          <a:p>
            <a:pPr indent="0" marL="0">
              <a:buNone/>
            </a:pPr>
            <a:r>
              <a:rPr lang="en-US" sz="1150" b="1" dirty="0">
                <a:solidFill>
                  <a:srgbClr val="0D9488"/>
                </a:solidFill>
              </a:rPr>
              <a:t>Frequency Features</a:t>
            </a:r>
            <a:endParaRPr lang="en-US" sz="1150" dirty="0"/>
          </a:p>
        </p:txBody>
      </p:sp>
      <p:sp>
        <p:nvSpPr>
          <p:cNvPr id="29" name="Text 27"/>
          <p:cNvSpPr/>
          <p:nvPr/>
        </p:nvSpPr>
        <p:spPr>
          <a:xfrm>
            <a:off x="6263640" y="2176272"/>
            <a:ext cx="2468880" cy="594360"/>
          </a:xfrm>
          <a:prstGeom prst="rect">
            <a:avLst/>
          </a:prstGeom>
          <a:noFill/>
          <a:ln/>
        </p:spPr>
        <p:txBody>
          <a:bodyPr wrap="square" lIns="0" tIns="0" rIns="0" bIns="0" rtlCol="0" anchor="ctr"/>
          <a:lstStyle/>
          <a:p>
            <a:pPr indent="0" marL="0">
              <a:buNone/>
            </a:pPr>
            <a:r>
              <a:rPr lang="en-US" sz="950" dirty="0">
                <a:solidFill>
                  <a:srgbClr val="1E293B"/>
                </a:solidFill>
              </a:rPr>
              <a:t>DCT energy distribution, spectral entropy (~5 features)</a:t>
            </a:r>
            <a:endParaRPr lang="en-US" sz="950" dirty="0"/>
          </a:p>
        </p:txBody>
      </p:sp>
      <p:sp>
        <p:nvSpPr>
          <p:cNvPr id="30" name="Shape 28"/>
          <p:cNvSpPr/>
          <p:nvPr/>
        </p:nvSpPr>
        <p:spPr>
          <a:xfrm>
            <a:off x="228600" y="3017520"/>
            <a:ext cx="2743200" cy="1097280"/>
          </a:xfrm>
          <a:prstGeom prst="rect">
            <a:avLst/>
          </a:prstGeom>
          <a:solidFill>
            <a:srgbClr val="FAFAFA"/>
          </a:solidFill>
          <a:ln w="12700">
            <a:solidFill>
              <a:srgbClr val="7C3AED"/>
            </a:solidFill>
            <a:prstDash val="solid"/>
          </a:ln>
          <a:effectLst>
            <a:outerShdw sx="100000" sy="100000" kx="0" ky="0" algn="bl" rotWithShape="0" blurRad="76200" dist="25400" dir="8100000">
              <a:srgbClr val="000000">
                <a:alpha val="12000"/>
              </a:srgbClr>
            </a:outerShdw>
          </a:effectLst>
        </p:spPr>
      </p:sp>
      <p:sp>
        <p:nvSpPr>
          <p:cNvPr id="31" name="Shape 29"/>
          <p:cNvSpPr/>
          <p:nvPr/>
        </p:nvSpPr>
        <p:spPr>
          <a:xfrm>
            <a:off x="228600" y="3017520"/>
            <a:ext cx="73152" cy="1097280"/>
          </a:xfrm>
          <a:prstGeom prst="rect">
            <a:avLst/>
          </a:prstGeom>
          <a:solidFill>
            <a:srgbClr val="7C3AED"/>
          </a:solidFill>
          <a:ln w="12700">
            <a:solidFill>
              <a:srgbClr val="7C3AED"/>
            </a:solidFill>
            <a:prstDash val="solid"/>
          </a:ln>
        </p:spPr>
      </p:sp>
      <p:sp>
        <p:nvSpPr>
          <p:cNvPr id="32" name="Text 30"/>
          <p:cNvSpPr/>
          <p:nvPr/>
        </p:nvSpPr>
        <p:spPr>
          <a:xfrm>
            <a:off x="411480" y="3108960"/>
            <a:ext cx="2468880" cy="347472"/>
          </a:xfrm>
          <a:prstGeom prst="rect">
            <a:avLst/>
          </a:prstGeom>
          <a:noFill/>
          <a:ln/>
        </p:spPr>
        <p:txBody>
          <a:bodyPr wrap="square" lIns="0" tIns="0" rIns="0" bIns="0" rtlCol="0" anchor="ctr"/>
          <a:lstStyle/>
          <a:p>
            <a:pPr indent="0" marL="0">
              <a:buNone/>
            </a:pPr>
            <a:r>
              <a:rPr lang="en-US" sz="1150" b="1" dirty="0">
                <a:solidFill>
                  <a:srgbClr val="7C3AED"/>
                </a:solidFill>
              </a:rPr>
              <a:t>GLCM Texture</a:t>
            </a:r>
            <a:endParaRPr lang="en-US" sz="1150" dirty="0"/>
          </a:p>
        </p:txBody>
      </p:sp>
      <p:sp>
        <p:nvSpPr>
          <p:cNvPr id="33" name="Text 31"/>
          <p:cNvSpPr/>
          <p:nvPr/>
        </p:nvSpPr>
        <p:spPr>
          <a:xfrm>
            <a:off x="411480" y="3456432"/>
            <a:ext cx="2468880" cy="594360"/>
          </a:xfrm>
          <a:prstGeom prst="rect">
            <a:avLst/>
          </a:prstGeom>
          <a:noFill/>
          <a:ln/>
        </p:spPr>
        <p:txBody>
          <a:bodyPr wrap="square" lIns="0" tIns="0" rIns="0" bIns="0" rtlCol="0" anchor="ctr"/>
          <a:lstStyle/>
          <a:p>
            <a:pPr indent="0" marL="0">
              <a:buNone/>
            </a:pPr>
            <a:r>
              <a:rPr lang="en-US" sz="950" dirty="0">
                <a:solidFill>
                  <a:srgbClr val="1E293B"/>
                </a:solidFill>
              </a:rPr>
              <a:t>Contrast, homogeneity, correlation via co-occurrence matrix (~15 features)</a:t>
            </a:r>
            <a:endParaRPr lang="en-US" sz="950" dirty="0"/>
          </a:p>
        </p:txBody>
      </p:sp>
      <p:sp>
        <p:nvSpPr>
          <p:cNvPr id="34" name="Shape 32"/>
          <p:cNvSpPr/>
          <p:nvPr/>
        </p:nvSpPr>
        <p:spPr>
          <a:xfrm>
            <a:off x="3154680" y="3017520"/>
            <a:ext cx="2743200" cy="1097280"/>
          </a:xfrm>
          <a:prstGeom prst="rect">
            <a:avLst/>
          </a:prstGeom>
          <a:solidFill>
            <a:srgbClr val="FAFAFA"/>
          </a:solidFill>
          <a:ln w="12700">
            <a:solidFill>
              <a:srgbClr val="00A896"/>
            </a:solidFill>
            <a:prstDash val="solid"/>
          </a:ln>
          <a:effectLst>
            <a:outerShdw sx="100000" sy="100000" kx="0" ky="0" algn="bl" rotWithShape="0" blurRad="76200" dist="25400" dir="8100000">
              <a:srgbClr val="000000">
                <a:alpha val="12000"/>
              </a:srgbClr>
            </a:outerShdw>
          </a:effectLst>
        </p:spPr>
      </p:sp>
      <p:sp>
        <p:nvSpPr>
          <p:cNvPr id="35" name="Shape 33"/>
          <p:cNvSpPr/>
          <p:nvPr/>
        </p:nvSpPr>
        <p:spPr>
          <a:xfrm>
            <a:off x="3154680" y="3017520"/>
            <a:ext cx="73152" cy="1097280"/>
          </a:xfrm>
          <a:prstGeom prst="rect">
            <a:avLst/>
          </a:prstGeom>
          <a:solidFill>
            <a:srgbClr val="00A896"/>
          </a:solidFill>
          <a:ln w="12700">
            <a:solidFill>
              <a:srgbClr val="00A896"/>
            </a:solidFill>
            <a:prstDash val="solid"/>
          </a:ln>
        </p:spPr>
      </p:sp>
      <p:sp>
        <p:nvSpPr>
          <p:cNvPr id="36" name="Text 34"/>
          <p:cNvSpPr/>
          <p:nvPr/>
        </p:nvSpPr>
        <p:spPr>
          <a:xfrm>
            <a:off x="3337560" y="3108960"/>
            <a:ext cx="2468880" cy="347472"/>
          </a:xfrm>
          <a:prstGeom prst="rect">
            <a:avLst/>
          </a:prstGeom>
          <a:noFill/>
          <a:ln/>
        </p:spPr>
        <p:txBody>
          <a:bodyPr wrap="square" lIns="0" tIns="0" rIns="0" bIns="0" rtlCol="0" anchor="ctr"/>
          <a:lstStyle/>
          <a:p>
            <a:pPr indent="0" marL="0">
              <a:buNone/>
            </a:pPr>
            <a:r>
              <a:rPr lang="en-US" sz="1150" b="1" dirty="0">
                <a:solidFill>
                  <a:srgbClr val="00A896"/>
                </a:solidFill>
              </a:rPr>
              <a:t>Shape Features</a:t>
            </a:r>
            <a:endParaRPr lang="en-US" sz="1150" dirty="0"/>
          </a:p>
        </p:txBody>
      </p:sp>
      <p:sp>
        <p:nvSpPr>
          <p:cNvPr id="37" name="Text 35"/>
          <p:cNvSpPr/>
          <p:nvPr/>
        </p:nvSpPr>
        <p:spPr>
          <a:xfrm>
            <a:off x="3337560" y="3456432"/>
            <a:ext cx="2468880" cy="594360"/>
          </a:xfrm>
          <a:prstGeom prst="rect">
            <a:avLst/>
          </a:prstGeom>
          <a:noFill/>
          <a:ln/>
        </p:spPr>
        <p:txBody>
          <a:bodyPr wrap="square" lIns="0" tIns="0" rIns="0" bIns="0" rtlCol="0" anchor="ctr"/>
          <a:lstStyle/>
          <a:p>
            <a:pPr indent="0" marL="0">
              <a:buNone/>
            </a:pPr>
            <a:r>
              <a:rPr lang="en-US" sz="950" dirty="0">
                <a:solidFill>
                  <a:srgbClr val="1E293B"/>
                </a:solidFill>
              </a:rPr>
              <a:t>Rectangular contour detection, aspect ratio — kartu cenderung persegi panjang (~5 features)</a:t>
            </a:r>
            <a:endParaRPr lang="en-US" sz="950" dirty="0"/>
          </a:p>
        </p:txBody>
      </p:sp>
      <p:sp>
        <p:nvSpPr>
          <p:cNvPr id="38" name="Shape 36"/>
          <p:cNvSpPr/>
          <p:nvPr/>
        </p:nvSpPr>
        <p:spPr>
          <a:xfrm>
            <a:off x="6080760" y="3017520"/>
            <a:ext cx="2743200" cy="1097280"/>
          </a:xfrm>
          <a:prstGeom prst="rect">
            <a:avLst/>
          </a:prstGeom>
          <a:solidFill>
            <a:srgbClr val="FAFAFA"/>
          </a:solidFill>
          <a:ln w="12700">
            <a:solidFill>
              <a:srgbClr val="1C7293"/>
            </a:solidFill>
            <a:prstDash val="solid"/>
          </a:ln>
          <a:effectLst>
            <a:outerShdw sx="100000" sy="100000" kx="0" ky="0" algn="bl" rotWithShape="0" blurRad="76200" dist="25400" dir="8100000">
              <a:srgbClr val="000000">
                <a:alpha val="12000"/>
              </a:srgbClr>
            </a:outerShdw>
          </a:effectLst>
        </p:spPr>
      </p:sp>
      <p:sp>
        <p:nvSpPr>
          <p:cNvPr id="39" name="Shape 37"/>
          <p:cNvSpPr/>
          <p:nvPr/>
        </p:nvSpPr>
        <p:spPr>
          <a:xfrm>
            <a:off x="6080760" y="3017520"/>
            <a:ext cx="73152" cy="1097280"/>
          </a:xfrm>
          <a:prstGeom prst="rect">
            <a:avLst/>
          </a:prstGeom>
          <a:solidFill>
            <a:srgbClr val="1C7293"/>
          </a:solidFill>
          <a:ln w="12700">
            <a:solidFill>
              <a:srgbClr val="1C7293"/>
            </a:solidFill>
            <a:prstDash val="solid"/>
          </a:ln>
        </p:spPr>
      </p:sp>
      <p:sp>
        <p:nvSpPr>
          <p:cNvPr id="40" name="Text 38"/>
          <p:cNvSpPr/>
          <p:nvPr/>
        </p:nvSpPr>
        <p:spPr>
          <a:xfrm>
            <a:off x="6263640" y="3108960"/>
            <a:ext cx="2468880" cy="347472"/>
          </a:xfrm>
          <a:prstGeom prst="rect">
            <a:avLst/>
          </a:prstGeom>
          <a:noFill/>
          <a:ln/>
        </p:spPr>
        <p:txBody>
          <a:bodyPr wrap="square" lIns="0" tIns="0" rIns="0" bIns="0" rtlCol="0" anchor="ctr"/>
          <a:lstStyle/>
          <a:p>
            <a:pPr indent="0" marL="0">
              <a:buNone/>
            </a:pPr>
            <a:r>
              <a:rPr lang="en-US" sz="1150" b="1" dirty="0">
                <a:solidFill>
                  <a:srgbClr val="1C7293"/>
                </a:solidFill>
              </a:rPr>
              <a:t>Statistical</a:t>
            </a:r>
            <a:endParaRPr lang="en-US" sz="1150" dirty="0"/>
          </a:p>
        </p:txBody>
      </p:sp>
      <p:sp>
        <p:nvSpPr>
          <p:cNvPr id="41" name="Text 39"/>
          <p:cNvSpPr/>
          <p:nvPr/>
        </p:nvSpPr>
        <p:spPr>
          <a:xfrm>
            <a:off x="6263640" y="3456432"/>
            <a:ext cx="2468880" cy="594360"/>
          </a:xfrm>
          <a:prstGeom prst="rect">
            <a:avLst/>
          </a:prstGeom>
          <a:noFill/>
          <a:ln/>
        </p:spPr>
        <p:txBody>
          <a:bodyPr wrap="square" lIns="0" tIns="0" rIns="0" bIns="0" rtlCol="0" anchor="ctr"/>
          <a:lstStyle/>
          <a:p>
            <a:pPr indent="0" marL="0">
              <a:buNone/>
            </a:pPr>
            <a:r>
              <a:rPr lang="en-US" sz="950" dirty="0">
                <a:solidFill>
                  <a:srgbClr val="1E293B"/>
                </a:solidFill>
              </a:rPr>
              <a:t>Pixel intensity distribution — mean, std, histogram bins (~6 features)</a:t>
            </a:r>
            <a:endParaRPr lang="en-US" sz="950" dirty="0"/>
          </a:p>
        </p:txBody>
      </p:sp>
      <p:sp>
        <p:nvSpPr>
          <p:cNvPr id="42" name="Shape 40"/>
          <p:cNvSpPr/>
          <p:nvPr/>
        </p:nvSpPr>
        <p:spPr>
          <a:xfrm>
            <a:off x="228600" y="4572000"/>
            <a:ext cx="8686800" cy="411480"/>
          </a:xfrm>
          <a:prstGeom prst="rect">
            <a:avLst/>
          </a:prstGeom>
          <a:solidFill>
            <a:srgbClr val="FAE8B8"/>
          </a:solidFill>
          <a:ln w="12700">
            <a:solidFill>
              <a:srgbClr val="E4A820"/>
            </a:solidFill>
            <a:prstDash val="solid"/>
          </a:ln>
        </p:spPr>
      </p:sp>
      <p:sp>
        <p:nvSpPr>
          <p:cNvPr id="43" name="Text 41"/>
          <p:cNvSpPr/>
          <p:nvPr/>
        </p:nvSpPr>
        <p:spPr>
          <a:xfrm>
            <a:off x="274320" y="4572000"/>
            <a:ext cx="8595360" cy="411480"/>
          </a:xfrm>
          <a:prstGeom prst="rect">
            <a:avLst/>
          </a:prstGeom>
          <a:noFill/>
          <a:ln/>
        </p:spPr>
        <p:txBody>
          <a:bodyPr wrap="square" lIns="0" tIns="0" rIns="0" bIns="0" rtlCol="0" anchor="ctr"/>
          <a:lstStyle/>
          <a:p>
            <a:pPr algn="ctr" indent="0" marL="0">
              <a:buNone/>
            </a:pPr>
            <a:r>
              <a:rPr lang="en-US" sz="1000" b="1" dirty="0">
                <a:solidFill>
                  <a:srgbClr val="D97706"/>
                </a:solidFill>
              </a:rPr>
              <a:t>⭐  Paling Explainable — feature importance langsung terlihat mana yang paling berpengaruh   |   Model size: &lt;1MB   |   Inference: &lt;50ms   |   Training: hitungan menit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228600" cy="548640"/>
          </a:xfrm>
          <a:prstGeom prst="rect">
            <a:avLst/>
          </a:prstGeom>
          <a:solidFill>
            <a:srgbClr val="7C3AED"/>
          </a:solidFill>
          <a:ln w="12700">
            <a:solidFill>
              <a:srgbClr val="7C3AED"/>
            </a:solidFill>
            <a:prstDash val="solid"/>
          </a:ln>
        </p:spPr>
      </p:sp>
      <p:sp>
        <p:nvSpPr>
          <p:cNvPr id="3" name="Text 1"/>
          <p:cNvSpPr/>
          <p:nvPr/>
        </p:nvSpPr>
        <p:spPr>
          <a:xfrm>
            <a:off x="594360" y="137160"/>
            <a:ext cx="8229600" cy="548640"/>
          </a:xfrm>
          <a:prstGeom prst="rect">
            <a:avLst/>
          </a:prstGeom>
          <a:noFill/>
          <a:ln/>
        </p:spPr>
        <p:txBody>
          <a:bodyPr wrap="square" lIns="0" tIns="0" rIns="0" bIns="0" rtlCol="0" anchor="ctr"/>
          <a:lstStyle/>
          <a:p>
            <a:pPr indent="0" marL="0">
              <a:buNone/>
            </a:pPr>
            <a:r>
              <a:rPr lang="en-US" sz="2200" b="1" dirty="0">
                <a:solidFill>
                  <a:srgbClr val="065A82"/>
                </a:solidFill>
                <a:latin typeface="Trebuchet MS" pitchFamily="34" charset="0"/>
                <a:ea typeface="Trebuchet MS" pitchFamily="34" charset="-122"/>
                <a:cs typeface="Trebuchet MS" pitchFamily="34" charset="-120"/>
              </a:rPr>
              <a:t>Approach 3: Zero-Shot Vision-Language (OpenCLIP)</a:t>
            </a:r>
            <a:endParaRPr lang="en-US" sz="2200" dirty="0"/>
          </a:p>
        </p:txBody>
      </p:sp>
      <p:sp>
        <p:nvSpPr>
          <p:cNvPr id="4" name="Shape 2"/>
          <p:cNvSpPr/>
          <p:nvPr/>
        </p:nvSpPr>
        <p:spPr>
          <a:xfrm>
            <a:off x="274320" y="822960"/>
            <a:ext cx="2011680" cy="457200"/>
          </a:xfrm>
          <a:prstGeom prst="rect">
            <a:avLst/>
          </a:prstGeom>
          <a:solidFill>
            <a:srgbClr val="1C7293"/>
          </a:solidFill>
          <a:ln w="12700">
            <a:solidFill>
              <a:srgbClr val="1C7293"/>
            </a:solidFill>
            <a:prstDash val="solid"/>
          </a:ln>
        </p:spPr>
      </p:sp>
      <p:sp>
        <p:nvSpPr>
          <p:cNvPr id="5" name="Text 3"/>
          <p:cNvSpPr/>
          <p:nvPr/>
        </p:nvSpPr>
        <p:spPr>
          <a:xfrm>
            <a:off x="274320" y="822960"/>
            <a:ext cx="2011680" cy="457200"/>
          </a:xfrm>
          <a:prstGeom prst="rect">
            <a:avLst/>
          </a:prstGeom>
          <a:noFill/>
          <a:ln/>
        </p:spPr>
        <p:txBody>
          <a:bodyPr wrap="square" lIns="0" tIns="0" rIns="0" bIns="0" rtlCol="0" anchor="ctr"/>
          <a:lstStyle/>
          <a:p>
            <a:pPr algn="ctr" indent="0" marL="0">
              <a:buNone/>
            </a:pPr>
            <a:r>
              <a:rPr lang="en-US" sz="1100" b="1" dirty="0">
                <a:solidFill>
                  <a:srgbClr val="FFFFFF"/>
                </a:solidFill>
              </a:rPr>
              <a:t>Input Image</a:t>
            </a:r>
            <a:endParaRPr lang="en-US" sz="1100" dirty="0"/>
          </a:p>
        </p:txBody>
      </p:sp>
      <p:sp>
        <p:nvSpPr>
          <p:cNvPr id="6" name="Shape 4"/>
          <p:cNvSpPr/>
          <p:nvPr/>
        </p:nvSpPr>
        <p:spPr>
          <a:xfrm>
            <a:off x="274320" y="1463040"/>
            <a:ext cx="2011680" cy="457200"/>
          </a:xfrm>
          <a:prstGeom prst="rect">
            <a:avLst/>
          </a:prstGeom>
          <a:solidFill>
            <a:srgbClr val="065A82"/>
          </a:solidFill>
          <a:ln w="12700">
            <a:solidFill>
              <a:srgbClr val="065A82"/>
            </a:solidFill>
            <a:prstDash val="solid"/>
          </a:ln>
        </p:spPr>
      </p:sp>
      <p:sp>
        <p:nvSpPr>
          <p:cNvPr id="7" name="Text 5"/>
          <p:cNvSpPr/>
          <p:nvPr/>
        </p:nvSpPr>
        <p:spPr>
          <a:xfrm>
            <a:off x="274320" y="1463040"/>
            <a:ext cx="2011680" cy="457200"/>
          </a:xfrm>
          <a:prstGeom prst="rect">
            <a:avLst/>
          </a:prstGeom>
          <a:noFill/>
          <a:ln/>
        </p:spPr>
        <p:txBody>
          <a:bodyPr wrap="square" lIns="0" tIns="0" rIns="0" bIns="0" rtlCol="0" anchor="ctr"/>
          <a:lstStyle/>
          <a:p>
            <a:pPr algn="ctr" indent="0" marL="0">
              <a:buNone/>
            </a:pPr>
            <a:r>
              <a:rPr lang="en-US" sz="1100" b="1" dirty="0">
                <a:solidFill>
                  <a:srgbClr val="FFFFFF"/>
                </a:solidFill>
              </a:rPr>
              <a:t>Vision Encoder</a:t>
            </a:r>
            <a:endParaRPr lang="en-US" sz="1100" dirty="0"/>
          </a:p>
        </p:txBody>
      </p:sp>
      <p:sp>
        <p:nvSpPr>
          <p:cNvPr id="8" name="Shape 6"/>
          <p:cNvSpPr/>
          <p:nvPr/>
        </p:nvSpPr>
        <p:spPr>
          <a:xfrm>
            <a:off x="274320" y="2103120"/>
            <a:ext cx="2011680" cy="457200"/>
          </a:xfrm>
          <a:prstGeom prst="rect">
            <a:avLst/>
          </a:prstGeom>
          <a:solidFill>
            <a:srgbClr val="0D9488"/>
          </a:solidFill>
          <a:ln w="12700">
            <a:solidFill>
              <a:srgbClr val="0D9488"/>
            </a:solidFill>
            <a:prstDash val="solid"/>
          </a:ln>
        </p:spPr>
      </p:sp>
      <p:sp>
        <p:nvSpPr>
          <p:cNvPr id="9" name="Text 7"/>
          <p:cNvSpPr/>
          <p:nvPr/>
        </p:nvSpPr>
        <p:spPr>
          <a:xfrm>
            <a:off x="274320" y="2103120"/>
            <a:ext cx="2011680" cy="457200"/>
          </a:xfrm>
          <a:prstGeom prst="rect">
            <a:avLst/>
          </a:prstGeom>
          <a:noFill/>
          <a:ln/>
        </p:spPr>
        <p:txBody>
          <a:bodyPr wrap="square" lIns="0" tIns="0" rIns="0" bIns="0" rtlCol="0" anchor="ctr"/>
          <a:lstStyle/>
          <a:p>
            <a:pPr algn="ctr" indent="0" marL="0">
              <a:buNone/>
            </a:pPr>
            <a:r>
              <a:rPr lang="en-US" sz="1100" b="1" dirty="0">
                <a:solidFill>
                  <a:srgbClr val="FFFFFF"/>
                </a:solidFill>
              </a:rPr>
              <a:t>Image Embedding</a:t>
            </a:r>
            <a:endParaRPr lang="en-US" sz="1100" dirty="0"/>
          </a:p>
        </p:txBody>
      </p:sp>
      <p:sp>
        <p:nvSpPr>
          <p:cNvPr id="10" name="Shape 8"/>
          <p:cNvSpPr/>
          <p:nvPr/>
        </p:nvSpPr>
        <p:spPr>
          <a:xfrm>
            <a:off x="274320" y="2834640"/>
            <a:ext cx="2011680" cy="457200"/>
          </a:xfrm>
          <a:prstGeom prst="rect">
            <a:avLst/>
          </a:prstGeom>
          <a:solidFill>
            <a:srgbClr val="1C7293"/>
          </a:solidFill>
          <a:ln w="12700">
            <a:solidFill>
              <a:srgbClr val="1C7293"/>
            </a:solidFill>
            <a:prstDash val="solid"/>
          </a:ln>
        </p:spPr>
      </p:sp>
      <p:sp>
        <p:nvSpPr>
          <p:cNvPr id="11" name="Text 9"/>
          <p:cNvSpPr/>
          <p:nvPr/>
        </p:nvSpPr>
        <p:spPr>
          <a:xfrm>
            <a:off x="274320" y="2834640"/>
            <a:ext cx="2011680" cy="457200"/>
          </a:xfrm>
          <a:prstGeom prst="rect">
            <a:avLst/>
          </a:prstGeom>
          <a:noFill/>
          <a:ln/>
        </p:spPr>
        <p:txBody>
          <a:bodyPr wrap="square" lIns="0" tIns="0" rIns="0" bIns="0" rtlCol="0" anchor="ctr"/>
          <a:lstStyle/>
          <a:p>
            <a:pPr algn="ctr" indent="0" marL="0">
              <a:buNone/>
            </a:pPr>
            <a:r>
              <a:rPr lang="en-US" sz="1100" b="1" dirty="0">
                <a:solidFill>
                  <a:srgbClr val="FFFFFF"/>
                </a:solidFill>
              </a:rPr>
              <a:t>Text Prompts</a:t>
            </a:r>
            <a:endParaRPr lang="en-US" sz="1100" dirty="0"/>
          </a:p>
        </p:txBody>
      </p:sp>
      <p:sp>
        <p:nvSpPr>
          <p:cNvPr id="12" name="Shape 10"/>
          <p:cNvSpPr/>
          <p:nvPr/>
        </p:nvSpPr>
        <p:spPr>
          <a:xfrm>
            <a:off x="274320" y="3474720"/>
            <a:ext cx="2011680" cy="457200"/>
          </a:xfrm>
          <a:prstGeom prst="rect">
            <a:avLst/>
          </a:prstGeom>
          <a:solidFill>
            <a:srgbClr val="065A82"/>
          </a:solidFill>
          <a:ln w="12700">
            <a:solidFill>
              <a:srgbClr val="065A82"/>
            </a:solidFill>
            <a:prstDash val="solid"/>
          </a:ln>
        </p:spPr>
      </p:sp>
      <p:sp>
        <p:nvSpPr>
          <p:cNvPr id="13" name="Text 11"/>
          <p:cNvSpPr/>
          <p:nvPr/>
        </p:nvSpPr>
        <p:spPr>
          <a:xfrm>
            <a:off x="274320" y="3474720"/>
            <a:ext cx="2011680" cy="457200"/>
          </a:xfrm>
          <a:prstGeom prst="rect">
            <a:avLst/>
          </a:prstGeom>
          <a:noFill/>
          <a:ln/>
        </p:spPr>
        <p:txBody>
          <a:bodyPr wrap="square" lIns="0" tIns="0" rIns="0" bIns="0" rtlCol="0" anchor="ctr"/>
          <a:lstStyle/>
          <a:p>
            <a:pPr algn="ctr" indent="0" marL="0">
              <a:buNone/>
            </a:pPr>
            <a:r>
              <a:rPr lang="en-US" sz="1100" b="1" dirty="0">
                <a:solidFill>
                  <a:srgbClr val="FFFFFF"/>
                </a:solidFill>
              </a:rPr>
              <a:t>Text Encoder</a:t>
            </a:r>
            <a:endParaRPr lang="en-US" sz="1100" dirty="0"/>
          </a:p>
        </p:txBody>
      </p:sp>
      <p:sp>
        <p:nvSpPr>
          <p:cNvPr id="14" name="Shape 12"/>
          <p:cNvSpPr/>
          <p:nvPr/>
        </p:nvSpPr>
        <p:spPr>
          <a:xfrm>
            <a:off x="274320" y="4114800"/>
            <a:ext cx="2011680" cy="457200"/>
          </a:xfrm>
          <a:prstGeom prst="rect">
            <a:avLst/>
          </a:prstGeom>
          <a:solidFill>
            <a:srgbClr val="7C3AED"/>
          </a:solidFill>
          <a:ln w="12700">
            <a:solidFill>
              <a:srgbClr val="7C3AED"/>
            </a:solidFill>
            <a:prstDash val="solid"/>
          </a:ln>
        </p:spPr>
      </p:sp>
      <p:sp>
        <p:nvSpPr>
          <p:cNvPr id="15" name="Text 13"/>
          <p:cNvSpPr/>
          <p:nvPr/>
        </p:nvSpPr>
        <p:spPr>
          <a:xfrm>
            <a:off x="274320" y="4114800"/>
            <a:ext cx="2011680" cy="457200"/>
          </a:xfrm>
          <a:prstGeom prst="rect">
            <a:avLst/>
          </a:prstGeom>
          <a:noFill/>
          <a:ln/>
        </p:spPr>
        <p:txBody>
          <a:bodyPr wrap="square" lIns="0" tIns="0" rIns="0" bIns="0" rtlCol="0" anchor="ctr"/>
          <a:lstStyle/>
          <a:p>
            <a:pPr algn="ctr" indent="0" marL="0">
              <a:buNone/>
            </a:pPr>
            <a:r>
              <a:rPr lang="en-US" sz="1100" b="1" dirty="0">
                <a:solidFill>
                  <a:srgbClr val="FFFFFF"/>
                </a:solidFill>
              </a:rPr>
              <a:t>Text Embeddings</a:t>
            </a:r>
            <a:endParaRPr lang="en-US" sz="1100" dirty="0"/>
          </a:p>
        </p:txBody>
      </p:sp>
      <p:sp>
        <p:nvSpPr>
          <p:cNvPr id="16" name="Text 14"/>
          <p:cNvSpPr/>
          <p:nvPr/>
        </p:nvSpPr>
        <p:spPr>
          <a:xfrm>
            <a:off x="1097280" y="1344168"/>
            <a:ext cx="365760" cy="137160"/>
          </a:xfrm>
          <a:prstGeom prst="rect">
            <a:avLst/>
          </a:prstGeom>
          <a:noFill/>
          <a:ln/>
        </p:spPr>
        <p:txBody>
          <a:bodyPr wrap="square" lIns="0" tIns="0" rIns="0" bIns="0" rtlCol="0" anchor="ctr"/>
          <a:lstStyle/>
          <a:p>
            <a:pPr algn="ctr" indent="0" marL="0">
              <a:buNone/>
            </a:pPr>
            <a:r>
              <a:rPr lang="en-US" sz="1000" dirty="0">
                <a:solidFill>
                  <a:srgbClr val="64748B"/>
                </a:solidFill>
              </a:rPr>
              <a:t>↓</a:t>
            </a:r>
            <a:endParaRPr lang="en-US" sz="1000" dirty="0"/>
          </a:p>
        </p:txBody>
      </p:sp>
      <p:sp>
        <p:nvSpPr>
          <p:cNvPr id="17" name="Text 15"/>
          <p:cNvSpPr/>
          <p:nvPr/>
        </p:nvSpPr>
        <p:spPr>
          <a:xfrm>
            <a:off x="1097280" y="1984248"/>
            <a:ext cx="365760" cy="137160"/>
          </a:xfrm>
          <a:prstGeom prst="rect">
            <a:avLst/>
          </a:prstGeom>
          <a:noFill/>
          <a:ln/>
        </p:spPr>
        <p:txBody>
          <a:bodyPr wrap="square" lIns="0" tIns="0" rIns="0" bIns="0" rtlCol="0" anchor="ctr"/>
          <a:lstStyle/>
          <a:p>
            <a:pPr algn="ctr" indent="0" marL="0">
              <a:buNone/>
            </a:pPr>
            <a:r>
              <a:rPr lang="en-US" sz="1000" dirty="0">
                <a:solidFill>
                  <a:srgbClr val="64748B"/>
                </a:solidFill>
              </a:rPr>
              <a:t>↓</a:t>
            </a:r>
            <a:endParaRPr lang="en-US" sz="1000" dirty="0"/>
          </a:p>
        </p:txBody>
      </p:sp>
      <p:sp>
        <p:nvSpPr>
          <p:cNvPr id="18" name="Text 16"/>
          <p:cNvSpPr/>
          <p:nvPr/>
        </p:nvSpPr>
        <p:spPr>
          <a:xfrm>
            <a:off x="1097280" y="3355848"/>
            <a:ext cx="365760" cy="137160"/>
          </a:xfrm>
          <a:prstGeom prst="rect">
            <a:avLst/>
          </a:prstGeom>
          <a:noFill/>
          <a:ln/>
        </p:spPr>
        <p:txBody>
          <a:bodyPr wrap="square" lIns="0" tIns="0" rIns="0" bIns="0" rtlCol="0" anchor="ctr"/>
          <a:lstStyle/>
          <a:p>
            <a:pPr algn="ctr" indent="0" marL="0">
              <a:buNone/>
            </a:pPr>
            <a:r>
              <a:rPr lang="en-US" sz="1000" dirty="0">
                <a:solidFill>
                  <a:srgbClr val="64748B"/>
                </a:solidFill>
              </a:rPr>
              <a:t>↓</a:t>
            </a:r>
            <a:endParaRPr lang="en-US" sz="1000" dirty="0"/>
          </a:p>
        </p:txBody>
      </p:sp>
      <p:sp>
        <p:nvSpPr>
          <p:cNvPr id="19" name="Text 17"/>
          <p:cNvSpPr/>
          <p:nvPr/>
        </p:nvSpPr>
        <p:spPr>
          <a:xfrm>
            <a:off x="1097280" y="4005072"/>
            <a:ext cx="365760" cy="137160"/>
          </a:xfrm>
          <a:prstGeom prst="rect">
            <a:avLst/>
          </a:prstGeom>
          <a:noFill/>
          <a:ln/>
        </p:spPr>
        <p:txBody>
          <a:bodyPr wrap="square" lIns="0" tIns="0" rIns="0" bIns="0" rtlCol="0" anchor="ctr"/>
          <a:lstStyle/>
          <a:p>
            <a:pPr algn="ctr" indent="0" marL="0">
              <a:buNone/>
            </a:pPr>
            <a:r>
              <a:rPr lang="en-US" sz="1000" dirty="0">
                <a:solidFill>
                  <a:srgbClr val="64748B"/>
                </a:solidFill>
              </a:rPr>
              <a:t>↓</a:t>
            </a:r>
            <a:endParaRPr lang="en-US" sz="1000" dirty="0"/>
          </a:p>
        </p:txBody>
      </p:sp>
      <p:sp>
        <p:nvSpPr>
          <p:cNvPr id="20" name="Shape 18"/>
          <p:cNvSpPr/>
          <p:nvPr/>
        </p:nvSpPr>
        <p:spPr>
          <a:xfrm>
            <a:off x="2926080" y="2423160"/>
            <a:ext cx="2103120" cy="594360"/>
          </a:xfrm>
          <a:prstGeom prst="rect">
            <a:avLst/>
          </a:prstGeom>
          <a:solidFill>
            <a:srgbClr val="7C3AED"/>
          </a:solidFill>
          <a:ln w="12700">
            <a:solidFill>
              <a:srgbClr val="7C3AED"/>
            </a:solidFill>
            <a:prstDash val="solid"/>
          </a:ln>
          <a:effectLst>
            <a:outerShdw sx="100000" sy="100000" kx="0" ky="0" algn="bl" rotWithShape="0" blurRad="76200" dist="25400" dir="8100000">
              <a:srgbClr val="000000">
                <a:alpha val="12000"/>
              </a:srgbClr>
            </a:outerShdw>
          </a:effectLst>
        </p:spPr>
      </p:sp>
      <p:sp>
        <p:nvSpPr>
          <p:cNvPr id="21" name="Text 19"/>
          <p:cNvSpPr/>
          <p:nvPr/>
        </p:nvSpPr>
        <p:spPr>
          <a:xfrm>
            <a:off x="2926080" y="2423160"/>
            <a:ext cx="2103120" cy="594360"/>
          </a:xfrm>
          <a:prstGeom prst="rect">
            <a:avLst/>
          </a:prstGeom>
          <a:noFill/>
          <a:ln/>
        </p:spPr>
        <p:txBody>
          <a:bodyPr wrap="square" lIns="25400" tIns="25400" rIns="25400" bIns="25400" rtlCol="0" anchor="ctr"/>
          <a:lstStyle/>
          <a:p>
            <a:pPr algn="ctr" indent="0" marL="0">
              <a:buNone/>
            </a:pPr>
            <a:r>
              <a:rPr lang="en-US" sz="1100" b="1" dirty="0">
                <a:solidFill>
                  <a:srgbClr val="FFFFFF"/>
                </a:solidFill>
              </a:rPr>
              <a:t>Cosine</a:t>
            </a:r>
            <a:endParaRPr lang="en-US" sz="1100" dirty="0"/>
          </a:p>
          <a:p>
            <a:pPr algn="ctr" indent="0" marL="0">
              <a:buNone/>
            </a:pPr>
            <a:r>
              <a:rPr lang="en-US" sz="1100" b="1" dirty="0">
                <a:solidFill>
                  <a:srgbClr val="FFFFFF"/>
                </a:solidFill>
              </a:rPr>
              <a:t>Similarity</a:t>
            </a:r>
            <a:endParaRPr lang="en-US" sz="1100" dirty="0"/>
          </a:p>
        </p:txBody>
      </p:sp>
      <p:sp>
        <p:nvSpPr>
          <p:cNvPr id="22" name="Text 20"/>
          <p:cNvSpPr/>
          <p:nvPr/>
        </p:nvSpPr>
        <p:spPr>
          <a:xfrm>
            <a:off x="2286000" y="2194560"/>
            <a:ext cx="640080" cy="274320"/>
          </a:xfrm>
          <a:prstGeom prst="rect">
            <a:avLst/>
          </a:prstGeom>
          <a:noFill/>
          <a:ln/>
        </p:spPr>
        <p:txBody>
          <a:bodyPr wrap="square" lIns="0" tIns="0" rIns="0" bIns="0" rtlCol="0" anchor="ctr"/>
          <a:lstStyle/>
          <a:p>
            <a:pPr algn="ctr" indent="0" marL="0">
              <a:buNone/>
            </a:pPr>
            <a:r>
              <a:rPr lang="en-US" sz="1300" dirty="0">
                <a:solidFill>
                  <a:srgbClr val="64748B"/>
                </a:solidFill>
              </a:rPr>
              <a:t>→</a:t>
            </a:r>
            <a:endParaRPr lang="en-US" sz="1300" dirty="0"/>
          </a:p>
        </p:txBody>
      </p:sp>
      <p:sp>
        <p:nvSpPr>
          <p:cNvPr id="23" name="Text 21"/>
          <p:cNvSpPr/>
          <p:nvPr/>
        </p:nvSpPr>
        <p:spPr>
          <a:xfrm>
            <a:off x="2286000" y="4114800"/>
            <a:ext cx="640080" cy="274320"/>
          </a:xfrm>
          <a:prstGeom prst="rect">
            <a:avLst/>
          </a:prstGeom>
          <a:noFill/>
          <a:ln/>
        </p:spPr>
        <p:txBody>
          <a:bodyPr wrap="square" lIns="0" tIns="0" rIns="0" bIns="0" rtlCol="0" anchor="ctr"/>
          <a:lstStyle/>
          <a:p>
            <a:pPr algn="ctr" indent="0" marL="0">
              <a:buNone/>
            </a:pPr>
            <a:r>
              <a:rPr lang="en-US" sz="1300" dirty="0">
                <a:solidFill>
                  <a:srgbClr val="64748B"/>
                </a:solidFill>
              </a:rPr>
              <a:t>→</a:t>
            </a:r>
            <a:endParaRPr lang="en-US" sz="1300" dirty="0"/>
          </a:p>
        </p:txBody>
      </p:sp>
      <p:sp>
        <p:nvSpPr>
          <p:cNvPr id="24" name="Shape 22"/>
          <p:cNvSpPr/>
          <p:nvPr/>
        </p:nvSpPr>
        <p:spPr>
          <a:xfrm>
            <a:off x="5303520" y="2423160"/>
            <a:ext cx="1737360" cy="594360"/>
          </a:xfrm>
          <a:prstGeom prst="rect">
            <a:avLst/>
          </a:prstGeom>
          <a:solidFill>
            <a:srgbClr val="059669"/>
          </a:solidFill>
          <a:ln w="12700">
            <a:solidFill>
              <a:srgbClr val="059669"/>
            </a:solidFill>
            <a:prstDash val="solid"/>
          </a:ln>
        </p:spPr>
      </p:sp>
      <p:sp>
        <p:nvSpPr>
          <p:cNvPr id="25" name="Text 23"/>
          <p:cNvSpPr/>
          <p:nvPr/>
        </p:nvSpPr>
        <p:spPr>
          <a:xfrm>
            <a:off x="5303520" y="2423160"/>
            <a:ext cx="1737360" cy="594360"/>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HAS_CARD /</a:t>
            </a:r>
            <a:endParaRPr lang="en-US" sz="1000" dirty="0"/>
          </a:p>
          <a:p>
            <a:pPr algn="ctr" indent="0" marL="0">
              <a:buNone/>
            </a:pPr>
            <a:r>
              <a:rPr lang="en-US" sz="1000" b="1" dirty="0">
                <a:solidFill>
                  <a:srgbClr val="FFFFFF"/>
                </a:solidFill>
              </a:rPr>
              <a:t>NO_CARD</a:t>
            </a:r>
            <a:endParaRPr lang="en-US" sz="1000" dirty="0"/>
          </a:p>
        </p:txBody>
      </p:sp>
      <p:sp>
        <p:nvSpPr>
          <p:cNvPr id="26" name="Text 24"/>
          <p:cNvSpPr/>
          <p:nvPr/>
        </p:nvSpPr>
        <p:spPr>
          <a:xfrm>
            <a:off x="5029200" y="2487168"/>
            <a:ext cx="320040" cy="274320"/>
          </a:xfrm>
          <a:prstGeom prst="rect">
            <a:avLst/>
          </a:prstGeom>
          <a:noFill/>
          <a:ln/>
        </p:spPr>
        <p:txBody>
          <a:bodyPr wrap="square" lIns="0" tIns="0" rIns="0" bIns="0" rtlCol="0" anchor="ctr"/>
          <a:lstStyle/>
          <a:p>
            <a:pPr algn="ctr" indent="0" marL="0">
              <a:buNone/>
            </a:pPr>
            <a:r>
              <a:rPr lang="en-US" sz="1300" dirty="0">
                <a:solidFill>
                  <a:srgbClr val="64748B"/>
                </a:solidFill>
              </a:rPr>
              <a:t>→</a:t>
            </a:r>
            <a:endParaRPr lang="en-US" sz="1300" dirty="0"/>
          </a:p>
        </p:txBody>
      </p:sp>
      <p:sp>
        <p:nvSpPr>
          <p:cNvPr id="27" name="Shape 25"/>
          <p:cNvSpPr/>
          <p:nvPr/>
        </p:nvSpPr>
        <p:spPr>
          <a:xfrm>
            <a:off x="7223760" y="1005840"/>
            <a:ext cx="1783080" cy="502920"/>
          </a:xfrm>
          <a:prstGeom prst="rect">
            <a:avLst/>
          </a:prstGeom>
          <a:solidFill>
            <a:srgbClr val="F0FDF4"/>
          </a:solidFill>
          <a:ln w="12700">
            <a:solidFill>
              <a:srgbClr val="86EFAC"/>
            </a:solidFill>
            <a:prstDash val="solid"/>
          </a:ln>
        </p:spPr>
      </p:sp>
      <p:sp>
        <p:nvSpPr>
          <p:cNvPr id="28" name="Text 26"/>
          <p:cNvSpPr/>
          <p:nvPr/>
        </p:nvSpPr>
        <p:spPr>
          <a:xfrm>
            <a:off x="7269480" y="1005840"/>
            <a:ext cx="1691640" cy="502920"/>
          </a:xfrm>
          <a:prstGeom prst="rect">
            <a:avLst/>
          </a:prstGeom>
          <a:noFill/>
          <a:ln/>
        </p:spPr>
        <p:txBody>
          <a:bodyPr wrap="square" lIns="25400" tIns="25400" rIns="25400" bIns="25400" rtlCol="0" anchor="ctr"/>
          <a:lstStyle/>
          <a:p>
            <a:pPr indent="0" marL="0">
              <a:buNone/>
            </a:pPr>
            <a:r>
              <a:rPr lang="en-US" sz="850" i="1" dirty="0">
                <a:solidFill>
                  <a:srgbClr val="16A34A"/>
                </a:solidFill>
              </a:rPr>
              <a:t>"a person holding an identity card"</a:t>
            </a:r>
            <a:endParaRPr lang="en-US" sz="850" dirty="0"/>
          </a:p>
        </p:txBody>
      </p:sp>
      <p:sp>
        <p:nvSpPr>
          <p:cNvPr id="29" name="Shape 27"/>
          <p:cNvSpPr/>
          <p:nvPr/>
        </p:nvSpPr>
        <p:spPr>
          <a:xfrm>
            <a:off x="7223760" y="1600200"/>
            <a:ext cx="1783080" cy="502920"/>
          </a:xfrm>
          <a:prstGeom prst="rect">
            <a:avLst/>
          </a:prstGeom>
          <a:solidFill>
            <a:srgbClr val="FEF2F2"/>
          </a:solidFill>
          <a:ln w="12700">
            <a:solidFill>
              <a:srgbClr val="FCA5A5"/>
            </a:solidFill>
            <a:prstDash val="solid"/>
          </a:ln>
        </p:spPr>
      </p:sp>
      <p:sp>
        <p:nvSpPr>
          <p:cNvPr id="30" name="Text 28"/>
          <p:cNvSpPr/>
          <p:nvPr/>
        </p:nvSpPr>
        <p:spPr>
          <a:xfrm>
            <a:off x="7269480" y="1600200"/>
            <a:ext cx="1691640" cy="502920"/>
          </a:xfrm>
          <a:prstGeom prst="rect">
            <a:avLst/>
          </a:prstGeom>
          <a:noFill/>
          <a:ln/>
        </p:spPr>
        <p:txBody>
          <a:bodyPr wrap="square" lIns="25400" tIns="25400" rIns="25400" bIns="25400" rtlCol="0" anchor="ctr"/>
          <a:lstStyle/>
          <a:p>
            <a:pPr indent="0" marL="0">
              <a:buNone/>
            </a:pPr>
            <a:r>
              <a:rPr lang="en-US" sz="850" i="1" dirty="0">
                <a:solidFill>
                  <a:srgbClr val="DC2626"/>
                </a:solidFill>
              </a:rPr>
              <a:t>"a person without any card"</a:t>
            </a:r>
            <a:endParaRPr lang="en-US" sz="850" dirty="0"/>
          </a:p>
        </p:txBody>
      </p:sp>
      <p:sp>
        <p:nvSpPr>
          <p:cNvPr id="31" name="Text 29"/>
          <p:cNvSpPr/>
          <p:nvPr/>
        </p:nvSpPr>
        <p:spPr>
          <a:xfrm>
            <a:off x="7223760" y="822960"/>
            <a:ext cx="1783080" cy="228600"/>
          </a:xfrm>
          <a:prstGeom prst="rect">
            <a:avLst/>
          </a:prstGeom>
          <a:noFill/>
          <a:ln/>
        </p:spPr>
        <p:txBody>
          <a:bodyPr wrap="square" lIns="0" tIns="0" rIns="0" bIns="0" rtlCol="0" anchor="ctr"/>
          <a:lstStyle/>
          <a:p>
            <a:pPr indent="0" marL="0">
              <a:buNone/>
            </a:pPr>
            <a:r>
              <a:rPr lang="en-US" sz="900" b="1" dirty="0">
                <a:solidFill>
                  <a:srgbClr val="16A34A"/>
                </a:solidFill>
              </a:rPr>
              <a:t>Prompt A:</a:t>
            </a:r>
            <a:endParaRPr lang="en-US" sz="900" dirty="0"/>
          </a:p>
        </p:txBody>
      </p:sp>
      <p:sp>
        <p:nvSpPr>
          <p:cNvPr id="32" name="Text 30"/>
          <p:cNvSpPr/>
          <p:nvPr/>
        </p:nvSpPr>
        <p:spPr>
          <a:xfrm>
            <a:off x="7223760" y="1417320"/>
            <a:ext cx="1783080" cy="228600"/>
          </a:xfrm>
          <a:prstGeom prst="rect">
            <a:avLst/>
          </a:prstGeom>
          <a:noFill/>
          <a:ln/>
        </p:spPr>
        <p:txBody>
          <a:bodyPr wrap="square" lIns="0" tIns="0" rIns="0" bIns="0" rtlCol="0" anchor="ctr"/>
          <a:lstStyle/>
          <a:p>
            <a:pPr indent="0" marL="0">
              <a:buNone/>
            </a:pPr>
            <a:r>
              <a:rPr lang="en-US" sz="900" b="1" dirty="0">
                <a:solidFill>
                  <a:srgbClr val="DC2626"/>
                </a:solidFill>
              </a:rPr>
              <a:t>Prompt B:</a:t>
            </a:r>
            <a:endParaRPr lang="en-US" sz="900" dirty="0"/>
          </a:p>
        </p:txBody>
      </p:sp>
      <p:sp>
        <p:nvSpPr>
          <p:cNvPr id="33" name="Shape 31"/>
          <p:cNvSpPr/>
          <p:nvPr/>
        </p:nvSpPr>
        <p:spPr>
          <a:xfrm>
            <a:off x="274320" y="3429000"/>
            <a:ext cx="2057400" cy="1188720"/>
          </a:xfrm>
          <a:prstGeom prst="rect">
            <a:avLst/>
          </a:prstGeom>
          <a:solidFill>
            <a:srgbClr val="FAFAFA"/>
          </a:solidFill>
          <a:ln w="12700">
            <a:solidFill>
              <a:srgbClr val="7C3AED"/>
            </a:solidFill>
            <a:prstDash val="solid"/>
          </a:ln>
          <a:effectLst>
            <a:outerShdw sx="100000" sy="100000" kx="0" ky="0" algn="bl" rotWithShape="0" blurRad="76200" dist="25400" dir="8100000">
              <a:srgbClr val="000000">
                <a:alpha val="12000"/>
              </a:srgbClr>
            </a:outerShdw>
          </a:effectLst>
        </p:spPr>
      </p:sp>
      <p:sp>
        <p:nvSpPr>
          <p:cNvPr id="34" name="Shape 32"/>
          <p:cNvSpPr/>
          <p:nvPr/>
        </p:nvSpPr>
        <p:spPr>
          <a:xfrm>
            <a:off x="274320" y="3429000"/>
            <a:ext cx="2057400" cy="73152"/>
          </a:xfrm>
          <a:prstGeom prst="rect">
            <a:avLst/>
          </a:prstGeom>
          <a:solidFill>
            <a:srgbClr val="7C3AED"/>
          </a:solidFill>
          <a:ln w="12700">
            <a:solidFill>
              <a:srgbClr val="7C3AED"/>
            </a:solidFill>
            <a:prstDash val="solid"/>
          </a:ln>
        </p:spPr>
      </p:sp>
      <p:sp>
        <p:nvSpPr>
          <p:cNvPr id="35" name="Text 33"/>
          <p:cNvSpPr/>
          <p:nvPr/>
        </p:nvSpPr>
        <p:spPr>
          <a:xfrm>
            <a:off x="365760" y="3520440"/>
            <a:ext cx="1874520" cy="365760"/>
          </a:xfrm>
          <a:prstGeom prst="rect">
            <a:avLst/>
          </a:prstGeom>
          <a:noFill/>
          <a:ln/>
        </p:spPr>
        <p:txBody>
          <a:bodyPr wrap="square" lIns="0" tIns="0" rIns="0" bIns="0" rtlCol="0" anchor="ctr"/>
          <a:lstStyle/>
          <a:p>
            <a:pPr indent="0" marL="0">
              <a:buNone/>
            </a:pPr>
            <a:r>
              <a:rPr lang="en-US" sz="1100" b="1" dirty="0">
                <a:solidFill>
                  <a:srgbClr val="7C3AED"/>
                </a:solidFill>
              </a:rPr>
              <a:t>Zero Training Data</a:t>
            </a:r>
            <a:endParaRPr lang="en-US" sz="1100" dirty="0"/>
          </a:p>
        </p:txBody>
      </p:sp>
      <p:sp>
        <p:nvSpPr>
          <p:cNvPr id="36" name="Text 34"/>
          <p:cNvSpPr/>
          <p:nvPr/>
        </p:nvSpPr>
        <p:spPr>
          <a:xfrm>
            <a:off x="365760" y="3904488"/>
            <a:ext cx="1874520" cy="594360"/>
          </a:xfrm>
          <a:prstGeom prst="rect">
            <a:avLst/>
          </a:prstGeom>
          <a:noFill/>
          <a:ln/>
        </p:spPr>
        <p:txBody>
          <a:bodyPr wrap="square" lIns="0" tIns="0" rIns="0" bIns="0" rtlCol="0" anchor="ctr"/>
          <a:lstStyle/>
          <a:p>
            <a:pPr indent="0" marL="0">
              <a:buNone/>
            </a:pPr>
            <a:r>
              <a:rPr lang="en-US" sz="950" dirty="0">
                <a:solidFill>
                  <a:srgbClr val="1E293B"/>
                </a:solidFill>
              </a:rPr>
              <a:t>Tidak perlu kumpulkan dan label dataset sama sekali</a:t>
            </a:r>
            <a:endParaRPr lang="en-US" sz="950" dirty="0"/>
          </a:p>
        </p:txBody>
      </p:sp>
      <p:sp>
        <p:nvSpPr>
          <p:cNvPr id="37" name="Shape 35"/>
          <p:cNvSpPr/>
          <p:nvPr/>
        </p:nvSpPr>
        <p:spPr>
          <a:xfrm>
            <a:off x="2468880" y="3429000"/>
            <a:ext cx="2057400" cy="1188720"/>
          </a:xfrm>
          <a:prstGeom prst="rect">
            <a:avLst/>
          </a:prstGeom>
          <a:solidFill>
            <a:srgbClr val="FAFAFA"/>
          </a:solidFill>
          <a:ln w="12700">
            <a:solidFill>
              <a:srgbClr val="065A82"/>
            </a:solidFill>
            <a:prstDash val="solid"/>
          </a:ln>
          <a:effectLst>
            <a:outerShdw sx="100000" sy="100000" kx="0" ky="0" algn="bl" rotWithShape="0" blurRad="76200" dist="25400" dir="8100000">
              <a:srgbClr val="000000">
                <a:alpha val="12000"/>
              </a:srgbClr>
            </a:outerShdw>
          </a:effectLst>
        </p:spPr>
      </p:sp>
      <p:sp>
        <p:nvSpPr>
          <p:cNvPr id="38" name="Shape 36"/>
          <p:cNvSpPr/>
          <p:nvPr/>
        </p:nvSpPr>
        <p:spPr>
          <a:xfrm>
            <a:off x="2468880" y="3429000"/>
            <a:ext cx="2057400" cy="73152"/>
          </a:xfrm>
          <a:prstGeom prst="rect">
            <a:avLst/>
          </a:prstGeom>
          <a:solidFill>
            <a:srgbClr val="065A82"/>
          </a:solidFill>
          <a:ln w="12700">
            <a:solidFill>
              <a:srgbClr val="065A82"/>
            </a:solidFill>
            <a:prstDash val="solid"/>
          </a:ln>
        </p:spPr>
      </p:sp>
      <p:sp>
        <p:nvSpPr>
          <p:cNvPr id="39" name="Text 37"/>
          <p:cNvSpPr/>
          <p:nvPr/>
        </p:nvSpPr>
        <p:spPr>
          <a:xfrm>
            <a:off x="2560320" y="3520440"/>
            <a:ext cx="1874520" cy="365760"/>
          </a:xfrm>
          <a:prstGeom prst="rect">
            <a:avLst/>
          </a:prstGeom>
          <a:noFill/>
          <a:ln/>
        </p:spPr>
        <p:txBody>
          <a:bodyPr wrap="square" lIns="0" tIns="0" rIns="0" bIns="0" rtlCol="0" anchor="ctr"/>
          <a:lstStyle/>
          <a:p>
            <a:pPr indent="0" marL="0">
              <a:buNone/>
            </a:pPr>
            <a:r>
              <a:rPr lang="en-US" sz="1100" b="1" dirty="0">
                <a:solidFill>
                  <a:srgbClr val="065A82"/>
                </a:solidFill>
              </a:rPr>
              <a:t>Zero Training Time</a:t>
            </a:r>
            <a:endParaRPr lang="en-US" sz="1100" dirty="0"/>
          </a:p>
        </p:txBody>
      </p:sp>
      <p:sp>
        <p:nvSpPr>
          <p:cNvPr id="40" name="Text 38"/>
          <p:cNvSpPr/>
          <p:nvPr/>
        </p:nvSpPr>
        <p:spPr>
          <a:xfrm>
            <a:off x="2560320" y="3904488"/>
            <a:ext cx="1874520" cy="594360"/>
          </a:xfrm>
          <a:prstGeom prst="rect">
            <a:avLst/>
          </a:prstGeom>
          <a:noFill/>
          <a:ln/>
        </p:spPr>
        <p:txBody>
          <a:bodyPr wrap="square" lIns="0" tIns="0" rIns="0" bIns="0" rtlCol="0" anchor="ctr"/>
          <a:lstStyle/>
          <a:p>
            <a:pPr indent="0" marL="0">
              <a:buNone/>
            </a:pPr>
            <a:r>
              <a:rPr lang="en-US" sz="950" dirty="0">
                <a:solidFill>
                  <a:srgbClr val="1E293B"/>
                </a:solidFill>
              </a:rPr>
              <a:t>Langsung deploy hari pertama, tidak ada GPU cost</a:t>
            </a:r>
            <a:endParaRPr lang="en-US" sz="950" dirty="0"/>
          </a:p>
        </p:txBody>
      </p:sp>
      <p:sp>
        <p:nvSpPr>
          <p:cNvPr id="41" name="Shape 39"/>
          <p:cNvSpPr/>
          <p:nvPr/>
        </p:nvSpPr>
        <p:spPr>
          <a:xfrm>
            <a:off x="4663440" y="3429000"/>
            <a:ext cx="2057400" cy="1188720"/>
          </a:xfrm>
          <a:prstGeom prst="rect">
            <a:avLst/>
          </a:prstGeom>
          <a:solidFill>
            <a:srgbClr val="FAFAFA"/>
          </a:solidFill>
          <a:ln w="12700">
            <a:solidFill>
              <a:srgbClr val="0D9488"/>
            </a:solidFill>
            <a:prstDash val="solid"/>
          </a:ln>
          <a:effectLst>
            <a:outerShdw sx="100000" sy="100000" kx="0" ky="0" algn="bl" rotWithShape="0" blurRad="76200" dist="25400" dir="8100000">
              <a:srgbClr val="000000">
                <a:alpha val="12000"/>
              </a:srgbClr>
            </a:outerShdw>
          </a:effectLst>
        </p:spPr>
      </p:sp>
      <p:sp>
        <p:nvSpPr>
          <p:cNvPr id="42" name="Shape 40"/>
          <p:cNvSpPr/>
          <p:nvPr/>
        </p:nvSpPr>
        <p:spPr>
          <a:xfrm>
            <a:off x="4663440" y="3429000"/>
            <a:ext cx="2057400" cy="73152"/>
          </a:xfrm>
          <a:prstGeom prst="rect">
            <a:avLst/>
          </a:prstGeom>
          <a:solidFill>
            <a:srgbClr val="0D9488"/>
          </a:solidFill>
          <a:ln w="12700">
            <a:solidFill>
              <a:srgbClr val="0D9488"/>
            </a:solidFill>
            <a:prstDash val="solid"/>
          </a:ln>
        </p:spPr>
      </p:sp>
      <p:sp>
        <p:nvSpPr>
          <p:cNvPr id="43" name="Text 41"/>
          <p:cNvSpPr/>
          <p:nvPr/>
        </p:nvSpPr>
        <p:spPr>
          <a:xfrm>
            <a:off x="4754880" y="3520440"/>
            <a:ext cx="1874520" cy="365760"/>
          </a:xfrm>
          <a:prstGeom prst="rect">
            <a:avLst/>
          </a:prstGeom>
          <a:noFill/>
          <a:ln/>
        </p:spPr>
        <p:txBody>
          <a:bodyPr wrap="square" lIns="0" tIns="0" rIns="0" bIns="0" rtlCol="0" anchor="ctr"/>
          <a:lstStyle/>
          <a:p>
            <a:pPr indent="0" marL="0">
              <a:buNone/>
            </a:pPr>
            <a:r>
              <a:rPr lang="en-US" sz="1100" b="1" dirty="0">
                <a:solidFill>
                  <a:srgbClr val="0D9488"/>
                </a:solidFill>
              </a:rPr>
              <a:t>Built-in Robustness</a:t>
            </a:r>
            <a:endParaRPr lang="en-US" sz="1100" dirty="0"/>
          </a:p>
        </p:txBody>
      </p:sp>
      <p:sp>
        <p:nvSpPr>
          <p:cNvPr id="44" name="Text 42"/>
          <p:cNvSpPr/>
          <p:nvPr/>
        </p:nvSpPr>
        <p:spPr>
          <a:xfrm>
            <a:off x="4754880" y="3904488"/>
            <a:ext cx="1874520" cy="594360"/>
          </a:xfrm>
          <a:prstGeom prst="rect">
            <a:avLst/>
          </a:prstGeom>
          <a:noFill/>
          <a:ln/>
        </p:spPr>
        <p:txBody>
          <a:bodyPr wrap="square" lIns="0" tIns="0" rIns="0" bIns="0" rtlCol="0" anchor="ctr"/>
          <a:lstStyle/>
          <a:p>
            <a:pPr indent="0" marL="0">
              <a:buNone/>
            </a:pPr>
            <a:r>
              <a:rPr lang="en-US" sz="950" dirty="0">
                <a:solidFill>
                  <a:srgbClr val="1E293B"/>
                </a:solidFill>
              </a:rPr>
              <a:t>Di-train di 400M image-text pairs, sudah 'lihat' semua variasi</a:t>
            </a:r>
            <a:endParaRPr lang="en-US" sz="950" dirty="0"/>
          </a:p>
        </p:txBody>
      </p:sp>
      <p:sp>
        <p:nvSpPr>
          <p:cNvPr id="45" name="Shape 43"/>
          <p:cNvSpPr/>
          <p:nvPr/>
        </p:nvSpPr>
        <p:spPr>
          <a:xfrm>
            <a:off x="6858000" y="3429000"/>
            <a:ext cx="2057400" cy="1188720"/>
          </a:xfrm>
          <a:prstGeom prst="rect">
            <a:avLst/>
          </a:prstGeom>
          <a:solidFill>
            <a:srgbClr val="FAFAFA"/>
          </a:solidFill>
          <a:ln w="12700">
            <a:solidFill>
              <a:srgbClr val="059669"/>
            </a:solidFill>
            <a:prstDash val="solid"/>
          </a:ln>
          <a:effectLst>
            <a:outerShdw sx="100000" sy="100000" kx="0" ky="0" algn="bl" rotWithShape="0" blurRad="76200" dist="25400" dir="8100000">
              <a:srgbClr val="000000">
                <a:alpha val="12000"/>
              </a:srgbClr>
            </a:outerShdw>
          </a:effectLst>
        </p:spPr>
      </p:sp>
      <p:sp>
        <p:nvSpPr>
          <p:cNvPr id="46" name="Shape 44"/>
          <p:cNvSpPr/>
          <p:nvPr/>
        </p:nvSpPr>
        <p:spPr>
          <a:xfrm>
            <a:off x="6858000" y="3429000"/>
            <a:ext cx="2057400" cy="73152"/>
          </a:xfrm>
          <a:prstGeom prst="rect">
            <a:avLst/>
          </a:prstGeom>
          <a:solidFill>
            <a:srgbClr val="059669"/>
          </a:solidFill>
          <a:ln w="12700">
            <a:solidFill>
              <a:srgbClr val="059669"/>
            </a:solidFill>
            <a:prstDash val="solid"/>
          </a:ln>
        </p:spPr>
      </p:sp>
      <p:sp>
        <p:nvSpPr>
          <p:cNvPr id="47" name="Text 45"/>
          <p:cNvSpPr/>
          <p:nvPr/>
        </p:nvSpPr>
        <p:spPr>
          <a:xfrm>
            <a:off x="6949440" y="3520440"/>
            <a:ext cx="1874520" cy="365760"/>
          </a:xfrm>
          <a:prstGeom prst="rect">
            <a:avLst/>
          </a:prstGeom>
          <a:noFill/>
          <a:ln/>
        </p:spPr>
        <p:txBody>
          <a:bodyPr wrap="square" lIns="0" tIns="0" rIns="0" bIns="0" rtlCol="0" anchor="ctr"/>
          <a:lstStyle/>
          <a:p>
            <a:pPr indent="0" marL="0">
              <a:buNone/>
            </a:pPr>
            <a:r>
              <a:rPr lang="en-US" sz="1100" b="1" dirty="0">
                <a:solidFill>
                  <a:srgbClr val="059669"/>
                </a:solidFill>
              </a:rPr>
              <a:t>Baseline: 86%</a:t>
            </a:r>
            <a:endParaRPr lang="en-US" sz="1100" dirty="0"/>
          </a:p>
        </p:txBody>
      </p:sp>
      <p:sp>
        <p:nvSpPr>
          <p:cNvPr id="48" name="Text 46"/>
          <p:cNvSpPr/>
          <p:nvPr/>
        </p:nvSpPr>
        <p:spPr>
          <a:xfrm>
            <a:off x="6949440" y="3904488"/>
            <a:ext cx="1874520" cy="594360"/>
          </a:xfrm>
          <a:prstGeom prst="rect">
            <a:avLst/>
          </a:prstGeom>
          <a:noFill/>
          <a:ln/>
        </p:spPr>
        <p:txBody>
          <a:bodyPr wrap="square" lIns="0" tIns="0" rIns="0" bIns="0" rtlCol="0" anchor="ctr"/>
          <a:lstStyle/>
          <a:p>
            <a:pPr indent="0" marL="0">
              <a:buNone/>
            </a:pPr>
            <a:r>
              <a:rPr lang="en-US" sz="950" dirty="0">
                <a:solidFill>
                  <a:srgbClr val="1E293B"/>
                </a:solidFill>
              </a:rPr>
              <a:t>Akurasi 86% dari 50 gambar tanpa training apapun</a:t>
            </a:r>
            <a:endParaRPr lang="en-US" sz="950" dirty="0"/>
          </a:p>
        </p:txBody>
      </p:sp>
      <p:sp>
        <p:nvSpPr>
          <p:cNvPr id="49" name="Shape 47"/>
          <p:cNvSpPr/>
          <p:nvPr/>
        </p:nvSpPr>
        <p:spPr>
          <a:xfrm>
            <a:off x="228600" y="4727448"/>
            <a:ext cx="8686800" cy="274320"/>
          </a:xfrm>
          <a:prstGeom prst="rect">
            <a:avLst/>
          </a:prstGeom>
          <a:solidFill>
            <a:srgbClr val="DCCFF5"/>
          </a:solidFill>
          <a:ln w="12700">
            <a:solidFill>
              <a:srgbClr val="9071DD"/>
            </a:solidFill>
            <a:prstDash val="solid"/>
          </a:ln>
        </p:spPr>
      </p:sp>
      <p:sp>
        <p:nvSpPr>
          <p:cNvPr id="50" name="Text 48"/>
          <p:cNvSpPr/>
          <p:nvPr/>
        </p:nvSpPr>
        <p:spPr>
          <a:xfrm>
            <a:off x="274320" y="4727448"/>
            <a:ext cx="8595360" cy="274320"/>
          </a:xfrm>
          <a:prstGeom prst="rect">
            <a:avLst/>
          </a:prstGeom>
          <a:noFill/>
          <a:ln/>
        </p:spPr>
        <p:txBody>
          <a:bodyPr wrap="square" lIns="0" tIns="0" rIns="0" bIns="0" rtlCol="0" anchor="ctr"/>
          <a:lstStyle/>
          <a:p>
            <a:pPr algn="ctr" indent="0" marL="0">
              <a:buNone/>
            </a:pPr>
            <a:r>
              <a:rPr lang="en-US" sz="1000" b="1" dirty="0">
                <a:solidFill>
                  <a:srgbClr val="7C3AED"/>
                </a:solidFill>
              </a:rPr>
              <a:t>Model size: ~600MB (ViT-B/32)   |   Inference: 1–3 detik (CPU)   |   Training: TIDAK ADA</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91440"/>
            <a:ext cx="8412480" cy="457200"/>
          </a:xfrm>
          <a:prstGeom prst="rect">
            <a:avLst/>
          </a:prstGeom>
          <a:noFill/>
          <a:ln/>
        </p:spPr>
        <p:txBody>
          <a:bodyPr wrap="square" rtlCol="0" anchor="ctr"/>
          <a:lstStyle/>
          <a:p>
            <a:pPr indent="0" marL="0">
              <a:buNone/>
            </a:pPr>
            <a:r>
              <a:rPr lang="en-US" sz="2600" b="1" dirty="0">
                <a:solidFill>
                  <a:srgbClr val="065A82"/>
                </a:solidFill>
                <a:latin typeface="Trebuchet MS" pitchFamily="34" charset="0"/>
                <a:ea typeface="Trebuchet MS" pitchFamily="34" charset="-122"/>
                <a:cs typeface="Trebuchet MS" pitchFamily="34" charset="-120"/>
              </a:rPr>
              <a:t>Perbandingan Langsung</a:t>
            </a:r>
            <a:endParaRPr lang="en-US" sz="2600" dirty="0"/>
          </a:p>
        </p:txBody>
      </p:sp>
      <p:sp>
        <p:nvSpPr>
          <p:cNvPr id="3" name="Shape 1"/>
          <p:cNvSpPr/>
          <p:nvPr/>
        </p:nvSpPr>
        <p:spPr>
          <a:xfrm>
            <a:off x="320040" y="594360"/>
            <a:ext cx="2560320" cy="384048"/>
          </a:xfrm>
          <a:prstGeom prst="rect">
            <a:avLst/>
          </a:prstGeom>
          <a:solidFill>
            <a:srgbClr val="065A82"/>
          </a:solidFill>
          <a:ln w="12700">
            <a:solidFill>
              <a:srgbClr val="065A82"/>
            </a:solidFill>
            <a:prstDash val="solid"/>
          </a:ln>
        </p:spPr>
      </p:sp>
      <p:sp>
        <p:nvSpPr>
          <p:cNvPr id="4" name="Text 2"/>
          <p:cNvSpPr/>
          <p:nvPr/>
        </p:nvSpPr>
        <p:spPr>
          <a:xfrm>
            <a:off x="320040" y="594360"/>
            <a:ext cx="2560320" cy="384048"/>
          </a:xfrm>
          <a:prstGeom prst="rect">
            <a:avLst/>
          </a:prstGeom>
          <a:noFill/>
          <a:ln/>
        </p:spPr>
        <p:txBody>
          <a:bodyPr wrap="square" lIns="0" tIns="0" rIns="0" bIns="0" rtlCol="0" anchor="ctr"/>
          <a:lstStyle/>
          <a:p>
            <a:pPr algn="ctr" indent="0" marL="0">
              <a:buNone/>
            </a:pPr>
            <a:r>
              <a:rPr lang="en-US" sz="1200" b="1" dirty="0">
                <a:solidFill>
                  <a:srgbClr val="FFFFFF"/>
                </a:solidFill>
              </a:rPr>
              <a:t>Kriteria</a:t>
            </a:r>
            <a:endParaRPr lang="en-US" sz="1200" dirty="0"/>
          </a:p>
        </p:txBody>
      </p:sp>
      <p:sp>
        <p:nvSpPr>
          <p:cNvPr id="5" name="Shape 3"/>
          <p:cNvSpPr/>
          <p:nvPr/>
        </p:nvSpPr>
        <p:spPr>
          <a:xfrm>
            <a:off x="2880360" y="594360"/>
            <a:ext cx="1965960" cy="384048"/>
          </a:xfrm>
          <a:prstGeom prst="rect">
            <a:avLst/>
          </a:prstGeom>
          <a:solidFill>
            <a:srgbClr val="0D9488"/>
          </a:solidFill>
          <a:ln w="12700">
            <a:solidFill>
              <a:srgbClr val="0D9488"/>
            </a:solidFill>
            <a:prstDash val="solid"/>
          </a:ln>
        </p:spPr>
      </p:sp>
      <p:sp>
        <p:nvSpPr>
          <p:cNvPr id="6" name="Text 4"/>
          <p:cNvSpPr/>
          <p:nvPr/>
        </p:nvSpPr>
        <p:spPr>
          <a:xfrm>
            <a:off x="2880360" y="594360"/>
            <a:ext cx="1965960" cy="384048"/>
          </a:xfrm>
          <a:prstGeom prst="rect">
            <a:avLst/>
          </a:prstGeom>
          <a:noFill/>
          <a:ln/>
        </p:spPr>
        <p:txBody>
          <a:bodyPr wrap="square" lIns="0" tIns="0" rIns="0" bIns="0" rtlCol="0" anchor="ctr"/>
          <a:lstStyle/>
          <a:p>
            <a:pPr algn="ctr" indent="0" marL="0">
              <a:buNone/>
            </a:pPr>
            <a:r>
              <a:rPr lang="en-US" sz="1200" b="1" dirty="0">
                <a:solidFill>
                  <a:srgbClr val="FFFFFF"/>
                </a:solidFill>
              </a:rPr>
              <a:t>MobileNetV3</a:t>
            </a:r>
            <a:endParaRPr lang="en-US" sz="1200" dirty="0"/>
          </a:p>
        </p:txBody>
      </p:sp>
      <p:sp>
        <p:nvSpPr>
          <p:cNvPr id="7" name="Shape 5"/>
          <p:cNvSpPr/>
          <p:nvPr/>
        </p:nvSpPr>
        <p:spPr>
          <a:xfrm>
            <a:off x="4846320" y="594360"/>
            <a:ext cx="1965960" cy="384048"/>
          </a:xfrm>
          <a:prstGeom prst="rect">
            <a:avLst/>
          </a:prstGeom>
          <a:solidFill>
            <a:srgbClr val="D97706"/>
          </a:solidFill>
          <a:ln w="12700">
            <a:solidFill>
              <a:srgbClr val="D97706"/>
            </a:solidFill>
            <a:prstDash val="solid"/>
          </a:ln>
        </p:spPr>
      </p:sp>
      <p:sp>
        <p:nvSpPr>
          <p:cNvPr id="8" name="Text 6"/>
          <p:cNvSpPr/>
          <p:nvPr/>
        </p:nvSpPr>
        <p:spPr>
          <a:xfrm>
            <a:off x="4846320" y="594360"/>
            <a:ext cx="1965960" cy="384048"/>
          </a:xfrm>
          <a:prstGeom prst="rect">
            <a:avLst/>
          </a:prstGeom>
          <a:noFill/>
          <a:ln/>
        </p:spPr>
        <p:txBody>
          <a:bodyPr wrap="square" lIns="0" tIns="0" rIns="0" bIns="0" rtlCol="0" anchor="ctr"/>
          <a:lstStyle/>
          <a:p>
            <a:pPr algn="ctr" indent="0" marL="0">
              <a:buNone/>
            </a:pPr>
            <a:r>
              <a:rPr lang="en-US" sz="1200" b="1" dirty="0">
                <a:solidFill>
                  <a:srgbClr val="FFFFFF"/>
                </a:solidFill>
              </a:rPr>
              <a:t>XGBoost</a:t>
            </a:r>
            <a:endParaRPr lang="en-US" sz="1200" dirty="0"/>
          </a:p>
        </p:txBody>
      </p:sp>
      <p:sp>
        <p:nvSpPr>
          <p:cNvPr id="9" name="Shape 7"/>
          <p:cNvSpPr/>
          <p:nvPr/>
        </p:nvSpPr>
        <p:spPr>
          <a:xfrm>
            <a:off x="6812280" y="594360"/>
            <a:ext cx="1965960" cy="384048"/>
          </a:xfrm>
          <a:prstGeom prst="rect">
            <a:avLst/>
          </a:prstGeom>
          <a:solidFill>
            <a:srgbClr val="7C3AED"/>
          </a:solidFill>
          <a:ln w="12700">
            <a:solidFill>
              <a:srgbClr val="7C3AED"/>
            </a:solidFill>
            <a:prstDash val="solid"/>
          </a:ln>
        </p:spPr>
      </p:sp>
      <p:sp>
        <p:nvSpPr>
          <p:cNvPr id="10" name="Text 8"/>
          <p:cNvSpPr/>
          <p:nvPr/>
        </p:nvSpPr>
        <p:spPr>
          <a:xfrm>
            <a:off x="6812280" y="594360"/>
            <a:ext cx="1965960" cy="384048"/>
          </a:xfrm>
          <a:prstGeom prst="rect">
            <a:avLst/>
          </a:prstGeom>
          <a:noFill/>
          <a:ln/>
        </p:spPr>
        <p:txBody>
          <a:bodyPr wrap="square" lIns="0" tIns="0" rIns="0" bIns="0" rtlCol="0" anchor="ctr"/>
          <a:lstStyle/>
          <a:p>
            <a:pPr algn="ctr" indent="0" marL="0">
              <a:buNone/>
            </a:pPr>
            <a:r>
              <a:rPr lang="en-US" sz="1200" b="1" dirty="0">
                <a:solidFill>
                  <a:srgbClr val="FFFFFF"/>
                </a:solidFill>
              </a:rPr>
              <a:t>OpenCLIP</a:t>
            </a:r>
            <a:endParaRPr lang="en-US" sz="1200" dirty="0"/>
          </a:p>
        </p:txBody>
      </p:sp>
      <p:sp>
        <p:nvSpPr>
          <p:cNvPr id="11" name="Shape 9"/>
          <p:cNvSpPr/>
          <p:nvPr/>
        </p:nvSpPr>
        <p:spPr>
          <a:xfrm>
            <a:off x="320040" y="1024128"/>
            <a:ext cx="8458200" cy="393192"/>
          </a:xfrm>
          <a:prstGeom prst="rect">
            <a:avLst/>
          </a:prstGeom>
          <a:solidFill>
            <a:srgbClr val="F8FAFC"/>
          </a:solidFill>
          <a:ln w="6350">
            <a:solidFill>
              <a:srgbClr val="E2E8F0"/>
            </a:solidFill>
            <a:prstDash val="solid"/>
          </a:ln>
        </p:spPr>
      </p:sp>
      <p:sp>
        <p:nvSpPr>
          <p:cNvPr id="12" name="Text 10"/>
          <p:cNvSpPr/>
          <p:nvPr/>
        </p:nvSpPr>
        <p:spPr>
          <a:xfrm>
            <a:off x="365760" y="1024128"/>
            <a:ext cx="2468880" cy="393192"/>
          </a:xfrm>
          <a:prstGeom prst="rect">
            <a:avLst/>
          </a:prstGeom>
          <a:noFill/>
          <a:ln/>
        </p:spPr>
        <p:txBody>
          <a:bodyPr wrap="square" lIns="50800" tIns="50800" rIns="50800" bIns="50800" rtlCol="0" anchor="ctr"/>
          <a:lstStyle/>
          <a:p>
            <a:pPr indent="0" marL="0">
              <a:buNone/>
            </a:pPr>
            <a:r>
              <a:rPr lang="en-US" sz="1050" b="1" dirty="0">
                <a:solidFill>
                  <a:srgbClr val="1E293B"/>
                </a:solidFill>
              </a:rPr>
              <a:t>Inference Speed (CPU)</a:t>
            </a:r>
            <a:endParaRPr lang="en-US" sz="1050" dirty="0"/>
          </a:p>
        </p:txBody>
      </p:sp>
      <p:sp>
        <p:nvSpPr>
          <p:cNvPr id="13" name="Shape 11"/>
          <p:cNvSpPr/>
          <p:nvPr/>
        </p:nvSpPr>
        <p:spPr>
          <a:xfrm>
            <a:off x="2880360" y="1024128"/>
            <a:ext cx="1965960" cy="393192"/>
          </a:xfrm>
          <a:prstGeom prst="rect">
            <a:avLst/>
          </a:prstGeom>
          <a:solidFill>
            <a:srgbClr val="D1FAE5"/>
          </a:solidFill>
          <a:ln w="12700">
            <a:solidFill>
              <a:srgbClr val="6EE7B7"/>
            </a:solidFill>
            <a:prstDash val="solid"/>
          </a:ln>
        </p:spPr>
      </p:sp>
      <p:sp>
        <p:nvSpPr>
          <p:cNvPr id="14" name="Text 12"/>
          <p:cNvSpPr/>
          <p:nvPr/>
        </p:nvSpPr>
        <p:spPr>
          <a:xfrm>
            <a:off x="2880360" y="1024128"/>
            <a:ext cx="1965960" cy="393192"/>
          </a:xfrm>
          <a:prstGeom prst="rect">
            <a:avLst/>
          </a:prstGeom>
          <a:noFill/>
          <a:ln/>
        </p:spPr>
        <p:txBody>
          <a:bodyPr wrap="square" lIns="25400" tIns="25400" rIns="25400" bIns="25400" rtlCol="0" anchor="ctr"/>
          <a:lstStyle/>
          <a:p>
            <a:pPr algn="ctr" indent="0" marL="0">
              <a:buNone/>
            </a:pPr>
            <a:r>
              <a:rPr lang="en-US" sz="1000" b="1" dirty="0">
                <a:solidFill>
                  <a:srgbClr val="065F46"/>
                </a:solidFill>
              </a:rPr>
              <a:t>&lt;100ms ⚡</a:t>
            </a:r>
            <a:endParaRPr lang="en-US" sz="1000" dirty="0"/>
          </a:p>
        </p:txBody>
      </p:sp>
      <p:sp>
        <p:nvSpPr>
          <p:cNvPr id="15" name="Shape 13"/>
          <p:cNvSpPr/>
          <p:nvPr/>
        </p:nvSpPr>
        <p:spPr>
          <a:xfrm>
            <a:off x="4846320" y="1024128"/>
            <a:ext cx="1965960" cy="393192"/>
          </a:xfrm>
          <a:prstGeom prst="rect">
            <a:avLst/>
          </a:prstGeom>
          <a:solidFill>
            <a:srgbClr val="D1FAE5"/>
          </a:solidFill>
          <a:ln w="12700">
            <a:solidFill>
              <a:srgbClr val="6EE7B7"/>
            </a:solidFill>
            <a:prstDash val="solid"/>
          </a:ln>
        </p:spPr>
      </p:sp>
      <p:sp>
        <p:nvSpPr>
          <p:cNvPr id="16" name="Text 14"/>
          <p:cNvSpPr/>
          <p:nvPr/>
        </p:nvSpPr>
        <p:spPr>
          <a:xfrm>
            <a:off x="4846320" y="1024128"/>
            <a:ext cx="1965960" cy="393192"/>
          </a:xfrm>
          <a:prstGeom prst="rect">
            <a:avLst/>
          </a:prstGeom>
          <a:noFill/>
          <a:ln/>
        </p:spPr>
        <p:txBody>
          <a:bodyPr wrap="square" lIns="25400" tIns="25400" rIns="25400" bIns="25400" rtlCol="0" anchor="ctr"/>
          <a:lstStyle/>
          <a:p>
            <a:pPr algn="ctr" indent="0" marL="0">
              <a:buNone/>
            </a:pPr>
            <a:r>
              <a:rPr lang="en-US" sz="1000" b="1" dirty="0">
                <a:solidFill>
                  <a:srgbClr val="065F46"/>
                </a:solidFill>
              </a:rPr>
              <a:t>&lt;50ms ⚡⚡</a:t>
            </a:r>
            <a:endParaRPr lang="en-US" sz="1000" dirty="0"/>
          </a:p>
        </p:txBody>
      </p:sp>
      <p:sp>
        <p:nvSpPr>
          <p:cNvPr id="17" name="Text 15"/>
          <p:cNvSpPr/>
          <p:nvPr/>
        </p:nvSpPr>
        <p:spPr>
          <a:xfrm>
            <a:off x="6812280" y="1024128"/>
            <a:ext cx="1965960" cy="393192"/>
          </a:xfrm>
          <a:prstGeom prst="rect">
            <a:avLst/>
          </a:prstGeom>
          <a:noFill/>
          <a:ln/>
        </p:spPr>
        <p:txBody>
          <a:bodyPr wrap="square" lIns="25400" tIns="25400" rIns="25400" bIns="25400" rtlCol="0" anchor="ctr"/>
          <a:lstStyle/>
          <a:p>
            <a:pPr algn="ctr" indent="0" marL="0">
              <a:buNone/>
            </a:pPr>
            <a:r>
              <a:rPr lang="en-US" sz="1000" dirty="0">
                <a:solidFill>
                  <a:srgbClr val="1E293B"/>
                </a:solidFill>
              </a:rPr>
              <a:t>1–3 detik</a:t>
            </a:r>
            <a:endParaRPr lang="en-US" sz="1000" dirty="0"/>
          </a:p>
        </p:txBody>
      </p:sp>
      <p:sp>
        <p:nvSpPr>
          <p:cNvPr id="18" name="Shape 16"/>
          <p:cNvSpPr/>
          <p:nvPr/>
        </p:nvSpPr>
        <p:spPr>
          <a:xfrm>
            <a:off x="320040" y="1444752"/>
            <a:ext cx="8458200" cy="393192"/>
          </a:xfrm>
          <a:prstGeom prst="rect">
            <a:avLst/>
          </a:prstGeom>
          <a:solidFill>
            <a:srgbClr val="FFFFFF"/>
          </a:solidFill>
          <a:ln w="6350">
            <a:solidFill>
              <a:srgbClr val="E2E8F0"/>
            </a:solidFill>
            <a:prstDash val="solid"/>
          </a:ln>
        </p:spPr>
      </p:sp>
      <p:sp>
        <p:nvSpPr>
          <p:cNvPr id="19" name="Text 17"/>
          <p:cNvSpPr/>
          <p:nvPr/>
        </p:nvSpPr>
        <p:spPr>
          <a:xfrm>
            <a:off x="365760" y="1444752"/>
            <a:ext cx="2468880" cy="393192"/>
          </a:xfrm>
          <a:prstGeom prst="rect">
            <a:avLst/>
          </a:prstGeom>
          <a:noFill/>
          <a:ln/>
        </p:spPr>
        <p:txBody>
          <a:bodyPr wrap="square" lIns="50800" tIns="50800" rIns="50800" bIns="50800" rtlCol="0" anchor="ctr"/>
          <a:lstStyle/>
          <a:p>
            <a:pPr indent="0" marL="0">
              <a:buNone/>
            </a:pPr>
            <a:r>
              <a:rPr lang="en-US" sz="1050" b="1" dirty="0">
                <a:solidFill>
                  <a:srgbClr val="1E293B"/>
                </a:solidFill>
              </a:rPr>
              <a:t>Model Size</a:t>
            </a:r>
            <a:endParaRPr lang="en-US" sz="1050" dirty="0"/>
          </a:p>
        </p:txBody>
      </p:sp>
      <p:sp>
        <p:nvSpPr>
          <p:cNvPr id="20" name="Text 18"/>
          <p:cNvSpPr/>
          <p:nvPr/>
        </p:nvSpPr>
        <p:spPr>
          <a:xfrm>
            <a:off x="2880360" y="1444752"/>
            <a:ext cx="1965960" cy="393192"/>
          </a:xfrm>
          <a:prstGeom prst="rect">
            <a:avLst/>
          </a:prstGeom>
          <a:noFill/>
          <a:ln/>
        </p:spPr>
        <p:txBody>
          <a:bodyPr wrap="square" lIns="25400" tIns="25400" rIns="25400" bIns="25400" rtlCol="0" anchor="ctr"/>
          <a:lstStyle/>
          <a:p>
            <a:pPr algn="ctr" indent="0" marL="0">
              <a:buNone/>
            </a:pPr>
            <a:r>
              <a:rPr lang="en-US" sz="1000" dirty="0">
                <a:solidFill>
                  <a:srgbClr val="1E293B"/>
                </a:solidFill>
              </a:rPr>
              <a:t>~14MB</a:t>
            </a:r>
            <a:endParaRPr lang="en-US" sz="1000" dirty="0"/>
          </a:p>
        </p:txBody>
      </p:sp>
      <p:sp>
        <p:nvSpPr>
          <p:cNvPr id="21" name="Shape 19"/>
          <p:cNvSpPr/>
          <p:nvPr/>
        </p:nvSpPr>
        <p:spPr>
          <a:xfrm>
            <a:off x="4846320" y="1444752"/>
            <a:ext cx="1965960" cy="393192"/>
          </a:xfrm>
          <a:prstGeom prst="rect">
            <a:avLst/>
          </a:prstGeom>
          <a:solidFill>
            <a:srgbClr val="D1FAE5"/>
          </a:solidFill>
          <a:ln w="12700">
            <a:solidFill>
              <a:srgbClr val="6EE7B7"/>
            </a:solidFill>
            <a:prstDash val="solid"/>
          </a:ln>
        </p:spPr>
      </p:sp>
      <p:sp>
        <p:nvSpPr>
          <p:cNvPr id="22" name="Text 20"/>
          <p:cNvSpPr/>
          <p:nvPr/>
        </p:nvSpPr>
        <p:spPr>
          <a:xfrm>
            <a:off x="4846320" y="1444752"/>
            <a:ext cx="1965960" cy="393192"/>
          </a:xfrm>
          <a:prstGeom prst="rect">
            <a:avLst/>
          </a:prstGeom>
          <a:noFill/>
          <a:ln/>
        </p:spPr>
        <p:txBody>
          <a:bodyPr wrap="square" lIns="25400" tIns="25400" rIns="25400" bIns="25400" rtlCol="0" anchor="ctr"/>
          <a:lstStyle/>
          <a:p>
            <a:pPr algn="ctr" indent="0" marL="0">
              <a:buNone/>
            </a:pPr>
            <a:r>
              <a:rPr lang="en-US" sz="1000" b="1" dirty="0">
                <a:solidFill>
                  <a:srgbClr val="065F46"/>
                </a:solidFill>
              </a:rPr>
              <a:t>&lt;1MB</a:t>
            </a:r>
            <a:endParaRPr lang="en-US" sz="1000" dirty="0"/>
          </a:p>
        </p:txBody>
      </p:sp>
      <p:sp>
        <p:nvSpPr>
          <p:cNvPr id="23" name="Text 21"/>
          <p:cNvSpPr/>
          <p:nvPr/>
        </p:nvSpPr>
        <p:spPr>
          <a:xfrm>
            <a:off x="6812280" y="1444752"/>
            <a:ext cx="1965960" cy="393192"/>
          </a:xfrm>
          <a:prstGeom prst="rect">
            <a:avLst/>
          </a:prstGeom>
          <a:noFill/>
          <a:ln/>
        </p:spPr>
        <p:txBody>
          <a:bodyPr wrap="square" lIns="25400" tIns="25400" rIns="25400" bIns="25400" rtlCol="0" anchor="ctr"/>
          <a:lstStyle/>
          <a:p>
            <a:pPr algn="ctr" indent="0" marL="0">
              <a:buNone/>
            </a:pPr>
            <a:r>
              <a:rPr lang="en-US" sz="1000" dirty="0">
                <a:solidFill>
                  <a:srgbClr val="1E293B"/>
                </a:solidFill>
              </a:rPr>
              <a:t>~600MB</a:t>
            </a:r>
            <a:endParaRPr lang="en-US" sz="1000" dirty="0"/>
          </a:p>
        </p:txBody>
      </p:sp>
      <p:sp>
        <p:nvSpPr>
          <p:cNvPr id="24" name="Shape 22"/>
          <p:cNvSpPr/>
          <p:nvPr/>
        </p:nvSpPr>
        <p:spPr>
          <a:xfrm>
            <a:off x="320040" y="1865376"/>
            <a:ext cx="8458200" cy="393192"/>
          </a:xfrm>
          <a:prstGeom prst="rect">
            <a:avLst/>
          </a:prstGeom>
          <a:solidFill>
            <a:srgbClr val="F8FAFC"/>
          </a:solidFill>
          <a:ln w="6350">
            <a:solidFill>
              <a:srgbClr val="E2E8F0"/>
            </a:solidFill>
            <a:prstDash val="solid"/>
          </a:ln>
        </p:spPr>
      </p:sp>
      <p:sp>
        <p:nvSpPr>
          <p:cNvPr id="25" name="Text 23"/>
          <p:cNvSpPr/>
          <p:nvPr/>
        </p:nvSpPr>
        <p:spPr>
          <a:xfrm>
            <a:off x="365760" y="1865376"/>
            <a:ext cx="2468880" cy="393192"/>
          </a:xfrm>
          <a:prstGeom prst="rect">
            <a:avLst/>
          </a:prstGeom>
          <a:noFill/>
          <a:ln/>
        </p:spPr>
        <p:txBody>
          <a:bodyPr wrap="square" lIns="50800" tIns="50800" rIns="50800" bIns="50800" rtlCol="0" anchor="ctr"/>
          <a:lstStyle/>
          <a:p>
            <a:pPr indent="0" marL="0">
              <a:buNone/>
            </a:pPr>
            <a:r>
              <a:rPr lang="en-US" sz="1050" b="1" dirty="0">
                <a:solidFill>
                  <a:srgbClr val="1E293B"/>
                </a:solidFill>
              </a:rPr>
              <a:t>Training Data Needed</a:t>
            </a:r>
            <a:endParaRPr lang="en-US" sz="1050" dirty="0"/>
          </a:p>
        </p:txBody>
      </p:sp>
      <p:sp>
        <p:nvSpPr>
          <p:cNvPr id="26" name="Text 24"/>
          <p:cNvSpPr/>
          <p:nvPr/>
        </p:nvSpPr>
        <p:spPr>
          <a:xfrm>
            <a:off x="2880360" y="1865376"/>
            <a:ext cx="1965960" cy="393192"/>
          </a:xfrm>
          <a:prstGeom prst="rect">
            <a:avLst/>
          </a:prstGeom>
          <a:noFill/>
          <a:ln/>
        </p:spPr>
        <p:txBody>
          <a:bodyPr wrap="square" lIns="25400" tIns="25400" rIns="25400" bIns="25400" rtlCol="0" anchor="ctr"/>
          <a:lstStyle/>
          <a:p>
            <a:pPr algn="ctr" indent="0" marL="0">
              <a:buNone/>
            </a:pPr>
            <a:r>
              <a:rPr lang="en-US" sz="1000" dirty="0">
                <a:solidFill>
                  <a:srgbClr val="1E293B"/>
                </a:solidFill>
              </a:rPr>
              <a:t>2000–5000 images</a:t>
            </a:r>
            <a:endParaRPr lang="en-US" sz="1000" dirty="0"/>
          </a:p>
        </p:txBody>
      </p:sp>
      <p:sp>
        <p:nvSpPr>
          <p:cNvPr id="27" name="Text 25"/>
          <p:cNvSpPr/>
          <p:nvPr/>
        </p:nvSpPr>
        <p:spPr>
          <a:xfrm>
            <a:off x="4846320" y="1865376"/>
            <a:ext cx="1965960" cy="393192"/>
          </a:xfrm>
          <a:prstGeom prst="rect">
            <a:avLst/>
          </a:prstGeom>
          <a:noFill/>
          <a:ln/>
        </p:spPr>
        <p:txBody>
          <a:bodyPr wrap="square" lIns="25400" tIns="25400" rIns="25400" bIns="25400" rtlCol="0" anchor="ctr"/>
          <a:lstStyle/>
          <a:p>
            <a:pPr algn="ctr" indent="0" marL="0">
              <a:buNone/>
            </a:pPr>
            <a:r>
              <a:rPr lang="en-US" sz="1000" dirty="0">
                <a:solidFill>
                  <a:srgbClr val="1E293B"/>
                </a:solidFill>
              </a:rPr>
              <a:t>2000–5000 images</a:t>
            </a:r>
            <a:endParaRPr lang="en-US" sz="1000" dirty="0"/>
          </a:p>
        </p:txBody>
      </p:sp>
      <p:sp>
        <p:nvSpPr>
          <p:cNvPr id="28" name="Shape 26"/>
          <p:cNvSpPr/>
          <p:nvPr/>
        </p:nvSpPr>
        <p:spPr>
          <a:xfrm>
            <a:off x="6812280" y="1865376"/>
            <a:ext cx="1965960" cy="393192"/>
          </a:xfrm>
          <a:prstGeom prst="rect">
            <a:avLst/>
          </a:prstGeom>
          <a:solidFill>
            <a:srgbClr val="D1FAE5"/>
          </a:solidFill>
          <a:ln w="12700">
            <a:solidFill>
              <a:srgbClr val="6EE7B7"/>
            </a:solidFill>
            <a:prstDash val="solid"/>
          </a:ln>
        </p:spPr>
      </p:sp>
      <p:sp>
        <p:nvSpPr>
          <p:cNvPr id="29" name="Text 27"/>
          <p:cNvSpPr/>
          <p:nvPr/>
        </p:nvSpPr>
        <p:spPr>
          <a:xfrm>
            <a:off x="6812280" y="1865376"/>
            <a:ext cx="1965960" cy="393192"/>
          </a:xfrm>
          <a:prstGeom prst="rect">
            <a:avLst/>
          </a:prstGeom>
          <a:noFill/>
          <a:ln/>
        </p:spPr>
        <p:txBody>
          <a:bodyPr wrap="square" lIns="25400" tIns="25400" rIns="25400" bIns="25400" rtlCol="0" anchor="ctr"/>
          <a:lstStyle/>
          <a:p>
            <a:pPr algn="ctr" indent="0" marL="0">
              <a:buNone/>
            </a:pPr>
            <a:r>
              <a:rPr lang="en-US" sz="1000" b="1" dirty="0">
                <a:solidFill>
                  <a:srgbClr val="065F46"/>
                </a:solidFill>
              </a:rPr>
              <a:t>Tidak perlu ✓</a:t>
            </a:r>
            <a:endParaRPr lang="en-US" sz="1000" dirty="0"/>
          </a:p>
        </p:txBody>
      </p:sp>
      <p:sp>
        <p:nvSpPr>
          <p:cNvPr id="30" name="Shape 28"/>
          <p:cNvSpPr/>
          <p:nvPr/>
        </p:nvSpPr>
        <p:spPr>
          <a:xfrm>
            <a:off x="320040" y="2286000"/>
            <a:ext cx="8458200" cy="393192"/>
          </a:xfrm>
          <a:prstGeom prst="rect">
            <a:avLst/>
          </a:prstGeom>
          <a:solidFill>
            <a:srgbClr val="FFFFFF"/>
          </a:solidFill>
          <a:ln w="6350">
            <a:solidFill>
              <a:srgbClr val="E2E8F0"/>
            </a:solidFill>
            <a:prstDash val="solid"/>
          </a:ln>
        </p:spPr>
      </p:sp>
      <p:sp>
        <p:nvSpPr>
          <p:cNvPr id="31" name="Text 29"/>
          <p:cNvSpPr/>
          <p:nvPr/>
        </p:nvSpPr>
        <p:spPr>
          <a:xfrm>
            <a:off x="365760" y="2286000"/>
            <a:ext cx="2468880" cy="393192"/>
          </a:xfrm>
          <a:prstGeom prst="rect">
            <a:avLst/>
          </a:prstGeom>
          <a:noFill/>
          <a:ln/>
        </p:spPr>
        <p:txBody>
          <a:bodyPr wrap="square" lIns="50800" tIns="50800" rIns="50800" bIns="50800" rtlCol="0" anchor="ctr"/>
          <a:lstStyle/>
          <a:p>
            <a:pPr indent="0" marL="0">
              <a:buNone/>
            </a:pPr>
            <a:r>
              <a:rPr lang="en-US" sz="1050" b="1" dirty="0">
                <a:solidFill>
                  <a:srgbClr val="1E293B"/>
                </a:solidFill>
              </a:rPr>
              <a:t>Labeling Cost</a:t>
            </a:r>
            <a:endParaRPr lang="en-US" sz="1050" dirty="0"/>
          </a:p>
        </p:txBody>
      </p:sp>
      <p:sp>
        <p:nvSpPr>
          <p:cNvPr id="32" name="Text 30"/>
          <p:cNvSpPr/>
          <p:nvPr/>
        </p:nvSpPr>
        <p:spPr>
          <a:xfrm>
            <a:off x="2880360" y="2286000"/>
            <a:ext cx="1965960" cy="393192"/>
          </a:xfrm>
          <a:prstGeom prst="rect">
            <a:avLst/>
          </a:prstGeom>
          <a:noFill/>
          <a:ln/>
        </p:spPr>
        <p:txBody>
          <a:bodyPr wrap="square" lIns="25400" tIns="25400" rIns="25400" bIns="25400" rtlCol="0" anchor="ctr"/>
          <a:lstStyle/>
          <a:p>
            <a:pPr algn="ctr" indent="0" marL="0">
              <a:buNone/>
            </a:pPr>
            <a:r>
              <a:rPr lang="en-US" sz="1000" dirty="0">
                <a:solidFill>
                  <a:srgbClr val="1E293B"/>
                </a:solidFill>
              </a:rPr>
              <a:t>Rendah (yes/no)</a:t>
            </a:r>
            <a:endParaRPr lang="en-US" sz="1000" dirty="0"/>
          </a:p>
        </p:txBody>
      </p:sp>
      <p:sp>
        <p:nvSpPr>
          <p:cNvPr id="33" name="Text 31"/>
          <p:cNvSpPr/>
          <p:nvPr/>
        </p:nvSpPr>
        <p:spPr>
          <a:xfrm>
            <a:off x="4846320" y="2286000"/>
            <a:ext cx="1965960" cy="393192"/>
          </a:xfrm>
          <a:prstGeom prst="rect">
            <a:avLst/>
          </a:prstGeom>
          <a:noFill/>
          <a:ln/>
        </p:spPr>
        <p:txBody>
          <a:bodyPr wrap="square" lIns="25400" tIns="25400" rIns="25400" bIns="25400" rtlCol="0" anchor="ctr"/>
          <a:lstStyle/>
          <a:p>
            <a:pPr algn="ctr" indent="0" marL="0">
              <a:buNone/>
            </a:pPr>
            <a:r>
              <a:rPr lang="en-US" sz="1000" dirty="0">
                <a:solidFill>
                  <a:srgbClr val="1E293B"/>
                </a:solidFill>
              </a:rPr>
              <a:t>Rendah (yes/no)</a:t>
            </a:r>
            <a:endParaRPr lang="en-US" sz="1000" dirty="0"/>
          </a:p>
        </p:txBody>
      </p:sp>
      <p:sp>
        <p:nvSpPr>
          <p:cNvPr id="34" name="Shape 32"/>
          <p:cNvSpPr/>
          <p:nvPr/>
        </p:nvSpPr>
        <p:spPr>
          <a:xfrm>
            <a:off x="6812280" y="2286000"/>
            <a:ext cx="1965960" cy="393192"/>
          </a:xfrm>
          <a:prstGeom prst="rect">
            <a:avLst/>
          </a:prstGeom>
          <a:solidFill>
            <a:srgbClr val="D1FAE5"/>
          </a:solidFill>
          <a:ln w="12700">
            <a:solidFill>
              <a:srgbClr val="6EE7B7"/>
            </a:solidFill>
            <a:prstDash val="solid"/>
          </a:ln>
        </p:spPr>
      </p:sp>
      <p:sp>
        <p:nvSpPr>
          <p:cNvPr id="35" name="Text 33"/>
          <p:cNvSpPr/>
          <p:nvPr/>
        </p:nvSpPr>
        <p:spPr>
          <a:xfrm>
            <a:off x="6812280" y="2286000"/>
            <a:ext cx="1965960" cy="393192"/>
          </a:xfrm>
          <a:prstGeom prst="rect">
            <a:avLst/>
          </a:prstGeom>
          <a:noFill/>
          <a:ln/>
        </p:spPr>
        <p:txBody>
          <a:bodyPr wrap="square" lIns="25400" tIns="25400" rIns="25400" bIns="25400" rtlCol="0" anchor="ctr"/>
          <a:lstStyle/>
          <a:p>
            <a:pPr algn="ctr" indent="0" marL="0">
              <a:buNone/>
            </a:pPr>
            <a:r>
              <a:rPr lang="en-US" sz="1000" b="1" dirty="0">
                <a:solidFill>
                  <a:srgbClr val="065F46"/>
                </a:solidFill>
              </a:rPr>
              <a:t>Gratis ✓✓</a:t>
            </a:r>
            <a:endParaRPr lang="en-US" sz="1000" dirty="0"/>
          </a:p>
        </p:txBody>
      </p:sp>
      <p:sp>
        <p:nvSpPr>
          <p:cNvPr id="36" name="Shape 34"/>
          <p:cNvSpPr/>
          <p:nvPr/>
        </p:nvSpPr>
        <p:spPr>
          <a:xfrm>
            <a:off x="320040" y="2706624"/>
            <a:ext cx="8458200" cy="393192"/>
          </a:xfrm>
          <a:prstGeom prst="rect">
            <a:avLst/>
          </a:prstGeom>
          <a:solidFill>
            <a:srgbClr val="F8FAFC"/>
          </a:solidFill>
          <a:ln w="6350">
            <a:solidFill>
              <a:srgbClr val="E2E8F0"/>
            </a:solidFill>
            <a:prstDash val="solid"/>
          </a:ln>
        </p:spPr>
      </p:sp>
      <p:sp>
        <p:nvSpPr>
          <p:cNvPr id="37" name="Text 35"/>
          <p:cNvSpPr/>
          <p:nvPr/>
        </p:nvSpPr>
        <p:spPr>
          <a:xfrm>
            <a:off x="365760" y="2706624"/>
            <a:ext cx="2468880" cy="393192"/>
          </a:xfrm>
          <a:prstGeom prst="rect">
            <a:avLst/>
          </a:prstGeom>
          <a:noFill/>
          <a:ln/>
        </p:spPr>
        <p:txBody>
          <a:bodyPr wrap="square" lIns="50800" tIns="50800" rIns="50800" bIns="50800" rtlCol="0" anchor="ctr"/>
          <a:lstStyle/>
          <a:p>
            <a:pPr indent="0" marL="0">
              <a:buNone/>
            </a:pPr>
            <a:r>
              <a:rPr lang="en-US" sz="1050" b="1" dirty="0">
                <a:solidFill>
                  <a:srgbClr val="1E293B"/>
                </a:solidFill>
              </a:rPr>
              <a:t>Training Time (CPU)</a:t>
            </a:r>
            <a:endParaRPr lang="en-US" sz="1050" dirty="0"/>
          </a:p>
        </p:txBody>
      </p:sp>
      <p:sp>
        <p:nvSpPr>
          <p:cNvPr id="38" name="Text 36"/>
          <p:cNvSpPr/>
          <p:nvPr/>
        </p:nvSpPr>
        <p:spPr>
          <a:xfrm>
            <a:off x="2880360" y="2706624"/>
            <a:ext cx="1965960" cy="393192"/>
          </a:xfrm>
          <a:prstGeom prst="rect">
            <a:avLst/>
          </a:prstGeom>
          <a:noFill/>
          <a:ln/>
        </p:spPr>
        <p:txBody>
          <a:bodyPr wrap="square" lIns="25400" tIns="25400" rIns="25400" bIns="25400" rtlCol="0" anchor="ctr"/>
          <a:lstStyle/>
          <a:p>
            <a:pPr algn="ctr" indent="0" marL="0">
              <a:buNone/>
            </a:pPr>
            <a:r>
              <a:rPr lang="en-US" sz="1000" dirty="0">
                <a:solidFill>
                  <a:srgbClr val="1E293B"/>
                </a:solidFill>
              </a:rPr>
              <a:t>30 min – 2 jam</a:t>
            </a:r>
            <a:endParaRPr lang="en-US" sz="1000" dirty="0"/>
          </a:p>
        </p:txBody>
      </p:sp>
      <p:sp>
        <p:nvSpPr>
          <p:cNvPr id="39" name="Text 37"/>
          <p:cNvSpPr/>
          <p:nvPr/>
        </p:nvSpPr>
        <p:spPr>
          <a:xfrm>
            <a:off x="4846320" y="2706624"/>
            <a:ext cx="1965960" cy="393192"/>
          </a:xfrm>
          <a:prstGeom prst="rect">
            <a:avLst/>
          </a:prstGeom>
          <a:noFill/>
          <a:ln/>
        </p:spPr>
        <p:txBody>
          <a:bodyPr wrap="square" lIns="25400" tIns="25400" rIns="25400" bIns="25400" rtlCol="0" anchor="ctr"/>
          <a:lstStyle/>
          <a:p>
            <a:pPr algn="ctr" indent="0" marL="0">
              <a:buNone/>
            </a:pPr>
            <a:r>
              <a:rPr lang="en-US" sz="1000" dirty="0">
                <a:solidFill>
                  <a:srgbClr val="1E293B"/>
                </a:solidFill>
              </a:rPr>
              <a:t>&lt; 10 menit</a:t>
            </a:r>
            <a:endParaRPr lang="en-US" sz="1000" dirty="0"/>
          </a:p>
        </p:txBody>
      </p:sp>
      <p:sp>
        <p:nvSpPr>
          <p:cNvPr id="40" name="Shape 38"/>
          <p:cNvSpPr/>
          <p:nvPr/>
        </p:nvSpPr>
        <p:spPr>
          <a:xfrm>
            <a:off x="6812280" y="2706624"/>
            <a:ext cx="1965960" cy="393192"/>
          </a:xfrm>
          <a:prstGeom prst="rect">
            <a:avLst/>
          </a:prstGeom>
          <a:solidFill>
            <a:srgbClr val="D1FAE5"/>
          </a:solidFill>
          <a:ln w="12700">
            <a:solidFill>
              <a:srgbClr val="6EE7B7"/>
            </a:solidFill>
            <a:prstDash val="solid"/>
          </a:ln>
        </p:spPr>
      </p:sp>
      <p:sp>
        <p:nvSpPr>
          <p:cNvPr id="41" name="Text 39"/>
          <p:cNvSpPr/>
          <p:nvPr/>
        </p:nvSpPr>
        <p:spPr>
          <a:xfrm>
            <a:off x="6812280" y="2706624"/>
            <a:ext cx="1965960" cy="393192"/>
          </a:xfrm>
          <a:prstGeom prst="rect">
            <a:avLst/>
          </a:prstGeom>
          <a:noFill/>
          <a:ln/>
        </p:spPr>
        <p:txBody>
          <a:bodyPr wrap="square" lIns="25400" tIns="25400" rIns="25400" bIns="25400" rtlCol="0" anchor="ctr"/>
          <a:lstStyle/>
          <a:p>
            <a:pPr algn="ctr" indent="0" marL="0">
              <a:buNone/>
            </a:pPr>
            <a:r>
              <a:rPr lang="en-US" sz="1000" b="1" dirty="0">
                <a:solidFill>
                  <a:srgbClr val="065F46"/>
                </a:solidFill>
              </a:rPr>
              <a:t>0 ✓</a:t>
            </a:r>
            <a:endParaRPr lang="en-US" sz="1000" dirty="0"/>
          </a:p>
        </p:txBody>
      </p:sp>
      <p:sp>
        <p:nvSpPr>
          <p:cNvPr id="42" name="Shape 40"/>
          <p:cNvSpPr/>
          <p:nvPr/>
        </p:nvSpPr>
        <p:spPr>
          <a:xfrm>
            <a:off x="320040" y="3127248"/>
            <a:ext cx="8458200" cy="393192"/>
          </a:xfrm>
          <a:prstGeom prst="rect">
            <a:avLst/>
          </a:prstGeom>
          <a:solidFill>
            <a:srgbClr val="FFFFFF"/>
          </a:solidFill>
          <a:ln w="6350">
            <a:solidFill>
              <a:srgbClr val="E2E8F0"/>
            </a:solidFill>
            <a:prstDash val="solid"/>
          </a:ln>
        </p:spPr>
      </p:sp>
      <p:sp>
        <p:nvSpPr>
          <p:cNvPr id="43" name="Text 41"/>
          <p:cNvSpPr/>
          <p:nvPr/>
        </p:nvSpPr>
        <p:spPr>
          <a:xfrm>
            <a:off x="365760" y="3127248"/>
            <a:ext cx="2468880" cy="393192"/>
          </a:xfrm>
          <a:prstGeom prst="rect">
            <a:avLst/>
          </a:prstGeom>
          <a:noFill/>
          <a:ln/>
        </p:spPr>
        <p:txBody>
          <a:bodyPr wrap="square" lIns="50800" tIns="50800" rIns="50800" bIns="50800" rtlCol="0" anchor="ctr"/>
          <a:lstStyle/>
          <a:p>
            <a:pPr indent="0" marL="0">
              <a:buNone/>
            </a:pPr>
            <a:r>
              <a:rPr lang="en-US" sz="1050" b="1" dirty="0">
                <a:solidFill>
                  <a:srgbClr val="1E293B"/>
                </a:solidFill>
              </a:rPr>
              <a:t>B&amp;W Handling</a:t>
            </a:r>
            <a:endParaRPr lang="en-US" sz="1050" dirty="0"/>
          </a:p>
        </p:txBody>
      </p:sp>
      <p:sp>
        <p:nvSpPr>
          <p:cNvPr id="44" name="Text 42"/>
          <p:cNvSpPr/>
          <p:nvPr/>
        </p:nvSpPr>
        <p:spPr>
          <a:xfrm>
            <a:off x="2880360" y="3127248"/>
            <a:ext cx="1965960" cy="393192"/>
          </a:xfrm>
          <a:prstGeom prst="rect">
            <a:avLst/>
          </a:prstGeom>
          <a:noFill/>
          <a:ln/>
        </p:spPr>
        <p:txBody>
          <a:bodyPr wrap="square" lIns="25400" tIns="25400" rIns="25400" bIns="25400" rtlCol="0" anchor="ctr"/>
          <a:lstStyle/>
          <a:p>
            <a:pPr algn="ctr" indent="0" marL="0">
              <a:buNone/>
            </a:pPr>
            <a:r>
              <a:rPr lang="en-US" sz="1000" dirty="0">
                <a:solidFill>
                  <a:srgbClr val="1E293B"/>
                </a:solidFill>
              </a:rPr>
              <a:t>Via augmentation</a:t>
            </a:r>
            <a:endParaRPr lang="en-US" sz="1000" dirty="0"/>
          </a:p>
        </p:txBody>
      </p:sp>
      <p:sp>
        <p:nvSpPr>
          <p:cNvPr id="45" name="Shape 43"/>
          <p:cNvSpPr/>
          <p:nvPr/>
        </p:nvSpPr>
        <p:spPr>
          <a:xfrm>
            <a:off x="4846320" y="3127248"/>
            <a:ext cx="1965960" cy="393192"/>
          </a:xfrm>
          <a:prstGeom prst="rect">
            <a:avLst/>
          </a:prstGeom>
          <a:solidFill>
            <a:srgbClr val="D1FAE5"/>
          </a:solidFill>
          <a:ln w="12700">
            <a:solidFill>
              <a:srgbClr val="6EE7B7"/>
            </a:solidFill>
            <a:prstDash val="solid"/>
          </a:ln>
        </p:spPr>
      </p:sp>
      <p:sp>
        <p:nvSpPr>
          <p:cNvPr id="46" name="Text 44"/>
          <p:cNvSpPr/>
          <p:nvPr/>
        </p:nvSpPr>
        <p:spPr>
          <a:xfrm>
            <a:off x="4846320" y="3127248"/>
            <a:ext cx="1965960" cy="393192"/>
          </a:xfrm>
          <a:prstGeom prst="rect">
            <a:avLst/>
          </a:prstGeom>
          <a:noFill/>
          <a:ln/>
        </p:spPr>
        <p:txBody>
          <a:bodyPr wrap="square" lIns="25400" tIns="25400" rIns="25400" bIns="25400" rtlCol="0" anchor="ctr"/>
          <a:lstStyle/>
          <a:p>
            <a:pPr algn="ctr" indent="0" marL="0">
              <a:buNone/>
            </a:pPr>
            <a:r>
              <a:rPr lang="en-US" sz="1000" b="1" dirty="0">
                <a:solidFill>
                  <a:srgbClr val="065F46"/>
                </a:solidFill>
              </a:rPr>
              <a:t>By design ✓</a:t>
            </a:r>
            <a:endParaRPr lang="en-US" sz="1000" dirty="0"/>
          </a:p>
        </p:txBody>
      </p:sp>
      <p:sp>
        <p:nvSpPr>
          <p:cNvPr id="47" name="Shape 45"/>
          <p:cNvSpPr/>
          <p:nvPr/>
        </p:nvSpPr>
        <p:spPr>
          <a:xfrm>
            <a:off x="6812280" y="3127248"/>
            <a:ext cx="1965960" cy="393192"/>
          </a:xfrm>
          <a:prstGeom prst="rect">
            <a:avLst/>
          </a:prstGeom>
          <a:solidFill>
            <a:srgbClr val="D1FAE5"/>
          </a:solidFill>
          <a:ln w="12700">
            <a:solidFill>
              <a:srgbClr val="6EE7B7"/>
            </a:solidFill>
            <a:prstDash val="solid"/>
          </a:ln>
        </p:spPr>
      </p:sp>
      <p:sp>
        <p:nvSpPr>
          <p:cNvPr id="48" name="Text 46"/>
          <p:cNvSpPr/>
          <p:nvPr/>
        </p:nvSpPr>
        <p:spPr>
          <a:xfrm>
            <a:off x="6812280" y="3127248"/>
            <a:ext cx="1965960" cy="393192"/>
          </a:xfrm>
          <a:prstGeom prst="rect">
            <a:avLst/>
          </a:prstGeom>
          <a:noFill/>
          <a:ln/>
        </p:spPr>
        <p:txBody>
          <a:bodyPr wrap="square" lIns="25400" tIns="25400" rIns="25400" bIns="25400" rtlCol="0" anchor="ctr"/>
          <a:lstStyle/>
          <a:p>
            <a:pPr algn="ctr" indent="0" marL="0">
              <a:buNone/>
            </a:pPr>
            <a:r>
              <a:rPr lang="en-US" sz="1000" b="1" dirty="0">
                <a:solidFill>
                  <a:srgbClr val="065F46"/>
                </a:solidFill>
              </a:rPr>
              <a:t>Built-in ✓</a:t>
            </a:r>
            <a:endParaRPr lang="en-US" sz="1000" dirty="0"/>
          </a:p>
        </p:txBody>
      </p:sp>
      <p:sp>
        <p:nvSpPr>
          <p:cNvPr id="49" name="Shape 47"/>
          <p:cNvSpPr/>
          <p:nvPr/>
        </p:nvSpPr>
        <p:spPr>
          <a:xfrm>
            <a:off x="320040" y="3547872"/>
            <a:ext cx="8458200" cy="393192"/>
          </a:xfrm>
          <a:prstGeom prst="rect">
            <a:avLst/>
          </a:prstGeom>
          <a:solidFill>
            <a:srgbClr val="F8FAFC"/>
          </a:solidFill>
          <a:ln w="6350">
            <a:solidFill>
              <a:srgbClr val="E2E8F0"/>
            </a:solidFill>
            <a:prstDash val="solid"/>
          </a:ln>
        </p:spPr>
      </p:sp>
      <p:sp>
        <p:nvSpPr>
          <p:cNvPr id="50" name="Text 48"/>
          <p:cNvSpPr/>
          <p:nvPr/>
        </p:nvSpPr>
        <p:spPr>
          <a:xfrm>
            <a:off x="365760" y="3547872"/>
            <a:ext cx="2468880" cy="393192"/>
          </a:xfrm>
          <a:prstGeom prst="rect">
            <a:avLst/>
          </a:prstGeom>
          <a:noFill/>
          <a:ln/>
        </p:spPr>
        <p:txBody>
          <a:bodyPr wrap="square" lIns="50800" tIns="50800" rIns="50800" bIns="50800" rtlCol="0" anchor="ctr"/>
          <a:lstStyle/>
          <a:p>
            <a:pPr indent="0" marL="0">
              <a:buNone/>
            </a:pPr>
            <a:r>
              <a:rPr lang="en-US" sz="1050" b="1" dirty="0">
                <a:solidFill>
                  <a:srgbClr val="1E293B"/>
                </a:solidFill>
              </a:rPr>
              <a:t>Rotation Handling</a:t>
            </a:r>
            <a:endParaRPr lang="en-US" sz="1050" dirty="0"/>
          </a:p>
        </p:txBody>
      </p:sp>
      <p:sp>
        <p:nvSpPr>
          <p:cNvPr id="51" name="Text 49"/>
          <p:cNvSpPr/>
          <p:nvPr/>
        </p:nvSpPr>
        <p:spPr>
          <a:xfrm>
            <a:off x="2880360" y="3547872"/>
            <a:ext cx="1965960" cy="393192"/>
          </a:xfrm>
          <a:prstGeom prst="rect">
            <a:avLst/>
          </a:prstGeom>
          <a:noFill/>
          <a:ln/>
        </p:spPr>
        <p:txBody>
          <a:bodyPr wrap="square" lIns="25400" tIns="25400" rIns="25400" bIns="25400" rtlCol="0" anchor="ctr"/>
          <a:lstStyle/>
          <a:p>
            <a:pPr algn="ctr" indent="0" marL="0">
              <a:buNone/>
            </a:pPr>
            <a:r>
              <a:rPr lang="en-US" sz="1000" dirty="0">
                <a:solidFill>
                  <a:srgbClr val="1E293B"/>
                </a:solidFill>
              </a:rPr>
              <a:t>Augmentation + TTA</a:t>
            </a:r>
            <a:endParaRPr lang="en-US" sz="1000" dirty="0"/>
          </a:p>
        </p:txBody>
      </p:sp>
      <p:sp>
        <p:nvSpPr>
          <p:cNvPr id="52" name="Shape 50"/>
          <p:cNvSpPr/>
          <p:nvPr/>
        </p:nvSpPr>
        <p:spPr>
          <a:xfrm>
            <a:off x="4846320" y="3547872"/>
            <a:ext cx="1965960" cy="393192"/>
          </a:xfrm>
          <a:prstGeom prst="rect">
            <a:avLst/>
          </a:prstGeom>
          <a:solidFill>
            <a:srgbClr val="D1FAE5"/>
          </a:solidFill>
          <a:ln w="12700">
            <a:solidFill>
              <a:srgbClr val="6EE7B7"/>
            </a:solidFill>
            <a:prstDash val="solid"/>
          </a:ln>
        </p:spPr>
      </p:sp>
      <p:sp>
        <p:nvSpPr>
          <p:cNvPr id="53" name="Text 51"/>
          <p:cNvSpPr/>
          <p:nvPr/>
        </p:nvSpPr>
        <p:spPr>
          <a:xfrm>
            <a:off x="4846320" y="3547872"/>
            <a:ext cx="1965960" cy="393192"/>
          </a:xfrm>
          <a:prstGeom prst="rect">
            <a:avLst/>
          </a:prstGeom>
          <a:noFill/>
          <a:ln/>
        </p:spPr>
        <p:txBody>
          <a:bodyPr wrap="square" lIns="25400" tIns="25400" rIns="25400" bIns="25400" rtlCol="0" anchor="ctr"/>
          <a:lstStyle/>
          <a:p>
            <a:pPr algn="ctr" indent="0" marL="0">
              <a:buNone/>
            </a:pPr>
            <a:r>
              <a:rPr lang="en-US" sz="1000" b="1" dirty="0">
                <a:solidFill>
                  <a:srgbClr val="065F46"/>
                </a:solidFill>
              </a:rPr>
              <a:t>LBP rotation-invariant ✓</a:t>
            </a:r>
            <a:endParaRPr lang="en-US" sz="1000" dirty="0"/>
          </a:p>
        </p:txBody>
      </p:sp>
      <p:sp>
        <p:nvSpPr>
          <p:cNvPr id="54" name="Shape 52"/>
          <p:cNvSpPr/>
          <p:nvPr/>
        </p:nvSpPr>
        <p:spPr>
          <a:xfrm>
            <a:off x="6812280" y="3547872"/>
            <a:ext cx="1965960" cy="393192"/>
          </a:xfrm>
          <a:prstGeom prst="rect">
            <a:avLst/>
          </a:prstGeom>
          <a:solidFill>
            <a:srgbClr val="D1FAE5"/>
          </a:solidFill>
          <a:ln w="12700">
            <a:solidFill>
              <a:srgbClr val="6EE7B7"/>
            </a:solidFill>
            <a:prstDash val="solid"/>
          </a:ln>
        </p:spPr>
      </p:sp>
      <p:sp>
        <p:nvSpPr>
          <p:cNvPr id="55" name="Text 53"/>
          <p:cNvSpPr/>
          <p:nvPr/>
        </p:nvSpPr>
        <p:spPr>
          <a:xfrm>
            <a:off x="6812280" y="3547872"/>
            <a:ext cx="1965960" cy="393192"/>
          </a:xfrm>
          <a:prstGeom prst="rect">
            <a:avLst/>
          </a:prstGeom>
          <a:noFill/>
          <a:ln/>
        </p:spPr>
        <p:txBody>
          <a:bodyPr wrap="square" lIns="25400" tIns="25400" rIns="25400" bIns="25400" rtlCol="0" anchor="ctr"/>
          <a:lstStyle/>
          <a:p>
            <a:pPr algn="ctr" indent="0" marL="0">
              <a:buNone/>
            </a:pPr>
            <a:r>
              <a:rPr lang="en-US" sz="1000" b="1" dirty="0">
                <a:solidFill>
                  <a:srgbClr val="065F46"/>
                </a:solidFill>
              </a:rPr>
              <a:t>Built-in ✓</a:t>
            </a:r>
            <a:endParaRPr lang="en-US" sz="1000" dirty="0"/>
          </a:p>
        </p:txBody>
      </p:sp>
      <p:sp>
        <p:nvSpPr>
          <p:cNvPr id="56" name="Shape 54"/>
          <p:cNvSpPr/>
          <p:nvPr/>
        </p:nvSpPr>
        <p:spPr>
          <a:xfrm>
            <a:off x="320040" y="3968496"/>
            <a:ext cx="8458200" cy="393192"/>
          </a:xfrm>
          <a:prstGeom prst="rect">
            <a:avLst/>
          </a:prstGeom>
          <a:solidFill>
            <a:srgbClr val="FFFFFF"/>
          </a:solidFill>
          <a:ln w="6350">
            <a:solidFill>
              <a:srgbClr val="E2E8F0"/>
            </a:solidFill>
            <a:prstDash val="solid"/>
          </a:ln>
        </p:spPr>
      </p:sp>
      <p:sp>
        <p:nvSpPr>
          <p:cNvPr id="57" name="Text 55"/>
          <p:cNvSpPr/>
          <p:nvPr/>
        </p:nvSpPr>
        <p:spPr>
          <a:xfrm>
            <a:off x="365760" y="3968496"/>
            <a:ext cx="2468880" cy="393192"/>
          </a:xfrm>
          <a:prstGeom prst="rect">
            <a:avLst/>
          </a:prstGeom>
          <a:noFill/>
          <a:ln/>
        </p:spPr>
        <p:txBody>
          <a:bodyPr wrap="square" lIns="50800" tIns="50800" rIns="50800" bIns="50800" rtlCol="0" anchor="ctr"/>
          <a:lstStyle/>
          <a:p>
            <a:pPr indent="0" marL="0">
              <a:buNone/>
            </a:pPr>
            <a:r>
              <a:rPr lang="en-US" sz="1050" b="1" dirty="0">
                <a:solidFill>
                  <a:srgbClr val="1E293B"/>
                </a:solidFill>
              </a:rPr>
              <a:t>Explainability</a:t>
            </a:r>
            <a:endParaRPr lang="en-US" sz="1050" dirty="0"/>
          </a:p>
        </p:txBody>
      </p:sp>
      <p:sp>
        <p:nvSpPr>
          <p:cNvPr id="58" name="Text 56"/>
          <p:cNvSpPr/>
          <p:nvPr/>
        </p:nvSpPr>
        <p:spPr>
          <a:xfrm>
            <a:off x="2880360" y="3968496"/>
            <a:ext cx="1965960" cy="393192"/>
          </a:xfrm>
          <a:prstGeom prst="rect">
            <a:avLst/>
          </a:prstGeom>
          <a:noFill/>
          <a:ln/>
        </p:spPr>
        <p:txBody>
          <a:bodyPr wrap="square" lIns="25400" tIns="25400" rIns="25400" bIns="25400" rtlCol="0" anchor="ctr"/>
          <a:lstStyle/>
          <a:p>
            <a:pPr algn="ctr" indent="0" marL="0">
              <a:buNone/>
            </a:pPr>
            <a:r>
              <a:rPr lang="en-US" sz="1000" dirty="0">
                <a:solidFill>
                  <a:srgbClr val="1E293B"/>
                </a:solidFill>
              </a:rPr>
              <a:t>Grad-CAM heatmap</a:t>
            </a:r>
            <a:endParaRPr lang="en-US" sz="1000" dirty="0"/>
          </a:p>
        </p:txBody>
      </p:sp>
      <p:sp>
        <p:nvSpPr>
          <p:cNvPr id="59" name="Shape 57"/>
          <p:cNvSpPr/>
          <p:nvPr/>
        </p:nvSpPr>
        <p:spPr>
          <a:xfrm>
            <a:off x="4846320" y="3968496"/>
            <a:ext cx="1965960" cy="393192"/>
          </a:xfrm>
          <a:prstGeom prst="rect">
            <a:avLst/>
          </a:prstGeom>
          <a:solidFill>
            <a:srgbClr val="D1FAE5"/>
          </a:solidFill>
          <a:ln w="12700">
            <a:solidFill>
              <a:srgbClr val="6EE7B7"/>
            </a:solidFill>
            <a:prstDash val="solid"/>
          </a:ln>
        </p:spPr>
      </p:sp>
      <p:sp>
        <p:nvSpPr>
          <p:cNvPr id="60" name="Text 58"/>
          <p:cNvSpPr/>
          <p:nvPr/>
        </p:nvSpPr>
        <p:spPr>
          <a:xfrm>
            <a:off x="4846320" y="3968496"/>
            <a:ext cx="1965960" cy="393192"/>
          </a:xfrm>
          <a:prstGeom prst="rect">
            <a:avLst/>
          </a:prstGeom>
          <a:noFill/>
          <a:ln/>
        </p:spPr>
        <p:txBody>
          <a:bodyPr wrap="square" lIns="25400" tIns="25400" rIns="25400" bIns="25400" rtlCol="0" anchor="ctr"/>
          <a:lstStyle/>
          <a:p>
            <a:pPr algn="ctr" indent="0" marL="0">
              <a:buNone/>
            </a:pPr>
            <a:r>
              <a:rPr lang="en-US" sz="1000" b="1" dirty="0">
                <a:solidFill>
                  <a:srgbClr val="065F46"/>
                </a:solidFill>
              </a:rPr>
              <a:t>Feature importance ✓✓</a:t>
            </a:r>
            <a:endParaRPr lang="en-US" sz="1000" dirty="0"/>
          </a:p>
        </p:txBody>
      </p:sp>
      <p:sp>
        <p:nvSpPr>
          <p:cNvPr id="61" name="Text 59"/>
          <p:cNvSpPr/>
          <p:nvPr/>
        </p:nvSpPr>
        <p:spPr>
          <a:xfrm>
            <a:off x="6812280" y="3968496"/>
            <a:ext cx="1965960" cy="393192"/>
          </a:xfrm>
          <a:prstGeom prst="rect">
            <a:avLst/>
          </a:prstGeom>
          <a:noFill/>
          <a:ln/>
        </p:spPr>
        <p:txBody>
          <a:bodyPr wrap="square" lIns="25400" tIns="25400" rIns="25400" bIns="25400" rtlCol="0" anchor="ctr"/>
          <a:lstStyle/>
          <a:p>
            <a:pPr algn="ctr" indent="0" marL="0">
              <a:buNone/>
            </a:pPr>
            <a:r>
              <a:rPr lang="en-US" sz="1000" dirty="0">
                <a:solidFill>
                  <a:srgbClr val="1E293B"/>
                </a:solidFill>
              </a:rPr>
              <a:t>Low</a:t>
            </a:r>
            <a:endParaRPr lang="en-US" sz="1000" dirty="0"/>
          </a:p>
        </p:txBody>
      </p:sp>
      <p:sp>
        <p:nvSpPr>
          <p:cNvPr id="62" name="Shape 60"/>
          <p:cNvSpPr/>
          <p:nvPr/>
        </p:nvSpPr>
        <p:spPr>
          <a:xfrm>
            <a:off x="320040" y="4389120"/>
            <a:ext cx="8458200" cy="393192"/>
          </a:xfrm>
          <a:prstGeom prst="rect">
            <a:avLst/>
          </a:prstGeom>
          <a:solidFill>
            <a:srgbClr val="F8FAFC"/>
          </a:solidFill>
          <a:ln w="6350">
            <a:solidFill>
              <a:srgbClr val="E2E8F0"/>
            </a:solidFill>
            <a:prstDash val="solid"/>
          </a:ln>
        </p:spPr>
      </p:sp>
      <p:sp>
        <p:nvSpPr>
          <p:cNvPr id="63" name="Text 61"/>
          <p:cNvSpPr/>
          <p:nvPr/>
        </p:nvSpPr>
        <p:spPr>
          <a:xfrm>
            <a:off x="365760" y="4389120"/>
            <a:ext cx="2468880" cy="393192"/>
          </a:xfrm>
          <a:prstGeom prst="rect">
            <a:avLst/>
          </a:prstGeom>
          <a:noFill/>
          <a:ln/>
        </p:spPr>
        <p:txBody>
          <a:bodyPr wrap="square" lIns="50800" tIns="50800" rIns="50800" bIns="50800" rtlCol="0" anchor="ctr"/>
          <a:lstStyle/>
          <a:p>
            <a:pPr indent="0" marL="0">
              <a:buNone/>
            </a:pPr>
            <a:r>
              <a:rPr lang="en-US" sz="1050" b="1" dirty="0">
                <a:solidFill>
                  <a:srgbClr val="1E293B"/>
                </a:solidFill>
              </a:rPr>
              <a:t>Time to First Deploy</a:t>
            </a:r>
            <a:endParaRPr lang="en-US" sz="1050" dirty="0"/>
          </a:p>
        </p:txBody>
      </p:sp>
      <p:sp>
        <p:nvSpPr>
          <p:cNvPr id="64" name="Text 62"/>
          <p:cNvSpPr/>
          <p:nvPr/>
        </p:nvSpPr>
        <p:spPr>
          <a:xfrm>
            <a:off x="2880360" y="4389120"/>
            <a:ext cx="1965960" cy="393192"/>
          </a:xfrm>
          <a:prstGeom prst="rect">
            <a:avLst/>
          </a:prstGeom>
          <a:noFill/>
          <a:ln/>
        </p:spPr>
        <p:txBody>
          <a:bodyPr wrap="square" lIns="25400" tIns="25400" rIns="25400" bIns="25400" rtlCol="0" anchor="ctr"/>
          <a:lstStyle/>
          <a:p>
            <a:pPr algn="ctr" indent="0" marL="0">
              <a:buNone/>
            </a:pPr>
            <a:r>
              <a:rPr lang="en-US" sz="1000" dirty="0">
                <a:solidFill>
                  <a:srgbClr val="1E293B"/>
                </a:solidFill>
              </a:rPr>
              <a:t>Hari – Minggu</a:t>
            </a:r>
            <a:endParaRPr lang="en-US" sz="1000" dirty="0"/>
          </a:p>
        </p:txBody>
      </p:sp>
      <p:sp>
        <p:nvSpPr>
          <p:cNvPr id="65" name="Text 63"/>
          <p:cNvSpPr/>
          <p:nvPr/>
        </p:nvSpPr>
        <p:spPr>
          <a:xfrm>
            <a:off x="4846320" y="4389120"/>
            <a:ext cx="1965960" cy="393192"/>
          </a:xfrm>
          <a:prstGeom prst="rect">
            <a:avLst/>
          </a:prstGeom>
          <a:noFill/>
          <a:ln/>
        </p:spPr>
        <p:txBody>
          <a:bodyPr wrap="square" lIns="25400" tIns="25400" rIns="25400" bIns="25400" rtlCol="0" anchor="ctr"/>
          <a:lstStyle/>
          <a:p>
            <a:pPr algn="ctr" indent="0" marL="0">
              <a:buNone/>
            </a:pPr>
            <a:r>
              <a:rPr lang="en-US" sz="1000" dirty="0">
                <a:solidFill>
                  <a:srgbClr val="1E293B"/>
                </a:solidFill>
              </a:rPr>
              <a:t>Hari</a:t>
            </a:r>
            <a:endParaRPr lang="en-US" sz="1000" dirty="0"/>
          </a:p>
        </p:txBody>
      </p:sp>
      <p:sp>
        <p:nvSpPr>
          <p:cNvPr id="66" name="Shape 64"/>
          <p:cNvSpPr/>
          <p:nvPr/>
        </p:nvSpPr>
        <p:spPr>
          <a:xfrm>
            <a:off x="6812280" y="4389120"/>
            <a:ext cx="1965960" cy="393192"/>
          </a:xfrm>
          <a:prstGeom prst="rect">
            <a:avLst/>
          </a:prstGeom>
          <a:solidFill>
            <a:srgbClr val="D1FAE5"/>
          </a:solidFill>
          <a:ln w="12700">
            <a:solidFill>
              <a:srgbClr val="6EE7B7"/>
            </a:solidFill>
            <a:prstDash val="solid"/>
          </a:ln>
        </p:spPr>
      </p:sp>
      <p:sp>
        <p:nvSpPr>
          <p:cNvPr id="67" name="Text 65"/>
          <p:cNvSpPr/>
          <p:nvPr/>
        </p:nvSpPr>
        <p:spPr>
          <a:xfrm>
            <a:off x="6812280" y="4389120"/>
            <a:ext cx="1965960" cy="393192"/>
          </a:xfrm>
          <a:prstGeom prst="rect">
            <a:avLst/>
          </a:prstGeom>
          <a:noFill/>
          <a:ln/>
        </p:spPr>
        <p:txBody>
          <a:bodyPr wrap="square" lIns="25400" tIns="25400" rIns="25400" bIns="25400" rtlCol="0" anchor="ctr"/>
          <a:lstStyle/>
          <a:p>
            <a:pPr algn="ctr" indent="0" marL="0">
              <a:buNone/>
            </a:pPr>
            <a:r>
              <a:rPr lang="en-US" sz="1000" b="1" dirty="0">
                <a:solidFill>
                  <a:srgbClr val="065F46"/>
                </a:solidFill>
              </a:rPr>
              <a:t>Jam ✓</a:t>
            </a:r>
            <a:endParaRPr lang="en-US" sz="1000" dirty="0"/>
          </a:p>
        </p:txBody>
      </p:sp>
      <p:sp>
        <p:nvSpPr>
          <p:cNvPr id="68" name="Shape 66"/>
          <p:cNvSpPr/>
          <p:nvPr/>
        </p:nvSpPr>
        <p:spPr>
          <a:xfrm>
            <a:off x="320040" y="4828032"/>
            <a:ext cx="457200" cy="182880"/>
          </a:xfrm>
          <a:prstGeom prst="rect">
            <a:avLst/>
          </a:prstGeom>
          <a:solidFill>
            <a:srgbClr val="D1FAE5"/>
          </a:solidFill>
          <a:ln w="12700">
            <a:solidFill>
              <a:srgbClr val="6EE7B7"/>
            </a:solidFill>
            <a:prstDash val="solid"/>
          </a:ln>
        </p:spPr>
      </p:sp>
      <p:sp>
        <p:nvSpPr>
          <p:cNvPr id="69" name="Text 67"/>
          <p:cNvSpPr/>
          <p:nvPr/>
        </p:nvSpPr>
        <p:spPr>
          <a:xfrm>
            <a:off x="822960" y="4828032"/>
            <a:ext cx="3200400" cy="182880"/>
          </a:xfrm>
          <a:prstGeom prst="rect">
            <a:avLst/>
          </a:prstGeom>
          <a:noFill/>
          <a:ln/>
        </p:spPr>
        <p:txBody>
          <a:bodyPr wrap="square" lIns="0" tIns="0" rIns="0" bIns="0" rtlCol="0" anchor="ctr"/>
          <a:lstStyle/>
          <a:p>
            <a:pPr indent="0" marL="0">
              <a:buNone/>
            </a:pPr>
            <a:r>
              <a:rPr lang="en-US" sz="900" dirty="0">
                <a:solidFill>
                  <a:srgbClr val="64748B"/>
                </a:solidFill>
              </a:rPr>
              <a:t>= Terbaik pada kriteria tersebut</a:t>
            </a:r>
            <a:endParaRPr lang="en-US" sz="900" dirty="0"/>
          </a:p>
        </p:txBody>
      </p:sp>
      <p:sp>
        <p:nvSpPr>
          <p:cNvPr id="70" name="Text 68"/>
          <p:cNvSpPr/>
          <p:nvPr/>
        </p:nvSpPr>
        <p:spPr>
          <a:xfrm>
            <a:off x="4114800" y="4828032"/>
            <a:ext cx="4846320" cy="182880"/>
          </a:xfrm>
          <a:prstGeom prst="rect">
            <a:avLst/>
          </a:prstGeom>
          <a:noFill/>
          <a:ln/>
        </p:spPr>
        <p:txBody>
          <a:bodyPr wrap="square" lIns="0" tIns="0" rIns="0" bIns="0" rtlCol="0" anchor="ctr"/>
          <a:lstStyle/>
          <a:p>
            <a:pPr indent="0" marL="0">
              <a:buNone/>
            </a:pPr>
            <a:r>
              <a:rPr lang="en-US" sz="900" i="1" dirty="0">
                <a:solidFill>
                  <a:srgbClr val="64748B"/>
                </a:solidFill>
              </a:rPr>
              <a:t>Tidak ada pemenang absolut — setiap approach memiliki trade-off yang berbeda.</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rtlCol="0" anchor="ctr"/>
          <a:lstStyle/>
          <a:p>
            <a:pPr indent="0" marL="0">
              <a:buNone/>
            </a:pPr>
            <a:r>
              <a:rPr lang="en-US" sz="2600" b="1" dirty="0">
                <a:solidFill>
                  <a:srgbClr val="065A82"/>
                </a:solidFill>
                <a:latin typeface="Trebuchet MS" pitchFamily="34" charset="0"/>
                <a:ea typeface="Trebuchet MS" pitchFamily="34" charset="-122"/>
                <a:cs typeface="Trebuchet MS" pitchFamily="34" charset="-120"/>
              </a:rPr>
              <a:t>Rekomendasi: Phased Deployment</a:t>
            </a:r>
            <a:endParaRPr lang="en-US" sz="2600" dirty="0"/>
          </a:p>
        </p:txBody>
      </p:sp>
      <p:sp>
        <p:nvSpPr>
          <p:cNvPr id="3" name="Shape 1"/>
          <p:cNvSpPr/>
          <p:nvPr/>
        </p:nvSpPr>
        <p:spPr>
          <a:xfrm>
            <a:off x="274320" y="777240"/>
            <a:ext cx="2697480" cy="3931920"/>
          </a:xfrm>
          <a:prstGeom prst="rect">
            <a:avLst/>
          </a:prstGeom>
          <a:solidFill>
            <a:srgbClr val="F5F3FF"/>
          </a:solidFill>
          <a:ln w="12700">
            <a:solidFill>
              <a:srgbClr val="7C3AED"/>
            </a:solidFill>
            <a:prstDash val="solid"/>
          </a:ln>
          <a:effectLst>
            <a:outerShdw sx="100000" sy="100000" kx="0" ky="0" algn="bl" rotWithShape="0" blurRad="76200" dist="25400" dir="8100000">
              <a:srgbClr val="000000">
                <a:alpha val="12000"/>
              </a:srgbClr>
            </a:outerShdw>
          </a:effectLst>
        </p:spPr>
      </p:sp>
      <p:sp>
        <p:nvSpPr>
          <p:cNvPr id="4" name="Shape 2"/>
          <p:cNvSpPr/>
          <p:nvPr/>
        </p:nvSpPr>
        <p:spPr>
          <a:xfrm>
            <a:off x="274320" y="777240"/>
            <a:ext cx="2697480" cy="457200"/>
          </a:xfrm>
          <a:prstGeom prst="rect">
            <a:avLst/>
          </a:prstGeom>
          <a:solidFill>
            <a:srgbClr val="7C3AED"/>
          </a:solidFill>
          <a:ln w="12700">
            <a:solidFill>
              <a:srgbClr val="7C3AED"/>
            </a:solidFill>
            <a:prstDash val="solid"/>
          </a:ln>
        </p:spPr>
      </p:sp>
      <p:sp>
        <p:nvSpPr>
          <p:cNvPr id="5" name="Text 3"/>
          <p:cNvSpPr/>
          <p:nvPr/>
        </p:nvSpPr>
        <p:spPr>
          <a:xfrm>
            <a:off x="274320" y="777240"/>
            <a:ext cx="2697480" cy="457200"/>
          </a:xfrm>
          <a:prstGeom prst="rect">
            <a:avLst/>
          </a:prstGeom>
          <a:noFill/>
          <a:ln/>
        </p:spPr>
        <p:txBody>
          <a:bodyPr wrap="square" lIns="0" tIns="0" rIns="0" bIns="0" rtlCol="0" anchor="ctr"/>
          <a:lstStyle/>
          <a:p>
            <a:pPr algn="ctr" indent="0" marL="0">
              <a:buNone/>
            </a:pPr>
            <a:r>
              <a:rPr lang="en-US" sz="1100" b="1" dirty="0">
                <a:solidFill>
                  <a:srgbClr val="FFFFFF"/>
                </a:solidFill>
              </a:rPr>
              <a:t>Phase 1 — Minggu 1</a:t>
            </a:r>
            <a:endParaRPr lang="en-US" sz="1100" dirty="0"/>
          </a:p>
        </p:txBody>
      </p:sp>
      <p:sp>
        <p:nvSpPr>
          <p:cNvPr id="6" name="Text 4"/>
          <p:cNvSpPr/>
          <p:nvPr/>
        </p:nvSpPr>
        <p:spPr>
          <a:xfrm>
            <a:off x="365760" y="1325880"/>
            <a:ext cx="2514600" cy="457200"/>
          </a:xfrm>
          <a:prstGeom prst="rect">
            <a:avLst/>
          </a:prstGeom>
          <a:noFill/>
          <a:ln/>
        </p:spPr>
        <p:txBody>
          <a:bodyPr wrap="square" lIns="0" tIns="0" rIns="0" bIns="0" rtlCol="0" anchor="ctr"/>
          <a:lstStyle/>
          <a:p>
            <a:pPr algn="ctr" indent="0" marL="0">
              <a:buNone/>
            </a:pPr>
            <a:r>
              <a:rPr lang="en-US" sz="1300" b="1" dirty="0">
                <a:solidFill>
                  <a:srgbClr val="7C3AED"/>
                </a:solidFill>
                <a:latin typeface="Trebuchet MS" pitchFamily="34" charset="0"/>
                <a:ea typeface="Trebuchet MS" pitchFamily="34" charset="-122"/>
                <a:cs typeface="Trebuchet MS" pitchFamily="34" charset="-120"/>
              </a:rPr>
              <a:t>OpenCLIP Zero-Shot</a:t>
            </a:r>
            <a:endParaRPr lang="en-US" sz="1300" dirty="0"/>
          </a:p>
        </p:txBody>
      </p:sp>
      <p:pic>
        <p:nvPicPr>
          <p:cNvPr id="7" name="Image 0" descr="preencoded.png">    </p:cNvPr>
          <p:cNvPicPr>
            <a:picLocks noChangeAspect="1"/>
          </p:cNvPicPr>
          <p:nvPr/>
        </p:nvPicPr>
        <p:blipFill>
          <a:blip r:embed="rId1"/>
          <a:stretch>
            <a:fillRect/>
          </a:stretch>
        </p:blipFill>
        <p:spPr>
          <a:xfrm>
            <a:off x="457200" y="1947672"/>
            <a:ext cx="256032" cy="256032"/>
          </a:xfrm>
          <a:prstGeom prst="rect">
            <a:avLst/>
          </a:prstGeom>
        </p:spPr>
      </p:pic>
      <p:sp>
        <p:nvSpPr>
          <p:cNvPr id="8" name="Text 5"/>
          <p:cNvSpPr/>
          <p:nvPr/>
        </p:nvSpPr>
        <p:spPr>
          <a:xfrm>
            <a:off x="804672" y="1874520"/>
            <a:ext cx="2057400" cy="411480"/>
          </a:xfrm>
          <a:prstGeom prst="rect">
            <a:avLst/>
          </a:prstGeom>
          <a:noFill/>
          <a:ln/>
        </p:spPr>
        <p:txBody>
          <a:bodyPr wrap="square" lIns="0" tIns="0" rIns="0" bIns="0" rtlCol="0" anchor="ctr"/>
          <a:lstStyle/>
          <a:p>
            <a:pPr indent="0" marL="0">
              <a:buNone/>
            </a:pPr>
            <a:r>
              <a:rPr lang="en-US" sz="1050" dirty="0">
                <a:solidFill>
                  <a:srgbClr val="1E293B"/>
                </a:solidFill>
              </a:rPr>
              <a:t>Deploy hari ini</a:t>
            </a:r>
            <a:endParaRPr lang="en-US" sz="1050" dirty="0"/>
          </a:p>
        </p:txBody>
      </p:sp>
      <p:pic>
        <p:nvPicPr>
          <p:cNvPr id="9" name="Image 1" descr="preencoded.png">    </p:cNvPr>
          <p:cNvPicPr>
            <a:picLocks noChangeAspect="1"/>
          </p:cNvPicPr>
          <p:nvPr/>
        </p:nvPicPr>
        <p:blipFill>
          <a:blip r:embed="rId2"/>
          <a:stretch>
            <a:fillRect/>
          </a:stretch>
        </p:blipFill>
        <p:spPr>
          <a:xfrm>
            <a:off x="457200" y="2542032"/>
            <a:ext cx="256032" cy="256032"/>
          </a:xfrm>
          <a:prstGeom prst="rect">
            <a:avLst/>
          </a:prstGeom>
        </p:spPr>
      </p:pic>
      <p:sp>
        <p:nvSpPr>
          <p:cNvPr id="10" name="Text 6"/>
          <p:cNvSpPr/>
          <p:nvPr/>
        </p:nvSpPr>
        <p:spPr>
          <a:xfrm>
            <a:off x="804672" y="2468880"/>
            <a:ext cx="2057400" cy="411480"/>
          </a:xfrm>
          <a:prstGeom prst="rect">
            <a:avLst/>
          </a:prstGeom>
          <a:noFill/>
          <a:ln/>
        </p:spPr>
        <p:txBody>
          <a:bodyPr wrap="square" lIns="0" tIns="0" rIns="0" bIns="0" rtlCol="0" anchor="ctr"/>
          <a:lstStyle/>
          <a:p>
            <a:pPr indent="0" marL="0">
              <a:buNone/>
            </a:pPr>
            <a:r>
              <a:rPr lang="en-US" sz="1050" dirty="0">
                <a:solidFill>
                  <a:srgbClr val="1E293B"/>
                </a:solidFill>
              </a:rPr>
              <a:t>86% baseline</a:t>
            </a:r>
            <a:endParaRPr lang="en-US" sz="1050" dirty="0"/>
          </a:p>
        </p:txBody>
      </p:sp>
      <p:pic>
        <p:nvPicPr>
          <p:cNvPr id="11" name="Image 2" descr="preencoded.png">    </p:cNvPr>
          <p:cNvPicPr>
            <a:picLocks noChangeAspect="1"/>
          </p:cNvPicPr>
          <p:nvPr/>
        </p:nvPicPr>
        <p:blipFill>
          <a:blip r:embed="rId3"/>
          <a:stretch>
            <a:fillRect/>
          </a:stretch>
        </p:blipFill>
        <p:spPr>
          <a:xfrm>
            <a:off x="457200" y="3136392"/>
            <a:ext cx="256032" cy="256032"/>
          </a:xfrm>
          <a:prstGeom prst="rect">
            <a:avLst/>
          </a:prstGeom>
        </p:spPr>
      </p:pic>
      <p:sp>
        <p:nvSpPr>
          <p:cNvPr id="12" name="Text 7"/>
          <p:cNvSpPr/>
          <p:nvPr/>
        </p:nvSpPr>
        <p:spPr>
          <a:xfrm>
            <a:off x="804672" y="3063240"/>
            <a:ext cx="2057400" cy="411480"/>
          </a:xfrm>
          <a:prstGeom prst="rect">
            <a:avLst/>
          </a:prstGeom>
          <a:noFill/>
          <a:ln/>
        </p:spPr>
        <p:txBody>
          <a:bodyPr wrap="square" lIns="0" tIns="0" rIns="0" bIns="0" rtlCol="0" anchor="ctr"/>
          <a:lstStyle/>
          <a:p>
            <a:pPr indent="0" marL="0">
              <a:buNone/>
            </a:pPr>
            <a:r>
              <a:rPr lang="en-US" sz="1050" dirty="0">
                <a:solidFill>
                  <a:srgbClr val="1E293B"/>
                </a:solidFill>
              </a:rPr>
              <a:t>Tidak butuh data</a:t>
            </a:r>
            <a:endParaRPr lang="en-US" sz="1050" dirty="0"/>
          </a:p>
        </p:txBody>
      </p:sp>
      <p:pic>
        <p:nvPicPr>
          <p:cNvPr id="13" name="Image 3" descr="preencoded.png">    </p:cNvPr>
          <p:cNvPicPr>
            <a:picLocks noChangeAspect="1"/>
          </p:cNvPicPr>
          <p:nvPr/>
        </p:nvPicPr>
        <p:blipFill>
          <a:blip r:embed="rId4"/>
          <a:stretch>
            <a:fillRect/>
          </a:stretch>
        </p:blipFill>
        <p:spPr>
          <a:xfrm>
            <a:off x="457200" y="3730752"/>
            <a:ext cx="256032" cy="256032"/>
          </a:xfrm>
          <a:prstGeom prst="rect">
            <a:avLst/>
          </a:prstGeom>
        </p:spPr>
      </p:pic>
      <p:sp>
        <p:nvSpPr>
          <p:cNvPr id="14" name="Text 8"/>
          <p:cNvSpPr/>
          <p:nvPr/>
        </p:nvSpPr>
        <p:spPr>
          <a:xfrm>
            <a:off x="804672" y="3657600"/>
            <a:ext cx="2057400" cy="411480"/>
          </a:xfrm>
          <a:prstGeom prst="rect">
            <a:avLst/>
          </a:prstGeom>
          <a:noFill/>
          <a:ln/>
        </p:spPr>
        <p:txBody>
          <a:bodyPr wrap="square" lIns="0" tIns="0" rIns="0" bIns="0" rtlCol="0" anchor="ctr"/>
          <a:lstStyle/>
          <a:p>
            <a:pPr indent="0" marL="0">
              <a:buNone/>
            </a:pPr>
            <a:r>
              <a:rPr lang="en-US" sz="1050" dirty="0">
                <a:solidFill>
                  <a:srgbClr val="1E293B"/>
                </a:solidFill>
              </a:rPr>
              <a:t>Mulai collect feedback</a:t>
            </a:r>
            <a:endParaRPr lang="en-US" sz="1050" dirty="0"/>
          </a:p>
        </p:txBody>
      </p:sp>
      <p:sp>
        <p:nvSpPr>
          <p:cNvPr id="15" name="Text 9"/>
          <p:cNvSpPr/>
          <p:nvPr/>
        </p:nvSpPr>
        <p:spPr>
          <a:xfrm>
            <a:off x="2944368" y="2560320"/>
            <a:ext cx="320040" cy="411480"/>
          </a:xfrm>
          <a:prstGeom prst="rect">
            <a:avLst/>
          </a:prstGeom>
          <a:noFill/>
          <a:ln/>
        </p:spPr>
        <p:txBody>
          <a:bodyPr wrap="square" lIns="0" tIns="0" rIns="0" bIns="0" rtlCol="0" anchor="ctr"/>
          <a:lstStyle/>
          <a:p>
            <a:pPr algn="ctr" indent="0" marL="0">
              <a:buNone/>
            </a:pPr>
            <a:r>
              <a:rPr lang="en-US" sz="2200" dirty="0">
                <a:solidFill>
                  <a:srgbClr val="64748B"/>
                </a:solidFill>
              </a:rPr>
              <a:t>→</a:t>
            </a:r>
            <a:endParaRPr lang="en-US" sz="2200" dirty="0"/>
          </a:p>
        </p:txBody>
      </p:sp>
      <p:sp>
        <p:nvSpPr>
          <p:cNvPr id="16" name="Shape 10"/>
          <p:cNvSpPr/>
          <p:nvPr/>
        </p:nvSpPr>
        <p:spPr>
          <a:xfrm>
            <a:off x="3200400" y="777240"/>
            <a:ext cx="2697480" cy="3931920"/>
          </a:xfrm>
          <a:prstGeom prst="rect">
            <a:avLst/>
          </a:prstGeom>
          <a:solidFill>
            <a:srgbClr val="F0FDFA"/>
          </a:solidFill>
          <a:ln w="12700">
            <a:solidFill>
              <a:srgbClr val="0D9488"/>
            </a:solidFill>
            <a:prstDash val="solid"/>
          </a:ln>
          <a:effectLst>
            <a:outerShdw sx="100000" sy="100000" kx="0" ky="0" algn="bl" rotWithShape="0" blurRad="76200" dist="25400" dir="8100000">
              <a:srgbClr val="000000">
                <a:alpha val="12000"/>
              </a:srgbClr>
            </a:outerShdw>
          </a:effectLst>
        </p:spPr>
      </p:sp>
      <p:sp>
        <p:nvSpPr>
          <p:cNvPr id="17" name="Shape 11"/>
          <p:cNvSpPr/>
          <p:nvPr/>
        </p:nvSpPr>
        <p:spPr>
          <a:xfrm>
            <a:off x="3200400" y="777240"/>
            <a:ext cx="2697480" cy="457200"/>
          </a:xfrm>
          <a:prstGeom prst="rect">
            <a:avLst/>
          </a:prstGeom>
          <a:solidFill>
            <a:srgbClr val="0D9488"/>
          </a:solidFill>
          <a:ln w="12700">
            <a:solidFill>
              <a:srgbClr val="0D9488"/>
            </a:solidFill>
            <a:prstDash val="solid"/>
          </a:ln>
        </p:spPr>
      </p:sp>
      <p:sp>
        <p:nvSpPr>
          <p:cNvPr id="18" name="Text 12"/>
          <p:cNvSpPr/>
          <p:nvPr/>
        </p:nvSpPr>
        <p:spPr>
          <a:xfrm>
            <a:off x="3200400" y="777240"/>
            <a:ext cx="2697480" cy="457200"/>
          </a:xfrm>
          <a:prstGeom prst="rect">
            <a:avLst/>
          </a:prstGeom>
          <a:noFill/>
          <a:ln/>
        </p:spPr>
        <p:txBody>
          <a:bodyPr wrap="square" lIns="0" tIns="0" rIns="0" bIns="0" rtlCol="0" anchor="ctr"/>
          <a:lstStyle/>
          <a:p>
            <a:pPr algn="ctr" indent="0" marL="0">
              <a:buNone/>
            </a:pPr>
            <a:r>
              <a:rPr lang="en-US" sz="1100" b="1" dirty="0">
                <a:solidFill>
                  <a:srgbClr val="FFFFFF"/>
                </a:solidFill>
              </a:rPr>
              <a:t>Phase 2 — Minggu 2–3</a:t>
            </a:r>
            <a:endParaRPr lang="en-US" sz="1100" dirty="0"/>
          </a:p>
        </p:txBody>
      </p:sp>
      <p:sp>
        <p:nvSpPr>
          <p:cNvPr id="19" name="Text 13"/>
          <p:cNvSpPr/>
          <p:nvPr/>
        </p:nvSpPr>
        <p:spPr>
          <a:xfrm>
            <a:off x="3291840" y="1325880"/>
            <a:ext cx="2514600" cy="457200"/>
          </a:xfrm>
          <a:prstGeom prst="rect">
            <a:avLst/>
          </a:prstGeom>
          <a:noFill/>
          <a:ln/>
        </p:spPr>
        <p:txBody>
          <a:bodyPr wrap="square" lIns="0" tIns="0" rIns="0" bIns="0" rtlCol="0" anchor="ctr"/>
          <a:lstStyle/>
          <a:p>
            <a:pPr algn="ctr" indent="0" marL="0">
              <a:buNone/>
            </a:pPr>
            <a:r>
              <a:rPr lang="en-US" sz="1300" b="1" dirty="0">
                <a:solidFill>
                  <a:srgbClr val="0D9488"/>
                </a:solidFill>
                <a:latin typeface="Trebuchet MS" pitchFamily="34" charset="0"/>
                <a:ea typeface="Trebuchet MS" pitchFamily="34" charset="-122"/>
                <a:cs typeface="Trebuchet MS" pitchFamily="34" charset="-120"/>
              </a:rPr>
              <a:t>MobileNetV3 + XGBoost</a:t>
            </a:r>
            <a:endParaRPr lang="en-US" sz="1300" dirty="0"/>
          </a:p>
        </p:txBody>
      </p:sp>
      <p:pic>
        <p:nvPicPr>
          <p:cNvPr id="20" name="Image 4" descr="preencoded.png">    </p:cNvPr>
          <p:cNvPicPr>
            <a:picLocks noChangeAspect="1"/>
          </p:cNvPicPr>
          <p:nvPr/>
        </p:nvPicPr>
        <p:blipFill>
          <a:blip r:embed="rId5"/>
          <a:stretch>
            <a:fillRect/>
          </a:stretch>
        </p:blipFill>
        <p:spPr>
          <a:xfrm>
            <a:off x="3383280" y="1947672"/>
            <a:ext cx="256032" cy="256032"/>
          </a:xfrm>
          <a:prstGeom prst="rect">
            <a:avLst/>
          </a:prstGeom>
        </p:spPr>
      </p:pic>
      <p:sp>
        <p:nvSpPr>
          <p:cNvPr id="21" name="Text 14"/>
          <p:cNvSpPr/>
          <p:nvPr/>
        </p:nvSpPr>
        <p:spPr>
          <a:xfrm>
            <a:off x="3730752" y="1874520"/>
            <a:ext cx="2057400" cy="411480"/>
          </a:xfrm>
          <a:prstGeom prst="rect">
            <a:avLst/>
          </a:prstGeom>
          <a:noFill/>
          <a:ln/>
        </p:spPr>
        <p:txBody>
          <a:bodyPr wrap="square" lIns="0" tIns="0" rIns="0" bIns="0" rtlCol="0" anchor="ctr"/>
          <a:lstStyle/>
          <a:p>
            <a:pPr indent="0" marL="0">
              <a:buNone/>
            </a:pPr>
            <a:r>
              <a:rPr lang="en-US" sz="1050" dirty="0">
                <a:solidFill>
                  <a:srgbClr val="1E293B"/>
                </a:solidFill>
              </a:rPr>
              <a:t>Setelah data terkumpul</a:t>
            </a:r>
            <a:endParaRPr lang="en-US" sz="1050" dirty="0"/>
          </a:p>
        </p:txBody>
      </p:sp>
      <p:pic>
        <p:nvPicPr>
          <p:cNvPr id="22" name="Image 5" descr="preencoded.png">    </p:cNvPr>
          <p:cNvPicPr>
            <a:picLocks noChangeAspect="1"/>
          </p:cNvPicPr>
          <p:nvPr/>
        </p:nvPicPr>
        <p:blipFill>
          <a:blip r:embed="rId6"/>
          <a:stretch>
            <a:fillRect/>
          </a:stretch>
        </p:blipFill>
        <p:spPr>
          <a:xfrm>
            <a:off x="3383280" y="2542032"/>
            <a:ext cx="256032" cy="256032"/>
          </a:xfrm>
          <a:prstGeom prst="rect">
            <a:avLst/>
          </a:prstGeom>
        </p:spPr>
      </p:pic>
      <p:sp>
        <p:nvSpPr>
          <p:cNvPr id="23" name="Text 15"/>
          <p:cNvSpPr/>
          <p:nvPr/>
        </p:nvSpPr>
        <p:spPr>
          <a:xfrm>
            <a:off x="3730752" y="2468880"/>
            <a:ext cx="2057400" cy="411480"/>
          </a:xfrm>
          <a:prstGeom prst="rect">
            <a:avLst/>
          </a:prstGeom>
          <a:noFill/>
          <a:ln/>
        </p:spPr>
        <p:txBody>
          <a:bodyPr wrap="square" lIns="0" tIns="0" rIns="0" bIns="0" rtlCol="0" anchor="ctr"/>
          <a:lstStyle/>
          <a:p>
            <a:pPr indent="0" marL="0">
              <a:buNone/>
            </a:pPr>
            <a:r>
              <a:rPr lang="en-US" sz="1050" dirty="0">
                <a:solidFill>
                  <a:srgbClr val="1E293B"/>
                </a:solidFill>
              </a:rPr>
              <a:t>5-Fold Cross-Validation</a:t>
            </a:r>
            <a:endParaRPr lang="en-US" sz="1050" dirty="0"/>
          </a:p>
        </p:txBody>
      </p:sp>
      <p:pic>
        <p:nvPicPr>
          <p:cNvPr id="24" name="Image 6" descr="preencoded.png">    </p:cNvPr>
          <p:cNvPicPr>
            <a:picLocks noChangeAspect="1"/>
          </p:cNvPicPr>
          <p:nvPr/>
        </p:nvPicPr>
        <p:blipFill>
          <a:blip r:embed="rId7"/>
          <a:stretch>
            <a:fillRect/>
          </a:stretch>
        </p:blipFill>
        <p:spPr>
          <a:xfrm>
            <a:off x="3383280" y="3136392"/>
            <a:ext cx="256032" cy="256032"/>
          </a:xfrm>
          <a:prstGeom prst="rect">
            <a:avLst/>
          </a:prstGeom>
        </p:spPr>
      </p:pic>
      <p:sp>
        <p:nvSpPr>
          <p:cNvPr id="25" name="Text 16"/>
          <p:cNvSpPr/>
          <p:nvPr/>
        </p:nvSpPr>
        <p:spPr>
          <a:xfrm>
            <a:off x="3730752" y="3063240"/>
            <a:ext cx="2057400" cy="411480"/>
          </a:xfrm>
          <a:prstGeom prst="rect">
            <a:avLst/>
          </a:prstGeom>
          <a:noFill/>
          <a:ln/>
        </p:spPr>
        <p:txBody>
          <a:bodyPr wrap="square" lIns="0" tIns="0" rIns="0" bIns="0" rtlCol="0" anchor="ctr"/>
          <a:lstStyle/>
          <a:p>
            <a:pPr indent="0" marL="0">
              <a:buNone/>
            </a:pPr>
            <a:r>
              <a:rPr lang="en-US" sz="1050" dirty="0">
                <a:solidFill>
                  <a:srgbClr val="1E293B"/>
                </a:solidFill>
              </a:rPr>
              <a:t>Target: &gt;90%</a:t>
            </a:r>
            <a:endParaRPr lang="en-US" sz="1050" dirty="0"/>
          </a:p>
        </p:txBody>
      </p:sp>
      <p:pic>
        <p:nvPicPr>
          <p:cNvPr id="26" name="Image 7" descr="preencoded.png">    </p:cNvPr>
          <p:cNvPicPr>
            <a:picLocks noChangeAspect="1"/>
          </p:cNvPicPr>
          <p:nvPr/>
        </p:nvPicPr>
        <p:blipFill>
          <a:blip r:embed="rId8"/>
          <a:stretch>
            <a:fillRect/>
          </a:stretch>
        </p:blipFill>
        <p:spPr>
          <a:xfrm>
            <a:off x="3383280" y="3730752"/>
            <a:ext cx="256032" cy="256032"/>
          </a:xfrm>
          <a:prstGeom prst="rect">
            <a:avLst/>
          </a:prstGeom>
        </p:spPr>
      </p:pic>
      <p:sp>
        <p:nvSpPr>
          <p:cNvPr id="27" name="Text 17"/>
          <p:cNvSpPr/>
          <p:nvPr/>
        </p:nvSpPr>
        <p:spPr>
          <a:xfrm>
            <a:off x="3730752" y="3657600"/>
            <a:ext cx="2057400" cy="411480"/>
          </a:xfrm>
          <a:prstGeom prst="rect">
            <a:avLst/>
          </a:prstGeom>
          <a:noFill/>
          <a:ln/>
        </p:spPr>
        <p:txBody>
          <a:bodyPr wrap="square" lIns="0" tIns="0" rIns="0" bIns="0" rtlCol="0" anchor="ctr"/>
          <a:lstStyle/>
          <a:p>
            <a:pPr indent="0" marL="0">
              <a:buNone/>
            </a:pPr>
            <a:r>
              <a:rPr lang="en-US" sz="1050" dirty="0">
                <a:solidFill>
                  <a:srgbClr val="1E293B"/>
                </a:solidFill>
              </a:rPr>
              <a:t>Butuh labeled dataset</a:t>
            </a:r>
            <a:endParaRPr lang="en-US" sz="1050" dirty="0"/>
          </a:p>
        </p:txBody>
      </p:sp>
      <p:sp>
        <p:nvSpPr>
          <p:cNvPr id="28" name="Text 18"/>
          <p:cNvSpPr/>
          <p:nvPr/>
        </p:nvSpPr>
        <p:spPr>
          <a:xfrm>
            <a:off x="5870448" y="2560320"/>
            <a:ext cx="320040" cy="411480"/>
          </a:xfrm>
          <a:prstGeom prst="rect">
            <a:avLst/>
          </a:prstGeom>
          <a:noFill/>
          <a:ln/>
        </p:spPr>
        <p:txBody>
          <a:bodyPr wrap="square" lIns="0" tIns="0" rIns="0" bIns="0" rtlCol="0" anchor="ctr"/>
          <a:lstStyle/>
          <a:p>
            <a:pPr algn="ctr" indent="0" marL="0">
              <a:buNone/>
            </a:pPr>
            <a:r>
              <a:rPr lang="en-US" sz="2200" dirty="0">
                <a:solidFill>
                  <a:srgbClr val="64748B"/>
                </a:solidFill>
              </a:rPr>
              <a:t>→</a:t>
            </a:r>
            <a:endParaRPr lang="en-US" sz="2200" dirty="0"/>
          </a:p>
        </p:txBody>
      </p:sp>
      <p:sp>
        <p:nvSpPr>
          <p:cNvPr id="29" name="Shape 19"/>
          <p:cNvSpPr/>
          <p:nvPr/>
        </p:nvSpPr>
        <p:spPr>
          <a:xfrm>
            <a:off x="6126480" y="777240"/>
            <a:ext cx="2697480" cy="3931920"/>
          </a:xfrm>
          <a:prstGeom prst="rect">
            <a:avLst/>
          </a:prstGeom>
          <a:solidFill>
            <a:srgbClr val="EFF6FF"/>
          </a:solidFill>
          <a:ln w="12700">
            <a:solidFill>
              <a:srgbClr val="065A82"/>
            </a:solidFill>
            <a:prstDash val="solid"/>
          </a:ln>
          <a:effectLst>
            <a:outerShdw sx="100000" sy="100000" kx="0" ky="0" algn="bl" rotWithShape="0" blurRad="76200" dist="25400" dir="8100000">
              <a:srgbClr val="000000">
                <a:alpha val="12000"/>
              </a:srgbClr>
            </a:outerShdw>
          </a:effectLst>
        </p:spPr>
      </p:sp>
      <p:sp>
        <p:nvSpPr>
          <p:cNvPr id="30" name="Shape 20"/>
          <p:cNvSpPr/>
          <p:nvPr/>
        </p:nvSpPr>
        <p:spPr>
          <a:xfrm>
            <a:off x="6126480" y="777240"/>
            <a:ext cx="2697480" cy="457200"/>
          </a:xfrm>
          <a:prstGeom prst="rect">
            <a:avLst/>
          </a:prstGeom>
          <a:solidFill>
            <a:srgbClr val="065A82"/>
          </a:solidFill>
          <a:ln w="12700">
            <a:solidFill>
              <a:srgbClr val="065A82"/>
            </a:solidFill>
            <a:prstDash val="solid"/>
          </a:ln>
        </p:spPr>
      </p:sp>
      <p:sp>
        <p:nvSpPr>
          <p:cNvPr id="31" name="Text 21"/>
          <p:cNvSpPr/>
          <p:nvPr/>
        </p:nvSpPr>
        <p:spPr>
          <a:xfrm>
            <a:off x="6126480" y="777240"/>
            <a:ext cx="2697480" cy="457200"/>
          </a:xfrm>
          <a:prstGeom prst="rect">
            <a:avLst/>
          </a:prstGeom>
          <a:noFill/>
          <a:ln/>
        </p:spPr>
        <p:txBody>
          <a:bodyPr wrap="square" lIns="0" tIns="0" rIns="0" bIns="0" rtlCol="0" anchor="ctr"/>
          <a:lstStyle/>
          <a:p>
            <a:pPr algn="ctr" indent="0" marL="0">
              <a:buNone/>
            </a:pPr>
            <a:r>
              <a:rPr lang="en-US" sz="1100" b="1" dirty="0">
                <a:solidFill>
                  <a:srgbClr val="FFFFFF"/>
                </a:solidFill>
              </a:rPr>
              <a:t>Phase 3 — Bulan 2+</a:t>
            </a:r>
            <a:endParaRPr lang="en-US" sz="1100" dirty="0"/>
          </a:p>
        </p:txBody>
      </p:sp>
      <p:sp>
        <p:nvSpPr>
          <p:cNvPr id="32" name="Text 22"/>
          <p:cNvSpPr/>
          <p:nvPr/>
        </p:nvSpPr>
        <p:spPr>
          <a:xfrm>
            <a:off x="6217920" y="1325880"/>
            <a:ext cx="2514600" cy="457200"/>
          </a:xfrm>
          <a:prstGeom prst="rect">
            <a:avLst/>
          </a:prstGeom>
          <a:noFill/>
          <a:ln/>
        </p:spPr>
        <p:txBody>
          <a:bodyPr wrap="square" lIns="0" tIns="0" rIns="0" bIns="0" rtlCol="0" anchor="ctr"/>
          <a:lstStyle/>
          <a:p>
            <a:pPr algn="ctr" indent="0" marL="0">
              <a:buNone/>
            </a:pPr>
            <a:r>
              <a:rPr lang="en-US" sz="1300" b="1" dirty="0">
                <a:solidFill>
                  <a:srgbClr val="065A82"/>
                </a:solidFill>
                <a:latin typeface="Trebuchet MS" pitchFamily="34" charset="0"/>
                <a:ea typeface="Trebuchet MS" pitchFamily="34" charset="-122"/>
                <a:cs typeface="Trebuchet MS" pitchFamily="34" charset="-120"/>
              </a:rPr>
              <a:t>Production Pipeline</a:t>
            </a:r>
            <a:endParaRPr lang="en-US" sz="1300" dirty="0"/>
          </a:p>
        </p:txBody>
      </p:sp>
      <p:pic>
        <p:nvPicPr>
          <p:cNvPr id="33" name="Image 8" descr="preencoded.png">    </p:cNvPr>
          <p:cNvPicPr>
            <a:picLocks noChangeAspect="1"/>
          </p:cNvPicPr>
          <p:nvPr/>
        </p:nvPicPr>
        <p:blipFill>
          <a:blip r:embed="rId9"/>
          <a:stretch>
            <a:fillRect/>
          </a:stretch>
        </p:blipFill>
        <p:spPr>
          <a:xfrm>
            <a:off x="6309360" y="1947672"/>
            <a:ext cx="256032" cy="256032"/>
          </a:xfrm>
          <a:prstGeom prst="rect">
            <a:avLst/>
          </a:prstGeom>
        </p:spPr>
      </p:pic>
      <p:sp>
        <p:nvSpPr>
          <p:cNvPr id="34" name="Text 23"/>
          <p:cNvSpPr/>
          <p:nvPr/>
        </p:nvSpPr>
        <p:spPr>
          <a:xfrm>
            <a:off x="6656832" y="1874520"/>
            <a:ext cx="2057400" cy="411480"/>
          </a:xfrm>
          <a:prstGeom prst="rect">
            <a:avLst/>
          </a:prstGeom>
          <a:noFill/>
          <a:ln/>
        </p:spPr>
        <p:txBody>
          <a:bodyPr wrap="square" lIns="0" tIns="0" rIns="0" bIns="0" rtlCol="0" anchor="ctr"/>
          <a:lstStyle/>
          <a:p>
            <a:pPr indent="0" marL="0">
              <a:buNone/>
            </a:pPr>
            <a:r>
              <a:rPr lang="en-US" sz="1050" dirty="0">
                <a:solidFill>
                  <a:srgbClr val="1E293B"/>
                </a:solidFill>
              </a:rPr>
              <a:t>Best performer dipilih</a:t>
            </a:r>
            <a:endParaRPr lang="en-US" sz="1050" dirty="0"/>
          </a:p>
        </p:txBody>
      </p:sp>
      <p:pic>
        <p:nvPicPr>
          <p:cNvPr id="35" name="Image 9" descr="preencoded.png">    </p:cNvPr>
          <p:cNvPicPr>
            <a:picLocks noChangeAspect="1"/>
          </p:cNvPicPr>
          <p:nvPr/>
        </p:nvPicPr>
        <p:blipFill>
          <a:blip r:embed="rId10"/>
          <a:stretch>
            <a:fillRect/>
          </a:stretch>
        </p:blipFill>
        <p:spPr>
          <a:xfrm>
            <a:off x="6309360" y="2542032"/>
            <a:ext cx="256032" cy="256032"/>
          </a:xfrm>
          <a:prstGeom prst="rect">
            <a:avLst/>
          </a:prstGeom>
        </p:spPr>
      </p:pic>
      <p:sp>
        <p:nvSpPr>
          <p:cNvPr id="36" name="Text 24"/>
          <p:cNvSpPr/>
          <p:nvPr/>
        </p:nvSpPr>
        <p:spPr>
          <a:xfrm>
            <a:off x="6656832" y="2468880"/>
            <a:ext cx="2057400" cy="411480"/>
          </a:xfrm>
          <a:prstGeom prst="rect">
            <a:avLst/>
          </a:prstGeom>
          <a:noFill/>
          <a:ln/>
        </p:spPr>
        <p:txBody>
          <a:bodyPr wrap="square" lIns="0" tIns="0" rIns="0" bIns="0" rtlCol="0" anchor="ctr"/>
          <a:lstStyle/>
          <a:p>
            <a:pPr indent="0" marL="0">
              <a:buNone/>
            </a:pPr>
            <a:r>
              <a:rPr lang="en-US" sz="1050" dirty="0">
                <a:solidFill>
                  <a:srgbClr val="1E293B"/>
                </a:solidFill>
              </a:rPr>
              <a:t>Layer 2: OCR validation</a:t>
            </a:r>
            <a:endParaRPr lang="en-US" sz="1050" dirty="0"/>
          </a:p>
        </p:txBody>
      </p:sp>
      <p:pic>
        <p:nvPicPr>
          <p:cNvPr id="37" name="Image 10" descr="preencoded.png">    </p:cNvPr>
          <p:cNvPicPr>
            <a:picLocks noChangeAspect="1"/>
          </p:cNvPicPr>
          <p:nvPr/>
        </p:nvPicPr>
        <p:blipFill>
          <a:blip r:embed="rId11"/>
          <a:stretch>
            <a:fillRect/>
          </a:stretch>
        </p:blipFill>
        <p:spPr>
          <a:xfrm>
            <a:off x="6309360" y="3136392"/>
            <a:ext cx="256032" cy="256032"/>
          </a:xfrm>
          <a:prstGeom prst="rect">
            <a:avLst/>
          </a:prstGeom>
        </p:spPr>
      </p:pic>
      <p:sp>
        <p:nvSpPr>
          <p:cNvPr id="38" name="Text 25"/>
          <p:cNvSpPr/>
          <p:nvPr/>
        </p:nvSpPr>
        <p:spPr>
          <a:xfrm>
            <a:off x="6656832" y="3063240"/>
            <a:ext cx="2057400" cy="411480"/>
          </a:xfrm>
          <a:prstGeom prst="rect">
            <a:avLst/>
          </a:prstGeom>
          <a:noFill/>
          <a:ln/>
        </p:spPr>
        <p:txBody>
          <a:bodyPr wrap="square" lIns="0" tIns="0" rIns="0" bIns="0" rtlCol="0" anchor="ctr"/>
          <a:lstStyle/>
          <a:p>
            <a:pPr indent="0" marL="0">
              <a:buNone/>
            </a:pPr>
            <a:r>
              <a:rPr lang="en-US" sz="1050" dirty="0">
                <a:solidFill>
                  <a:srgbClr val="1E293B"/>
                </a:solidFill>
              </a:rPr>
              <a:t>Card type identification</a:t>
            </a:r>
            <a:endParaRPr lang="en-US" sz="1050" dirty="0"/>
          </a:p>
        </p:txBody>
      </p:sp>
      <p:pic>
        <p:nvPicPr>
          <p:cNvPr id="39" name="Image 11" descr="preencoded.png">    </p:cNvPr>
          <p:cNvPicPr>
            <a:picLocks noChangeAspect="1"/>
          </p:cNvPicPr>
          <p:nvPr/>
        </p:nvPicPr>
        <p:blipFill>
          <a:blip r:embed="rId12"/>
          <a:stretch>
            <a:fillRect/>
          </a:stretch>
        </p:blipFill>
        <p:spPr>
          <a:xfrm>
            <a:off x="6309360" y="3730752"/>
            <a:ext cx="256032" cy="256032"/>
          </a:xfrm>
          <a:prstGeom prst="rect">
            <a:avLst/>
          </a:prstGeom>
        </p:spPr>
      </p:pic>
      <p:sp>
        <p:nvSpPr>
          <p:cNvPr id="40" name="Text 26"/>
          <p:cNvSpPr/>
          <p:nvPr/>
        </p:nvSpPr>
        <p:spPr>
          <a:xfrm>
            <a:off x="6656832" y="3657600"/>
            <a:ext cx="2057400" cy="411480"/>
          </a:xfrm>
          <a:prstGeom prst="rect">
            <a:avLst/>
          </a:prstGeom>
          <a:noFill/>
          <a:ln/>
        </p:spPr>
        <p:txBody>
          <a:bodyPr wrap="square" lIns="0" tIns="0" rIns="0" bIns="0" rtlCol="0" anchor="ctr"/>
          <a:lstStyle/>
          <a:p>
            <a:pPr indent="0" marL="0">
              <a:buNone/>
            </a:pPr>
            <a:r>
              <a:rPr lang="en-US" sz="1050" dirty="0">
                <a:solidFill>
                  <a:srgbClr val="1E293B"/>
                </a:solidFill>
              </a:rPr>
              <a:t>Full automated pipeline</a:t>
            </a:r>
            <a:endParaRPr lang="en-US" sz="1050" dirty="0"/>
          </a:p>
        </p:txBody>
      </p:sp>
      <p:sp>
        <p:nvSpPr>
          <p:cNvPr id="41" name="Shape 27"/>
          <p:cNvSpPr/>
          <p:nvPr/>
        </p:nvSpPr>
        <p:spPr>
          <a:xfrm>
            <a:off x="274320" y="4663440"/>
            <a:ext cx="8595360" cy="365760"/>
          </a:xfrm>
          <a:prstGeom prst="rect">
            <a:avLst/>
          </a:prstGeom>
          <a:solidFill>
            <a:srgbClr val="F1F5F9"/>
          </a:solidFill>
          <a:ln w="12700">
            <a:solidFill>
              <a:srgbClr val="E2E8F0"/>
            </a:solidFill>
            <a:prstDash val="solid"/>
          </a:ln>
        </p:spPr>
      </p:sp>
      <p:sp>
        <p:nvSpPr>
          <p:cNvPr id="42" name="Text 28"/>
          <p:cNvSpPr/>
          <p:nvPr/>
        </p:nvSpPr>
        <p:spPr>
          <a:xfrm>
            <a:off x="365760" y="4663440"/>
            <a:ext cx="8412480" cy="365760"/>
          </a:xfrm>
          <a:prstGeom prst="rect">
            <a:avLst/>
          </a:prstGeom>
          <a:noFill/>
          <a:ln/>
        </p:spPr>
        <p:txBody>
          <a:bodyPr wrap="square" lIns="50800" tIns="50800" rIns="50800" bIns="50800" rtlCol="0" anchor="ctr"/>
          <a:lstStyle/>
          <a:p>
            <a:pPr indent="0" marL="0">
              <a:buNone/>
            </a:pPr>
            <a:r>
              <a:rPr lang="en-US" sz="1000" i="1" dirty="0">
                <a:solidFill>
                  <a:srgbClr val="64748B"/>
                </a:solidFill>
              </a:rPr>
              <a:t>OpenCLIP sebagai baseline dan fallback. MobileNetV3/XGBoost di-train setelah dataset cukup. Model terbaik dipilih berdasarkan evaluation metrics.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91440"/>
            <a:ext cx="8412480" cy="502920"/>
          </a:xfrm>
          <a:prstGeom prst="rect">
            <a:avLst/>
          </a:prstGeom>
          <a:noFill/>
          <a:ln/>
        </p:spPr>
        <p:txBody>
          <a:bodyPr wrap="square" rtlCol="0" anchor="ctr"/>
          <a:lstStyle/>
          <a:p>
            <a:pPr indent="0" marL="0">
              <a:buNone/>
            </a:pPr>
            <a:r>
              <a:rPr lang="en-US" sz="2600" b="1" dirty="0">
                <a:solidFill>
                  <a:srgbClr val="065A82"/>
                </a:solidFill>
                <a:latin typeface="Trebuchet MS" pitchFamily="34" charset="0"/>
                <a:ea typeface="Trebuchet MS" pitchFamily="34" charset="-122"/>
                <a:cs typeface="Trebuchet MS" pitchFamily="34" charset="-120"/>
              </a:rPr>
              <a:t>Full Production Vision: 2-Layer Pipeline</a:t>
            </a:r>
            <a:endParaRPr lang="en-US" sz="2600" dirty="0"/>
          </a:p>
        </p:txBody>
      </p:sp>
      <p:sp>
        <p:nvSpPr>
          <p:cNvPr id="3" name="Shape 1"/>
          <p:cNvSpPr/>
          <p:nvPr/>
        </p:nvSpPr>
        <p:spPr>
          <a:xfrm>
            <a:off x="3200400" y="685800"/>
            <a:ext cx="2743200" cy="457200"/>
          </a:xfrm>
          <a:prstGeom prst="rect">
            <a:avLst/>
          </a:prstGeom>
          <a:solidFill>
            <a:srgbClr val="1C7293"/>
          </a:solidFill>
          <a:ln w="12700">
            <a:solidFill>
              <a:srgbClr val="1C7293"/>
            </a:solidFill>
            <a:prstDash val="solid"/>
          </a:ln>
          <a:effectLst>
            <a:outerShdw sx="100000" sy="100000" kx="0" ky="0" algn="bl" rotWithShape="0" blurRad="76200" dist="25400" dir="8100000">
              <a:srgbClr val="000000">
                <a:alpha val="12000"/>
              </a:srgbClr>
            </a:outerShdw>
          </a:effectLst>
        </p:spPr>
      </p:sp>
      <p:sp>
        <p:nvSpPr>
          <p:cNvPr id="4" name="Text 2"/>
          <p:cNvSpPr/>
          <p:nvPr/>
        </p:nvSpPr>
        <p:spPr>
          <a:xfrm>
            <a:off x="3200400" y="685800"/>
            <a:ext cx="2743200" cy="457200"/>
          </a:xfrm>
          <a:prstGeom prst="rect">
            <a:avLst/>
          </a:prstGeom>
          <a:noFill/>
          <a:ln/>
        </p:spPr>
        <p:txBody>
          <a:bodyPr wrap="square" lIns="0" tIns="0" rIns="0" bIns="0" rtlCol="0" anchor="ctr"/>
          <a:lstStyle/>
          <a:p>
            <a:pPr algn="ctr" indent="0" marL="0">
              <a:buNone/>
            </a:pPr>
            <a:r>
              <a:rPr lang="en-US" sz="1300" b="1" dirty="0">
                <a:solidFill>
                  <a:srgbClr val="FFFFFF"/>
                </a:solidFill>
              </a:rPr>
              <a:t>Input Selfie</a:t>
            </a:r>
            <a:endParaRPr lang="en-US" sz="1300" dirty="0"/>
          </a:p>
        </p:txBody>
      </p:sp>
      <p:sp>
        <p:nvSpPr>
          <p:cNvPr id="5" name="Text 3"/>
          <p:cNvSpPr/>
          <p:nvPr/>
        </p:nvSpPr>
        <p:spPr>
          <a:xfrm>
            <a:off x="4434840" y="1170432"/>
            <a:ext cx="274320" cy="274320"/>
          </a:xfrm>
          <a:prstGeom prst="rect">
            <a:avLst/>
          </a:prstGeom>
          <a:noFill/>
          <a:ln/>
        </p:spPr>
        <p:txBody>
          <a:bodyPr wrap="square" lIns="0" tIns="0" rIns="0" bIns="0" rtlCol="0" anchor="ctr"/>
          <a:lstStyle/>
          <a:p>
            <a:pPr algn="ctr" indent="0" marL="0">
              <a:buNone/>
            </a:pPr>
            <a:r>
              <a:rPr lang="en-US" sz="1600" dirty="0">
                <a:solidFill>
                  <a:srgbClr val="64748B"/>
                </a:solidFill>
              </a:rPr>
              <a:t>↓</a:t>
            </a:r>
            <a:endParaRPr lang="en-US" sz="1600" dirty="0"/>
          </a:p>
        </p:txBody>
      </p:sp>
      <p:sp>
        <p:nvSpPr>
          <p:cNvPr id="6" name="Shape 4"/>
          <p:cNvSpPr/>
          <p:nvPr/>
        </p:nvSpPr>
        <p:spPr>
          <a:xfrm>
            <a:off x="1371600" y="1481328"/>
            <a:ext cx="6400800" cy="1234440"/>
          </a:xfrm>
          <a:prstGeom prst="rect">
            <a:avLst/>
          </a:prstGeom>
          <a:solidFill>
            <a:srgbClr val="EFF6FF"/>
          </a:solidFill>
          <a:ln w="12700">
            <a:solidFill>
              <a:srgbClr val="367BA8"/>
            </a:solidFill>
            <a:prstDash val="solid"/>
          </a:ln>
          <a:effectLst>
            <a:outerShdw sx="100000" sy="100000" kx="0" ky="0" algn="bl" rotWithShape="0" blurRad="76200" dist="25400" dir="8100000">
              <a:srgbClr val="000000">
                <a:alpha val="12000"/>
              </a:srgbClr>
            </a:outerShdw>
          </a:effectLst>
        </p:spPr>
      </p:sp>
      <p:sp>
        <p:nvSpPr>
          <p:cNvPr id="7" name="Shape 5"/>
          <p:cNvSpPr/>
          <p:nvPr/>
        </p:nvSpPr>
        <p:spPr>
          <a:xfrm>
            <a:off x="1371600" y="1481328"/>
            <a:ext cx="6400800" cy="411480"/>
          </a:xfrm>
          <a:prstGeom prst="rect">
            <a:avLst/>
          </a:prstGeom>
          <a:solidFill>
            <a:srgbClr val="065A82"/>
          </a:solidFill>
          <a:ln w="12700">
            <a:solidFill>
              <a:srgbClr val="065A82"/>
            </a:solidFill>
            <a:prstDash val="solid"/>
          </a:ln>
        </p:spPr>
      </p:sp>
      <p:sp>
        <p:nvSpPr>
          <p:cNvPr id="8" name="Text 6"/>
          <p:cNvSpPr/>
          <p:nvPr/>
        </p:nvSpPr>
        <p:spPr>
          <a:xfrm>
            <a:off x="1371600" y="1481328"/>
            <a:ext cx="6400800" cy="411480"/>
          </a:xfrm>
          <a:prstGeom prst="rect">
            <a:avLst/>
          </a:prstGeom>
          <a:noFill/>
          <a:ln/>
        </p:spPr>
        <p:txBody>
          <a:bodyPr wrap="square" lIns="0" tIns="0" rIns="0" bIns="0" rtlCol="0" anchor="ctr"/>
          <a:lstStyle/>
          <a:p>
            <a:pPr algn="ctr" indent="0" marL="0">
              <a:buNone/>
            </a:pPr>
            <a:r>
              <a:rPr lang="en-US" sz="1200" b="1" dirty="0">
                <a:solidFill>
                  <a:srgbClr val="FFFFFF"/>
                </a:solidFill>
              </a:rPr>
              <a:t>Layer 1: Classifier — "Ada kartu atau tidak?"</a:t>
            </a:r>
            <a:endParaRPr lang="en-US" sz="1200" dirty="0"/>
          </a:p>
        </p:txBody>
      </p:sp>
      <p:sp>
        <p:nvSpPr>
          <p:cNvPr id="9" name="Shape 7"/>
          <p:cNvSpPr/>
          <p:nvPr/>
        </p:nvSpPr>
        <p:spPr>
          <a:xfrm>
            <a:off x="1828800" y="1965960"/>
            <a:ext cx="1691640" cy="502920"/>
          </a:xfrm>
          <a:prstGeom prst="roundRect">
            <a:avLst>
              <a:gd name="adj" fmla="val 9091"/>
            </a:avLst>
          </a:prstGeom>
          <a:solidFill>
            <a:srgbClr val="0D9488"/>
          </a:solidFill>
          <a:ln w="12700">
            <a:solidFill>
              <a:srgbClr val="0D9488"/>
            </a:solidFill>
            <a:prstDash val="solid"/>
          </a:ln>
        </p:spPr>
      </p:sp>
      <p:sp>
        <p:nvSpPr>
          <p:cNvPr id="10" name="Text 8"/>
          <p:cNvSpPr/>
          <p:nvPr/>
        </p:nvSpPr>
        <p:spPr>
          <a:xfrm>
            <a:off x="1828800" y="1965960"/>
            <a:ext cx="1691640" cy="502920"/>
          </a:xfrm>
          <a:prstGeom prst="rect">
            <a:avLst/>
          </a:prstGeom>
          <a:noFill/>
          <a:ln/>
        </p:spPr>
        <p:txBody>
          <a:bodyPr wrap="square" lIns="0" tIns="0" rIns="0" bIns="0" rtlCol="0" anchor="ctr"/>
          <a:lstStyle/>
          <a:p>
            <a:pPr algn="ctr" indent="0" marL="0">
              <a:buNone/>
            </a:pPr>
            <a:r>
              <a:rPr lang="en-US" sz="1100" b="1" dirty="0">
                <a:solidFill>
                  <a:srgbClr val="FFFFFF"/>
                </a:solidFill>
              </a:rPr>
              <a:t>MobileNetV3</a:t>
            </a:r>
            <a:endParaRPr lang="en-US" sz="1100" dirty="0"/>
          </a:p>
        </p:txBody>
      </p:sp>
      <p:sp>
        <p:nvSpPr>
          <p:cNvPr id="11" name="Shape 9"/>
          <p:cNvSpPr/>
          <p:nvPr/>
        </p:nvSpPr>
        <p:spPr>
          <a:xfrm>
            <a:off x="3794760" y="1965960"/>
            <a:ext cx="1691640" cy="502920"/>
          </a:xfrm>
          <a:prstGeom prst="roundRect">
            <a:avLst>
              <a:gd name="adj" fmla="val 9091"/>
            </a:avLst>
          </a:prstGeom>
          <a:solidFill>
            <a:srgbClr val="D97706"/>
          </a:solidFill>
          <a:ln w="12700">
            <a:solidFill>
              <a:srgbClr val="D97706"/>
            </a:solidFill>
            <a:prstDash val="solid"/>
          </a:ln>
        </p:spPr>
      </p:sp>
      <p:sp>
        <p:nvSpPr>
          <p:cNvPr id="12" name="Text 10"/>
          <p:cNvSpPr/>
          <p:nvPr/>
        </p:nvSpPr>
        <p:spPr>
          <a:xfrm>
            <a:off x="3794760" y="1965960"/>
            <a:ext cx="1691640" cy="502920"/>
          </a:xfrm>
          <a:prstGeom prst="rect">
            <a:avLst/>
          </a:prstGeom>
          <a:noFill/>
          <a:ln/>
        </p:spPr>
        <p:txBody>
          <a:bodyPr wrap="square" lIns="0" tIns="0" rIns="0" bIns="0" rtlCol="0" anchor="ctr"/>
          <a:lstStyle/>
          <a:p>
            <a:pPr algn="ctr" indent="0" marL="0">
              <a:buNone/>
            </a:pPr>
            <a:r>
              <a:rPr lang="en-US" sz="1100" b="1" dirty="0">
                <a:solidFill>
                  <a:srgbClr val="FFFFFF"/>
                </a:solidFill>
              </a:rPr>
              <a:t>XGBoost</a:t>
            </a:r>
            <a:endParaRPr lang="en-US" sz="1100" dirty="0"/>
          </a:p>
        </p:txBody>
      </p:sp>
      <p:sp>
        <p:nvSpPr>
          <p:cNvPr id="13" name="Shape 11"/>
          <p:cNvSpPr/>
          <p:nvPr/>
        </p:nvSpPr>
        <p:spPr>
          <a:xfrm>
            <a:off x="5760720" y="1965960"/>
            <a:ext cx="1691640" cy="502920"/>
          </a:xfrm>
          <a:prstGeom prst="roundRect">
            <a:avLst>
              <a:gd name="adj" fmla="val 9091"/>
            </a:avLst>
          </a:prstGeom>
          <a:solidFill>
            <a:srgbClr val="7C3AED"/>
          </a:solidFill>
          <a:ln w="12700">
            <a:solidFill>
              <a:srgbClr val="7C3AED"/>
            </a:solidFill>
            <a:prstDash val="solid"/>
          </a:ln>
        </p:spPr>
      </p:sp>
      <p:sp>
        <p:nvSpPr>
          <p:cNvPr id="14" name="Text 12"/>
          <p:cNvSpPr/>
          <p:nvPr/>
        </p:nvSpPr>
        <p:spPr>
          <a:xfrm>
            <a:off x="5760720" y="1965960"/>
            <a:ext cx="1691640" cy="502920"/>
          </a:xfrm>
          <a:prstGeom prst="rect">
            <a:avLst/>
          </a:prstGeom>
          <a:noFill/>
          <a:ln/>
        </p:spPr>
        <p:txBody>
          <a:bodyPr wrap="square" lIns="0" tIns="0" rIns="0" bIns="0" rtlCol="0" anchor="ctr"/>
          <a:lstStyle/>
          <a:p>
            <a:pPr algn="ctr" indent="0" marL="0">
              <a:buNone/>
            </a:pPr>
            <a:r>
              <a:rPr lang="en-US" sz="1100" b="1" dirty="0">
                <a:solidFill>
                  <a:srgbClr val="FFFFFF"/>
                </a:solidFill>
              </a:rPr>
              <a:t>OpenCLIP</a:t>
            </a:r>
            <a:endParaRPr lang="en-US" sz="1100" dirty="0"/>
          </a:p>
        </p:txBody>
      </p:sp>
      <p:sp>
        <p:nvSpPr>
          <p:cNvPr id="15" name="Text 13"/>
          <p:cNvSpPr/>
          <p:nvPr/>
        </p:nvSpPr>
        <p:spPr>
          <a:xfrm>
            <a:off x="3657600" y="2743200"/>
            <a:ext cx="1828800" cy="320040"/>
          </a:xfrm>
          <a:prstGeom prst="rect">
            <a:avLst/>
          </a:prstGeom>
          <a:noFill/>
          <a:ln/>
        </p:spPr>
        <p:txBody>
          <a:bodyPr wrap="square" lIns="0" tIns="0" rIns="0" bIns="0" rtlCol="0" anchor="ctr"/>
          <a:lstStyle/>
          <a:p>
            <a:pPr algn="ctr" indent="0" marL="0">
              <a:buNone/>
            </a:pPr>
            <a:r>
              <a:rPr lang="en-US" sz="1100" b="1" dirty="0">
                <a:solidFill>
                  <a:srgbClr val="059669"/>
                </a:solidFill>
              </a:rPr>
              <a:t>↓  Ada kartu</a:t>
            </a:r>
            <a:endParaRPr lang="en-US" sz="1100" dirty="0"/>
          </a:p>
        </p:txBody>
      </p:sp>
      <p:sp>
        <p:nvSpPr>
          <p:cNvPr id="16" name="Shape 14"/>
          <p:cNvSpPr/>
          <p:nvPr/>
        </p:nvSpPr>
        <p:spPr>
          <a:xfrm>
            <a:off x="1371600" y="3090672"/>
            <a:ext cx="6400800" cy="1188720"/>
          </a:xfrm>
          <a:prstGeom prst="rect">
            <a:avLst/>
          </a:prstGeom>
          <a:solidFill>
            <a:srgbClr val="FFFBEB"/>
          </a:solidFill>
          <a:ln w="12700">
            <a:solidFill>
              <a:srgbClr val="E4A820"/>
            </a:solidFill>
            <a:prstDash val="solid"/>
          </a:ln>
          <a:effectLst>
            <a:outerShdw sx="100000" sy="100000" kx="0" ky="0" algn="bl" rotWithShape="0" blurRad="76200" dist="25400" dir="8100000">
              <a:srgbClr val="000000">
                <a:alpha val="12000"/>
              </a:srgbClr>
            </a:outerShdw>
          </a:effectLst>
        </p:spPr>
      </p:sp>
      <p:sp>
        <p:nvSpPr>
          <p:cNvPr id="17" name="Shape 15"/>
          <p:cNvSpPr/>
          <p:nvPr/>
        </p:nvSpPr>
        <p:spPr>
          <a:xfrm>
            <a:off x="1371600" y="3090672"/>
            <a:ext cx="6400800" cy="411480"/>
          </a:xfrm>
          <a:prstGeom prst="rect">
            <a:avLst/>
          </a:prstGeom>
          <a:solidFill>
            <a:srgbClr val="D97706"/>
          </a:solidFill>
          <a:ln w="12700">
            <a:solidFill>
              <a:srgbClr val="D97706"/>
            </a:solidFill>
            <a:prstDash val="solid"/>
          </a:ln>
        </p:spPr>
      </p:sp>
      <p:sp>
        <p:nvSpPr>
          <p:cNvPr id="18" name="Text 16"/>
          <p:cNvSpPr/>
          <p:nvPr/>
        </p:nvSpPr>
        <p:spPr>
          <a:xfrm>
            <a:off x="1371600" y="3090672"/>
            <a:ext cx="6400800" cy="411480"/>
          </a:xfrm>
          <a:prstGeom prst="rect">
            <a:avLst/>
          </a:prstGeom>
          <a:noFill/>
          <a:ln/>
        </p:spPr>
        <p:txBody>
          <a:bodyPr wrap="square" lIns="0" tIns="0" rIns="0" bIns="0" rtlCol="0" anchor="ctr"/>
          <a:lstStyle/>
          <a:p>
            <a:pPr algn="ctr" indent="0" marL="0">
              <a:buNone/>
            </a:pPr>
            <a:r>
              <a:rPr lang="en-US" sz="1200" b="1" dirty="0">
                <a:solidFill>
                  <a:srgbClr val="FFFFFF"/>
                </a:solidFill>
              </a:rPr>
              <a:t>Layer 2: OCR — "Kartu apa?" (KTP / SIM / BPJS)</a:t>
            </a:r>
            <a:endParaRPr lang="en-US" sz="1200" dirty="0"/>
          </a:p>
        </p:txBody>
      </p:sp>
      <p:sp>
        <p:nvSpPr>
          <p:cNvPr id="19" name="Text 17"/>
          <p:cNvSpPr/>
          <p:nvPr/>
        </p:nvSpPr>
        <p:spPr>
          <a:xfrm>
            <a:off x="1463040" y="3529584"/>
            <a:ext cx="6217920" cy="640080"/>
          </a:xfrm>
          <a:prstGeom prst="rect">
            <a:avLst/>
          </a:prstGeom>
          <a:noFill/>
          <a:ln/>
        </p:spPr>
        <p:txBody>
          <a:bodyPr wrap="square" lIns="50800" tIns="50800" rIns="50800" bIns="50800" rtlCol="0" anchor="ctr"/>
          <a:lstStyle/>
          <a:p>
            <a:pPr algn="ctr" indent="0" marL="0">
              <a:buNone/>
            </a:pPr>
            <a:r>
              <a:rPr lang="en-US" sz="1050" dirty="0">
                <a:solidFill>
                  <a:srgbClr val="1E293B"/>
                </a:solidFill>
              </a:rPr>
              <a:t>Full-image OCR + Keyword Scoring   |   Auto-rotation (4 orientasi)   |   Tidak butuh object detection / YOLO untuk crop kartu</a:t>
            </a:r>
            <a:endParaRPr lang="en-US" sz="1050" dirty="0"/>
          </a:p>
        </p:txBody>
      </p:sp>
      <p:sp>
        <p:nvSpPr>
          <p:cNvPr id="20" name="Text 18"/>
          <p:cNvSpPr/>
          <p:nvPr/>
        </p:nvSpPr>
        <p:spPr>
          <a:xfrm>
            <a:off x="4434840" y="4315968"/>
            <a:ext cx="274320" cy="228600"/>
          </a:xfrm>
          <a:prstGeom prst="rect">
            <a:avLst/>
          </a:prstGeom>
          <a:noFill/>
          <a:ln/>
        </p:spPr>
        <p:txBody>
          <a:bodyPr wrap="square" lIns="0" tIns="0" rIns="0" bIns="0" rtlCol="0" anchor="ctr"/>
          <a:lstStyle/>
          <a:p>
            <a:pPr algn="ctr" indent="0" marL="0">
              <a:buNone/>
            </a:pPr>
            <a:r>
              <a:rPr lang="en-US" sz="1600" dirty="0">
                <a:solidFill>
                  <a:srgbClr val="64748B"/>
                </a:solidFill>
              </a:rPr>
              <a:t>↓</a:t>
            </a:r>
            <a:endParaRPr lang="en-US" sz="1600" dirty="0"/>
          </a:p>
        </p:txBody>
      </p:sp>
      <p:sp>
        <p:nvSpPr>
          <p:cNvPr id="21" name="Shape 19"/>
          <p:cNvSpPr/>
          <p:nvPr/>
        </p:nvSpPr>
        <p:spPr>
          <a:xfrm>
            <a:off x="1554480" y="4572000"/>
            <a:ext cx="1920240" cy="402336"/>
          </a:xfrm>
          <a:prstGeom prst="rect">
            <a:avLst/>
          </a:prstGeom>
          <a:solidFill>
            <a:srgbClr val="D1FAE5"/>
          </a:solidFill>
          <a:ln w="12700">
            <a:solidFill>
              <a:srgbClr val="059669"/>
            </a:solidFill>
            <a:prstDash val="solid"/>
          </a:ln>
        </p:spPr>
      </p:sp>
      <p:sp>
        <p:nvSpPr>
          <p:cNvPr id="22" name="Text 20"/>
          <p:cNvSpPr/>
          <p:nvPr/>
        </p:nvSpPr>
        <p:spPr>
          <a:xfrm>
            <a:off x="1554480" y="4572000"/>
            <a:ext cx="1920240" cy="402336"/>
          </a:xfrm>
          <a:prstGeom prst="rect">
            <a:avLst/>
          </a:prstGeom>
          <a:noFill/>
          <a:ln/>
        </p:spPr>
        <p:txBody>
          <a:bodyPr wrap="square" lIns="0" tIns="0" rIns="0" bIns="0" rtlCol="0" anchor="ctr"/>
          <a:lstStyle/>
          <a:p>
            <a:pPr algn="ctr" indent="0" marL="0">
              <a:buNone/>
            </a:pPr>
            <a:r>
              <a:rPr lang="en-US" sz="1100" b="1" dirty="0">
                <a:solidFill>
                  <a:srgbClr val="059669"/>
                </a:solidFill>
              </a:rPr>
              <a:t>✓  Ada KTP</a:t>
            </a:r>
            <a:endParaRPr lang="en-US" sz="1100" dirty="0"/>
          </a:p>
        </p:txBody>
      </p:sp>
      <p:sp>
        <p:nvSpPr>
          <p:cNvPr id="23" name="Shape 21"/>
          <p:cNvSpPr/>
          <p:nvPr/>
        </p:nvSpPr>
        <p:spPr>
          <a:xfrm>
            <a:off x="3703320" y="4572000"/>
            <a:ext cx="1920240" cy="402336"/>
          </a:xfrm>
          <a:prstGeom prst="rect">
            <a:avLst/>
          </a:prstGeom>
          <a:solidFill>
            <a:srgbClr val="FEE2E2"/>
          </a:solidFill>
          <a:ln w="12700">
            <a:solidFill>
              <a:srgbClr val="DC2626"/>
            </a:solidFill>
            <a:prstDash val="solid"/>
          </a:ln>
        </p:spPr>
      </p:sp>
      <p:sp>
        <p:nvSpPr>
          <p:cNvPr id="24" name="Text 22"/>
          <p:cNvSpPr/>
          <p:nvPr/>
        </p:nvSpPr>
        <p:spPr>
          <a:xfrm>
            <a:off x="3703320" y="4572000"/>
            <a:ext cx="1920240" cy="402336"/>
          </a:xfrm>
          <a:prstGeom prst="rect">
            <a:avLst/>
          </a:prstGeom>
          <a:noFill/>
          <a:ln/>
        </p:spPr>
        <p:txBody>
          <a:bodyPr wrap="square" lIns="0" tIns="0" rIns="0" bIns="0" rtlCol="0" anchor="ctr"/>
          <a:lstStyle/>
          <a:p>
            <a:pPr algn="ctr" indent="0" marL="0">
              <a:buNone/>
            </a:pPr>
            <a:r>
              <a:rPr lang="en-US" sz="1100" b="1" dirty="0">
                <a:solidFill>
                  <a:srgbClr val="DC2626"/>
                </a:solidFill>
              </a:rPr>
              <a:t>✗  Tidak ada KTP</a:t>
            </a:r>
            <a:endParaRPr lang="en-US" sz="1100" dirty="0"/>
          </a:p>
        </p:txBody>
      </p:sp>
      <p:sp>
        <p:nvSpPr>
          <p:cNvPr id="25" name="Shape 23"/>
          <p:cNvSpPr/>
          <p:nvPr/>
        </p:nvSpPr>
        <p:spPr>
          <a:xfrm>
            <a:off x="5852160" y="4572000"/>
            <a:ext cx="1920240" cy="402336"/>
          </a:xfrm>
          <a:prstGeom prst="rect">
            <a:avLst/>
          </a:prstGeom>
          <a:solidFill>
            <a:srgbClr val="FEF3C7"/>
          </a:solidFill>
          <a:ln w="12700">
            <a:solidFill>
              <a:srgbClr val="D97706"/>
            </a:solidFill>
            <a:prstDash val="solid"/>
          </a:ln>
        </p:spPr>
      </p:sp>
      <p:sp>
        <p:nvSpPr>
          <p:cNvPr id="26" name="Text 24"/>
          <p:cNvSpPr/>
          <p:nvPr/>
        </p:nvSpPr>
        <p:spPr>
          <a:xfrm>
            <a:off x="5852160" y="4572000"/>
            <a:ext cx="1920240" cy="402336"/>
          </a:xfrm>
          <a:prstGeom prst="rect">
            <a:avLst/>
          </a:prstGeom>
          <a:noFill/>
          <a:ln/>
        </p:spPr>
        <p:txBody>
          <a:bodyPr wrap="square" lIns="0" tIns="0" rIns="0" bIns="0" rtlCol="0" anchor="ctr"/>
          <a:lstStyle/>
          <a:p>
            <a:pPr algn="ctr" indent="0" marL="0">
              <a:buNone/>
            </a:pPr>
            <a:r>
              <a:rPr lang="en-US" sz="1100" b="1" dirty="0">
                <a:solidFill>
                  <a:srgbClr val="D97706"/>
                </a:solidFill>
              </a:rPr>
              <a:t>?  Uncertain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rtlCol="0" anchor="ctr"/>
          <a:lstStyle/>
          <a:p>
            <a:pPr indent="0" marL="0">
              <a:buNone/>
            </a:pPr>
            <a:r>
              <a:rPr lang="en-US" sz="2600" b="1" dirty="0">
                <a:solidFill>
                  <a:srgbClr val="065A82"/>
                </a:solidFill>
                <a:latin typeface="Trebuchet MS" pitchFamily="34" charset="0"/>
                <a:ea typeface="Trebuchet MS" pitchFamily="34" charset="-122"/>
                <a:cs typeface="Trebuchet MS" pitchFamily="34" charset="-120"/>
              </a:rPr>
              <a:t>Kenapa Approach Ini Layak Dipertimbangkan</a:t>
            </a:r>
            <a:endParaRPr lang="en-US" sz="2600" dirty="0"/>
          </a:p>
        </p:txBody>
      </p:sp>
      <p:sp>
        <p:nvSpPr>
          <p:cNvPr id="3" name="Shape 1"/>
          <p:cNvSpPr/>
          <p:nvPr/>
        </p:nvSpPr>
        <p:spPr>
          <a:xfrm>
            <a:off x="274320" y="868680"/>
            <a:ext cx="4206240" cy="1783080"/>
          </a:xfrm>
          <a:prstGeom prst="rect">
            <a:avLst/>
          </a:prstGeom>
          <a:solidFill>
            <a:srgbClr val="FFFFFF"/>
          </a:solidFill>
          <a:ln w="12700">
            <a:solidFill>
              <a:srgbClr val="0D9488"/>
            </a:solidFill>
            <a:prstDash val="solid"/>
          </a:ln>
          <a:effectLst>
            <a:outerShdw sx="100000" sy="100000" kx="0" ky="0" algn="bl" rotWithShape="0" blurRad="76200" dist="25400" dir="8100000">
              <a:srgbClr val="000000">
                <a:alpha val="12000"/>
              </a:srgbClr>
            </a:outerShdw>
          </a:effectLst>
        </p:spPr>
      </p:sp>
      <p:sp>
        <p:nvSpPr>
          <p:cNvPr id="4" name="Shape 2"/>
          <p:cNvSpPr/>
          <p:nvPr/>
        </p:nvSpPr>
        <p:spPr>
          <a:xfrm>
            <a:off x="274320" y="868680"/>
            <a:ext cx="960120" cy="1783080"/>
          </a:xfrm>
          <a:prstGeom prst="rect">
            <a:avLst/>
          </a:prstGeom>
          <a:solidFill>
            <a:srgbClr val="0D9488"/>
          </a:solidFill>
          <a:ln w="12700">
            <a:solidFill>
              <a:srgbClr val="0D9488"/>
            </a:solidFill>
            <a:prstDash val="solid"/>
          </a:ln>
        </p:spPr>
      </p:sp>
      <p:sp>
        <p:nvSpPr>
          <p:cNvPr id="5" name="Text 3"/>
          <p:cNvSpPr/>
          <p:nvPr/>
        </p:nvSpPr>
        <p:spPr>
          <a:xfrm>
            <a:off x="274320" y="960120"/>
            <a:ext cx="960120" cy="411480"/>
          </a:xfrm>
          <a:prstGeom prst="rect">
            <a:avLst/>
          </a:prstGeom>
          <a:noFill/>
          <a:ln/>
        </p:spPr>
        <p:txBody>
          <a:bodyPr wrap="square" lIns="0" tIns="0" rIns="0" bIns="0" rtlCol="0" anchor="ctr"/>
          <a:lstStyle/>
          <a:p>
            <a:pPr algn="ctr" indent="0" marL="0">
              <a:buNone/>
            </a:pPr>
            <a:r>
              <a:rPr lang="en-US" sz="1800" b="1" dirty="0">
                <a:solidFill>
                  <a:srgbClr val="000000"/>
                </a:solidFill>
              </a:rPr>
              <a:t>01</a:t>
            </a:r>
            <a:endParaRPr lang="en-US" sz="1800" dirty="0"/>
          </a:p>
        </p:txBody>
      </p:sp>
      <p:pic>
        <p:nvPicPr>
          <p:cNvPr id="6" name="Image 0" descr="preencoded.png">    </p:cNvPr>
          <p:cNvPicPr>
            <a:picLocks noChangeAspect="1"/>
          </p:cNvPicPr>
          <p:nvPr/>
        </p:nvPicPr>
        <p:blipFill>
          <a:blip r:embed="rId1"/>
          <a:stretch>
            <a:fillRect/>
          </a:stretch>
        </p:blipFill>
        <p:spPr>
          <a:xfrm>
            <a:off x="521208" y="1463040"/>
            <a:ext cx="502920" cy="502920"/>
          </a:xfrm>
          <a:prstGeom prst="rect">
            <a:avLst/>
          </a:prstGeom>
        </p:spPr>
      </p:pic>
      <p:sp>
        <p:nvSpPr>
          <p:cNvPr id="7" name="Text 4"/>
          <p:cNvSpPr/>
          <p:nvPr/>
        </p:nvSpPr>
        <p:spPr>
          <a:xfrm>
            <a:off x="1325880" y="1005840"/>
            <a:ext cx="3017520" cy="502920"/>
          </a:xfrm>
          <a:prstGeom prst="rect">
            <a:avLst/>
          </a:prstGeom>
          <a:noFill/>
          <a:ln/>
        </p:spPr>
        <p:txBody>
          <a:bodyPr wrap="square" lIns="0" tIns="0" rIns="0" bIns="0" rtlCol="0" anchor="ctr"/>
          <a:lstStyle/>
          <a:p>
            <a:pPr indent="0" marL="0">
              <a:buNone/>
            </a:pPr>
            <a:r>
              <a:rPr lang="en-US" sz="1300" b="1" dirty="0">
                <a:solidFill>
                  <a:srgbClr val="0D9488"/>
                </a:solidFill>
                <a:latin typeface="Trebuchet MS" pitchFamily="34" charset="0"/>
                <a:ea typeface="Trebuchet MS" pitchFamily="34" charset="-122"/>
                <a:cs typeface="Trebuchet MS" pitchFamily="34" charset="-120"/>
              </a:rPr>
              <a:t>Labeling 10× Lebih Murah</a:t>
            </a:r>
            <a:endParaRPr lang="en-US" sz="1300" dirty="0"/>
          </a:p>
        </p:txBody>
      </p:sp>
      <p:sp>
        <p:nvSpPr>
          <p:cNvPr id="8" name="Text 5"/>
          <p:cNvSpPr/>
          <p:nvPr/>
        </p:nvSpPr>
        <p:spPr>
          <a:xfrm>
            <a:off x="1325880" y="1508760"/>
            <a:ext cx="3017520" cy="1005840"/>
          </a:xfrm>
          <a:prstGeom prst="rect">
            <a:avLst/>
          </a:prstGeom>
          <a:noFill/>
          <a:ln/>
        </p:spPr>
        <p:txBody>
          <a:bodyPr wrap="square" lIns="0" tIns="0" rIns="0" bIns="0" rtlCol="0" anchor="ctr"/>
          <a:lstStyle/>
          <a:p>
            <a:pPr indent="0" marL="0">
              <a:buNone/>
            </a:pPr>
            <a:r>
              <a:rPr lang="en-US" sz="1050" dirty="0">
                <a:solidFill>
                  <a:srgbClr val="1E293B"/>
                </a:solidFill>
              </a:rPr>
              <a:t>Yes/no per gambar vs bounding box annotation yang butuh waktu dan keahlian khusus. Dataset lebih cepat terkumpul, lebih mudah di-scale.</a:t>
            </a:r>
            <a:endParaRPr lang="en-US" sz="1050" dirty="0"/>
          </a:p>
        </p:txBody>
      </p:sp>
      <p:sp>
        <p:nvSpPr>
          <p:cNvPr id="9" name="Shape 6"/>
          <p:cNvSpPr/>
          <p:nvPr/>
        </p:nvSpPr>
        <p:spPr>
          <a:xfrm>
            <a:off x="4709160" y="868680"/>
            <a:ext cx="4206240" cy="1783080"/>
          </a:xfrm>
          <a:prstGeom prst="rect">
            <a:avLst/>
          </a:prstGeom>
          <a:solidFill>
            <a:srgbClr val="FFFFFF"/>
          </a:solidFill>
          <a:ln w="12700">
            <a:solidFill>
              <a:srgbClr val="7C3AED"/>
            </a:solidFill>
            <a:prstDash val="solid"/>
          </a:ln>
          <a:effectLst>
            <a:outerShdw sx="100000" sy="100000" kx="0" ky="0" algn="bl" rotWithShape="0" blurRad="76200" dist="25400" dir="8100000">
              <a:srgbClr val="000000">
                <a:alpha val="12000"/>
              </a:srgbClr>
            </a:outerShdw>
          </a:effectLst>
        </p:spPr>
      </p:sp>
      <p:sp>
        <p:nvSpPr>
          <p:cNvPr id="10" name="Shape 7"/>
          <p:cNvSpPr/>
          <p:nvPr/>
        </p:nvSpPr>
        <p:spPr>
          <a:xfrm>
            <a:off x="4709160" y="868680"/>
            <a:ext cx="960120" cy="1783080"/>
          </a:xfrm>
          <a:prstGeom prst="rect">
            <a:avLst/>
          </a:prstGeom>
          <a:solidFill>
            <a:srgbClr val="7C3AED"/>
          </a:solidFill>
          <a:ln w="12700">
            <a:solidFill>
              <a:srgbClr val="7C3AED"/>
            </a:solidFill>
            <a:prstDash val="solid"/>
          </a:ln>
        </p:spPr>
      </p:sp>
      <p:sp>
        <p:nvSpPr>
          <p:cNvPr id="11" name="Text 8"/>
          <p:cNvSpPr/>
          <p:nvPr/>
        </p:nvSpPr>
        <p:spPr>
          <a:xfrm>
            <a:off x="4709160" y="960120"/>
            <a:ext cx="960120" cy="411480"/>
          </a:xfrm>
          <a:prstGeom prst="rect">
            <a:avLst/>
          </a:prstGeom>
          <a:noFill/>
          <a:ln/>
        </p:spPr>
        <p:txBody>
          <a:bodyPr wrap="square" lIns="0" tIns="0" rIns="0" bIns="0" rtlCol="0" anchor="ctr"/>
          <a:lstStyle/>
          <a:p>
            <a:pPr algn="ctr" indent="0" marL="0">
              <a:buNone/>
            </a:pPr>
            <a:r>
              <a:rPr lang="en-US" sz="1800" b="1" dirty="0">
                <a:solidFill>
                  <a:srgbClr val="000000"/>
                </a:solidFill>
              </a:rPr>
              <a:t>02</a:t>
            </a:r>
            <a:endParaRPr lang="en-US" sz="1800" dirty="0"/>
          </a:p>
        </p:txBody>
      </p:sp>
      <p:pic>
        <p:nvPicPr>
          <p:cNvPr id="12" name="Image 1" descr="preencoded.png">    </p:cNvPr>
          <p:cNvPicPr>
            <a:picLocks noChangeAspect="1"/>
          </p:cNvPicPr>
          <p:nvPr/>
        </p:nvPicPr>
        <p:blipFill>
          <a:blip r:embed="rId2"/>
          <a:stretch>
            <a:fillRect/>
          </a:stretch>
        </p:blipFill>
        <p:spPr>
          <a:xfrm>
            <a:off x="4956048" y="1463040"/>
            <a:ext cx="502920" cy="502920"/>
          </a:xfrm>
          <a:prstGeom prst="rect">
            <a:avLst/>
          </a:prstGeom>
        </p:spPr>
      </p:pic>
      <p:sp>
        <p:nvSpPr>
          <p:cNvPr id="13" name="Text 9"/>
          <p:cNvSpPr/>
          <p:nvPr/>
        </p:nvSpPr>
        <p:spPr>
          <a:xfrm>
            <a:off x="5760720" y="1005840"/>
            <a:ext cx="3017520" cy="502920"/>
          </a:xfrm>
          <a:prstGeom prst="rect">
            <a:avLst/>
          </a:prstGeom>
          <a:noFill/>
          <a:ln/>
        </p:spPr>
        <p:txBody>
          <a:bodyPr wrap="square" lIns="0" tIns="0" rIns="0" bIns="0" rtlCol="0" anchor="ctr"/>
          <a:lstStyle/>
          <a:p>
            <a:pPr indent="0" marL="0">
              <a:buNone/>
            </a:pPr>
            <a:r>
              <a:rPr lang="en-US" sz="1300" b="1" dirty="0">
                <a:solidFill>
                  <a:srgbClr val="7C3AED"/>
                </a:solidFill>
                <a:latin typeface="Trebuchet MS" pitchFamily="34" charset="0"/>
                <a:ea typeface="Trebuchet MS" pitchFamily="34" charset="-122"/>
                <a:cs typeface="Trebuchet MS" pitchFamily="34" charset="-120"/>
              </a:rPr>
              <a:t>Deploy Lebih Cepat</a:t>
            </a:r>
            <a:endParaRPr lang="en-US" sz="1300" dirty="0"/>
          </a:p>
        </p:txBody>
      </p:sp>
      <p:sp>
        <p:nvSpPr>
          <p:cNvPr id="14" name="Text 10"/>
          <p:cNvSpPr/>
          <p:nvPr/>
        </p:nvSpPr>
        <p:spPr>
          <a:xfrm>
            <a:off x="5760720" y="1508760"/>
            <a:ext cx="3017520" cy="1005840"/>
          </a:xfrm>
          <a:prstGeom prst="rect">
            <a:avLst/>
          </a:prstGeom>
          <a:noFill/>
          <a:ln/>
        </p:spPr>
        <p:txBody>
          <a:bodyPr wrap="square" lIns="0" tIns="0" rIns="0" bIns="0" rtlCol="0" anchor="ctr"/>
          <a:lstStyle/>
          <a:p>
            <a:pPr indent="0" marL="0">
              <a:buNone/>
            </a:pPr>
            <a:r>
              <a:rPr lang="en-US" sz="1050" dirty="0">
                <a:solidFill>
                  <a:srgbClr val="1E293B"/>
                </a:solidFill>
              </a:rPr>
              <a:t>CLIP zero-shot bisa jalan hari ini tanpa data sama sekali. Tidak perlu tunggu dataset terkumpul dan model selesai training.</a:t>
            </a:r>
            <a:endParaRPr lang="en-US" sz="1050" dirty="0"/>
          </a:p>
        </p:txBody>
      </p:sp>
      <p:sp>
        <p:nvSpPr>
          <p:cNvPr id="15" name="Shape 11"/>
          <p:cNvSpPr/>
          <p:nvPr/>
        </p:nvSpPr>
        <p:spPr>
          <a:xfrm>
            <a:off x="274320" y="2834640"/>
            <a:ext cx="4206240" cy="1783080"/>
          </a:xfrm>
          <a:prstGeom prst="rect">
            <a:avLst/>
          </a:prstGeom>
          <a:solidFill>
            <a:srgbClr val="FFFFFF"/>
          </a:solidFill>
          <a:ln w="12700">
            <a:solidFill>
              <a:srgbClr val="D97706"/>
            </a:solidFill>
            <a:prstDash val="solid"/>
          </a:ln>
          <a:effectLst>
            <a:outerShdw sx="100000" sy="100000" kx="0" ky="0" algn="bl" rotWithShape="0" blurRad="76200" dist="25400" dir="8100000">
              <a:srgbClr val="000000">
                <a:alpha val="12000"/>
              </a:srgbClr>
            </a:outerShdw>
          </a:effectLst>
        </p:spPr>
      </p:sp>
      <p:sp>
        <p:nvSpPr>
          <p:cNvPr id="16" name="Shape 12"/>
          <p:cNvSpPr/>
          <p:nvPr/>
        </p:nvSpPr>
        <p:spPr>
          <a:xfrm>
            <a:off x="274320" y="2834640"/>
            <a:ext cx="960120" cy="1783080"/>
          </a:xfrm>
          <a:prstGeom prst="rect">
            <a:avLst/>
          </a:prstGeom>
          <a:solidFill>
            <a:srgbClr val="D97706"/>
          </a:solidFill>
          <a:ln w="12700">
            <a:solidFill>
              <a:srgbClr val="D97706"/>
            </a:solidFill>
            <a:prstDash val="solid"/>
          </a:ln>
        </p:spPr>
      </p:sp>
      <p:sp>
        <p:nvSpPr>
          <p:cNvPr id="17" name="Text 13"/>
          <p:cNvSpPr/>
          <p:nvPr/>
        </p:nvSpPr>
        <p:spPr>
          <a:xfrm>
            <a:off x="274320" y="2926080"/>
            <a:ext cx="960120" cy="411480"/>
          </a:xfrm>
          <a:prstGeom prst="rect">
            <a:avLst/>
          </a:prstGeom>
          <a:noFill/>
          <a:ln/>
        </p:spPr>
        <p:txBody>
          <a:bodyPr wrap="square" lIns="0" tIns="0" rIns="0" bIns="0" rtlCol="0" anchor="ctr"/>
          <a:lstStyle/>
          <a:p>
            <a:pPr algn="ctr" indent="0" marL="0">
              <a:buNone/>
            </a:pPr>
            <a:r>
              <a:rPr lang="en-US" sz="1800" b="1" dirty="0">
                <a:solidFill>
                  <a:srgbClr val="000000"/>
                </a:solidFill>
              </a:rPr>
              <a:t>03</a:t>
            </a:r>
            <a:endParaRPr lang="en-US" sz="1800" dirty="0"/>
          </a:p>
        </p:txBody>
      </p:sp>
      <p:pic>
        <p:nvPicPr>
          <p:cNvPr id="18" name="Image 2" descr="preencoded.png">    </p:cNvPr>
          <p:cNvPicPr>
            <a:picLocks noChangeAspect="1"/>
          </p:cNvPicPr>
          <p:nvPr/>
        </p:nvPicPr>
        <p:blipFill>
          <a:blip r:embed="rId3"/>
          <a:stretch>
            <a:fillRect/>
          </a:stretch>
        </p:blipFill>
        <p:spPr>
          <a:xfrm>
            <a:off x="521208" y="3429000"/>
            <a:ext cx="502920" cy="502920"/>
          </a:xfrm>
          <a:prstGeom prst="rect">
            <a:avLst/>
          </a:prstGeom>
        </p:spPr>
      </p:pic>
      <p:sp>
        <p:nvSpPr>
          <p:cNvPr id="19" name="Text 14"/>
          <p:cNvSpPr/>
          <p:nvPr/>
        </p:nvSpPr>
        <p:spPr>
          <a:xfrm>
            <a:off x="1325880" y="2971800"/>
            <a:ext cx="3017520" cy="502920"/>
          </a:xfrm>
          <a:prstGeom prst="rect">
            <a:avLst/>
          </a:prstGeom>
          <a:noFill/>
          <a:ln/>
        </p:spPr>
        <p:txBody>
          <a:bodyPr wrap="square" lIns="0" tIns="0" rIns="0" bIns="0" rtlCol="0" anchor="ctr"/>
          <a:lstStyle/>
          <a:p>
            <a:pPr indent="0" marL="0">
              <a:buNone/>
            </a:pPr>
            <a:r>
              <a:rPr lang="en-US" sz="1300" b="1" dirty="0">
                <a:solidFill>
                  <a:srgbClr val="D97706"/>
                </a:solidFill>
                <a:latin typeface="Trebuchet MS" pitchFamily="34" charset="0"/>
                <a:ea typeface="Trebuchet MS" pitchFamily="34" charset="-122"/>
                <a:cs typeface="Trebuchet MS" pitchFamily="34" charset="-120"/>
              </a:rPr>
              <a:t>3 Paradigma = 3 Perspektif</a:t>
            </a:r>
            <a:endParaRPr lang="en-US" sz="1300" dirty="0"/>
          </a:p>
        </p:txBody>
      </p:sp>
      <p:sp>
        <p:nvSpPr>
          <p:cNvPr id="20" name="Text 15"/>
          <p:cNvSpPr/>
          <p:nvPr/>
        </p:nvSpPr>
        <p:spPr>
          <a:xfrm>
            <a:off x="1325880" y="3474720"/>
            <a:ext cx="3017520" cy="1005840"/>
          </a:xfrm>
          <a:prstGeom prst="rect">
            <a:avLst/>
          </a:prstGeom>
          <a:noFill/>
          <a:ln/>
        </p:spPr>
        <p:txBody>
          <a:bodyPr wrap="square" lIns="0" tIns="0" rIns="0" bIns="0" rtlCol="0" anchor="ctr"/>
          <a:lstStyle/>
          <a:p>
            <a:pPr indent="0" marL="0">
              <a:buNone/>
            </a:pPr>
            <a:r>
              <a:rPr lang="en-US" sz="1050" dirty="0">
                <a:solidFill>
                  <a:srgbClr val="1E293B"/>
                </a:solidFill>
              </a:rPr>
              <a:t>Diversifikasi approach mengurangi risk. Jika satu approach tidak perform di edge case tertentu, ada fallback yang menggunakan paradigma berbeda.</a:t>
            </a:r>
            <a:endParaRPr lang="en-US" sz="1050" dirty="0"/>
          </a:p>
        </p:txBody>
      </p:sp>
      <p:sp>
        <p:nvSpPr>
          <p:cNvPr id="21" name="Shape 16"/>
          <p:cNvSpPr/>
          <p:nvPr/>
        </p:nvSpPr>
        <p:spPr>
          <a:xfrm>
            <a:off x="4709160" y="2834640"/>
            <a:ext cx="4206240" cy="1783080"/>
          </a:xfrm>
          <a:prstGeom prst="rect">
            <a:avLst/>
          </a:prstGeom>
          <a:solidFill>
            <a:srgbClr val="FFFFFF"/>
          </a:solidFill>
          <a:ln w="12700">
            <a:solidFill>
              <a:srgbClr val="065A82"/>
            </a:solidFill>
            <a:prstDash val="solid"/>
          </a:ln>
          <a:effectLst>
            <a:outerShdw sx="100000" sy="100000" kx="0" ky="0" algn="bl" rotWithShape="0" blurRad="76200" dist="25400" dir="8100000">
              <a:srgbClr val="000000">
                <a:alpha val="12000"/>
              </a:srgbClr>
            </a:outerShdw>
          </a:effectLst>
        </p:spPr>
      </p:sp>
      <p:sp>
        <p:nvSpPr>
          <p:cNvPr id="22" name="Shape 17"/>
          <p:cNvSpPr/>
          <p:nvPr/>
        </p:nvSpPr>
        <p:spPr>
          <a:xfrm>
            <a:off x="4709160" y="2834640"/>
            <a:ext cx="960120" cy="1783080"/>
          </a:xfrm>
          <a:prstGeom prst="rect">
            <a:avLst/>
          </a:prstGeom>
          <a:solidFill>
            <a:srgbClr val="065A82"/>
          </a:solidFill>
          <a:ln w="12700">
            <a:solidFill>
              <a:srgbClr val="065A82"/>
            </a:solidFill>
            <a:prstDash val="solid"/>
          </a:ln>
        </p:spPr>
      </p:sp>
      <p:sp>
        <p:nvSpPr>
          <p:cNvPr id="23" name="Text 18"/>
          <p:cNvSpPr/>
          <p:nvPr/>
        </p:nvSpPr>
        <p:spPr>
          <a:xfrm>
            <a:off x="4709160" y="2926080"/>
            <a:ext cx="960120" cy="411480"/>
          </a:xfrm>
          <a:prstGeom prst="rect">
            <a:avLst/>
          </a:prstGeom>
          <a:noFill/>
          <a:ln/>
        </p:spPr>
        <p:txBody>
          <a:bodyPr wrap="square" lIns="0" tIns="0" rIns="0" bIns="0" rtlCol="0" anchor="ctr"/>
          <a:lstStyle/>
          <a:p>
            <a:pPr algn="ctr" indent="0" marL="0">
              <a:buNone/>
            </a:pPr>
            <a:r>
              <a:rPr lang="en-US" sz="1800" b="1" dirty="0">
                <a:solidFill>
                  <a:srgbClr val="000000"/>
                </a:solidFill>
              </a:rPr>
              <a:t>04</a:t>
            </a:r>
            <a:endParaRPr lang="en-US" sz="1800" dirty="0"/>
          </a:p>
        </p:txBody>
      </p:sp>
      <p:pic>
        <p:nvPicPr>
          <p:cNvPr id="24" name="Image 3" descr="preencoded.png">    </p:cNvPr>
          <p:cNvPicPr>
            <a:picLocks noChangeAspect="1"/>
          </p:cNvPicPr>
          <p:nvPr/>
        </p:nvPicPr>
        <p:blipFill>
          <a:blip r:embed="rId4"/>
          <a:stretch>
            <a:fillRect/>
          </a:stretch>
        </p:blipFill>
        <p:spPr>
          <a:xfrm>
            <a:off x="4956048" y="3429000"/>
            <a:ext cx="502920" cy="502920"/>
          </a:xfrm>
          <a:prstGeom prst="rect">
            <a:avLst/>
          </a:prstGeom>
        </p:spPr>
      </p:pic>
      <p:sp>
        <p:nvSpPr>
          <p:cNvPr id="25" name="Text 19"/>
          <p:cNvSpPr/>
          <p:nvPr/>
        </p:nvSpPr>
        <p:spPr>
          <a:xfrm>
            <a:off x="5760720" y="2971800"/>
            <a:ext cx="3017520" cy="502920"/>
          </a:xfrm>
          <a:prstGeom prst="rect">
            <a:avLst/>
          </a:prstGeom>
          <a:noFill/>
          <a:ln/>
        </p:spPr>
        <p:txBody>
          <a:bodyPr wrap="square" lIns="0" tIns="0" rIns="0" bIns="0" rtlCol="0" anchor="ctr"/>
          <a:lstStyle/>
          <a:p>
            <a:pPr indent="0" marL="0">
              <a:buNone/>
            </a:pPr>
            <a:r>
              <a:rPr lang="en-US" sz="1300" b="1" dirty="0">
                <a:solidFill>
                  <a:srgbClr val="065A82"/>
                </a:solidFill>
                <a:latin typeface="Trebuchet MS" pitchFamily="34" charset="0"/>
                <a:ea typeface="Trebuchet MS" pitchFamily="34" charset="-122"/>
                <a:cs typeface="Trebuchet MS" pitchFamily="34" charset="-120"/>
              </a:rPr>
              <a:t>Simpler ≠ Weaker</a:t>
            </a:r>
            <a:endParaRPr lang="en-US" sz="1300" dirty="0"/>
          </a:p>
        </p:txBody>
      </p:sp>
      <p:sp>
        <p:nvSpPr>
          <p:cNvPr id="26" name="Text 20"/>
          <p:cNvSpPr/>
          <p:nvPr/>
        </p:nvSpPr>
        <p:spPr>
          <a:xfrm>
            <a:off x="5760720" y="3474720"/>
            <a:ext cx="3017520" cy="1005840"/>
          </a:xfrm>
          <a:prstGeom prst="rect">
            <a:avLst/>
          </a:prstGeom>
          <a:noFill/>
          <a:ln/>
        </p:spPr>
        <p:txBody>
          <a:bodyPr wrap="square" lIns="0" tIns="0" rIns="0" bIns="0" rtlCol="0" anchor="ctr"/>
          <a:lstStyle/>
          <a:p>
            <a:pPr indent="0" marL="0">
              <a:buNone/>
            </a:pPr>
            <a:r>
              <a:rPr lang="en-US" sz="1050" dirty="0">
                <a:solidFill>
                  <a:srgbClr val="1E293B"/>
                </a:solidFill>
              </a:rPr>
              <a:t>Menjawab pertanyaan bisnis secara langsung tanpa overhead detection. Classification lebih efisien dan lebih mudah di-debug untuk binary problem.</a:t>
            </a:r>
            <a:endParaRPr lang="en-US" sz="1050" dirty="0"/>
          </a:p>
        </p:txBody>
      </p:sp>
      <p:sp>
        <p:nvSpPr>
          <p:cNvPr id="27" name="Shape 21"/>
          <p:cNvSpPr/>
          <p:nvPr/>
        </p:nvSpPr>
        <p:spPr>
          <a:xfrm>
            <a:off x="274320" y="4754880"/>
            <a:ext cx="8595360" cy="274320"/>
          </a:xfrm>
          <a:prstGeom prst="rect">
            <a:avLst/>
          </a:prstGeom>
          <a:solidFill>
            <a:srgbClr val="065A82"/>
          </a:solidFill>
          <a:ln w="12700">
            <a:solidFill>
              <a:srgbClr val="065A82"/>
            </a:solidFill>
            <a:prstDash val="solid"/>
          </a:ln>
        </p:spPr>
      </p:sp>
      <p:sp>
        <p:nvSpPr>
          <p:cNvPr id="28" name="Text 22"/>
          <p:cNvSpPr/>
          <p:nvPr/>
        </p:nvSpPr>
        <p:spPr>
          <a:xfrm>
            <a:off x="320040" y="4754880"/>
            <a:ext cx="8503920" cy="274320"/>
          </a:xfrm>
          <a:prstGeom prst="rect">
            <a:avLst/>
          </a:prstGeom>
          <a:noFill/>
          <a:ln/>
        </p:spPr>
        <p:txBody>
          <a:bodyPr wrap="square" lIns="50800" tIns="50800" rIns="50800" bIns="50800" rtlCol="0" anchor="ctr"/>
          <a:lstStyle/>
          <a:p>
            <a:pPr algn="ctr" indent="0" marL="0">
              <a:buNone/>
            </a:pPr>
            <a:r>
              <a:rPr lang="en-US" sz="1050" b="1" i="1" dirty="0">
                <a:solidFill>
                  <a:srgbClr val="FFFFFF"/>
                </a:solidFill>
              </a:rPr>
              <a:t>Ini bukan tentang siapa yang lebih baik. Ini tentang menjawab pertanyaan yang tepat dengan tool yang tepat.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rtlCol="0" anchor="ctr"/>
          <a:lstStyle/>
          <a:p>
            <a:pPr indent="0" marL="0">
              <a:buNone/>
            </a:pPr>
            <a:r>
              <a:rPr lang="en-US" sz="3000" b="1" dirty="0">
                <a:solidFill>
                  <a:srgbClr val="065A82"/>
                </a:solidFill>
                <a:latin typeface="Trebuchet MS" pitchFamily="34" charset="0"/>
                <a:ea typeface="Trebuchet MS" pitchFamily="34" charset="-122"/>
                <a:cs typeface="Trebuchet MS" pitchFamily="34" charset="-120"/>
              </a:rPr>
              <a:t>Next Steps</a:t>
            </a:r>
            <a:endParaRPr lang="en-US" sz="3000" dirty="0"/>
          </a:p>
        </p:txBody>
      </p:sp>
      <p:sp>
        <p:nvSpPr>
          <p:cNvPr id="3" name="Shape 1"/>
          <p:cNvSpPr/>
          <p:nvPr/>
        </p:nvSpPr>
        <p:spPr>
          <a:xfrm>
            <a:off x="274320" y="777240"/>
            <a:ext cx="8595360" cy="731520"/>
          </a:xfrm>
          <a:prstGeom prst="rect">
            <a:avLst/>
          </a:prstGeom>
          <a:solidFill>
            <a:srgbClr val="F8FAFC"/>
          </a:solidFill>
          <a:ln w="12700">
            <a:solidFill>
              <a:srgbClr val="7C3AED"/>
            </a:solidFill>
            <a:prstDash val="solid"/>
          </a:ln>
          <a:effectLst>
            <a:outerShdw sx="100000" sy="100000" kx="0" ky="0" algn="bl" rotWithShape="0" blurRad="76200" dist="25400" dir="8100000">
              <a:srgbClr val="000000">
                <a:alpha val="12000"/>
              </a:srgbClr>
            </a:outerShdw>
          </a:effectLst>
        </p:spPr>
      </p:sp>
      <p:sp>
        <p:nvSpPr>
          <p:cNvPr id="4" name="Shape 2"/>
          <p:cNvSpPr/>
          <p:nvPr/>
        </p:nvSpPr>
        <p:spPr>
          <a:xfrm>
            <a:off x="274320" y="777240"/>
            <a:ext cx="73152" cy="731520"/>
          </a:xfrm>
          <a:prstGeom prst="rect">
            <a:avLst/>
          </a:prstGeom>
          <a:solidFill>
            <a:srgbClr val="7C3AED"/>
          </a:solidFill>
          <a:ln w="12700">
            <a:solidFill>
              <a:srgbClr val="7C3AED"/>
            </a:solidFill>
            <a:prstDash val="solid"/>
          </a:ln>
        </p:spPr>
      </p:sp>
      <p:sp>
        <p:nvSpPr>
          <p:cNvPr id="5" name="Shape 3"/>
          <p:cNvSpPr/>
          <p:nvPr/>
        </p:nvSpPr>
        <p:spPr>
          <a:xfrm>
            <a:off x="457200" y="941832"/>
            <a:ext cx="384048" cy="384048"/>
          </a:xfrm>
          <a:prstGeom prst="ellipse">
            <a:avLst/>
          </a:prstGeom>
          <a:solidFill>
            <a:srgbClr val="7C3AED"/>
          </a:solidFill>
          <a:ln w="12700">
            <a:solidFill>
              <a:srgbClr val="7C3AED"/>
            </a:solidFill>
            <a:prstDash val="solid"/>
          </a:ln>
        </p:spPr>
      </p:sp>
      <p:sp>
        <p:nvSpPr>
          <p:cNvPr id="6" name="Text 4"/>
          <p:cNvSpPr/>
          <p:nvPr/>
        </p:nvSpPr>
        <p:spPr>
          <a:xfrm>
            <a:off x="457200" y="9418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5"/>
          <p:cNvSpPr/>
          <p:nvPr/>
        </p:nvSpPr>
        <p:spPr>
          <a:xfrm>
            <a:off x="960120" y="850392"/>
            <a:ext cx="5943600" cy="347472"/>
          </a:xfrm>
          <a:prstGeom prst="rect">
            <a:avLst/>
          </a:prstGeom>
          <a:noFill/>
          <a:ln/>
        </p:spPr>
        <p:txBody>
          <a:bodyPr wrap="square" lIns="0" tIns="0" rIns="0" bIns="0" rtlCol="0" anchor="ctr"/>
          <a:lstStyle/>
          <a:p>
            <a:pPr indent="0" marL="0">
              <a:buNone/>
            </a:pPr>
            <a:r>
              <a:rPr lang="en-US" sz="1200" b="1" dirty="0">
                <a:solidFill>
                  <a:srgbClr val="7C3AED"/>
                </a:solidFill>
              </a:rPr>
              <a:t>Kumpulkan Dataset Negative</a:t>
            </a:r>
            <a:endParaRPr lang="en-US" sz="1200" dirty="0"/>
          </a:p>
        </p:txBody>
      </p:sp>
      <p:sp>
        <p:nvSpPr>
          <p:cNvPr id="8" name="Text 6"/>
          <p:cNvSpPr/>
          <p:nvPr/>
        </p:nvSpPr>
        <p:spPr>
          <a:xfrm>
            <a:off x="960120" y="1170432"/>
            <a:ext cx="5943600" cy="274320"/>
          </a:xfrm>
          <a:prstGeom prst="rect">
            <a:avLst/>
          </a:prstGeom>
          <a:noFill/>
          <a:ln/>
        </p:spPr>
        <p:txBody>
          <a:bodyPr wrap="square" lIns="0" tIns="0" rIns="0" bIns="0" rtlCol="0" anchor="ctr"/>
          <a:lstStyle/>
          <a:p>
            <a:pPr indent="0" marL="0">
              <a:buNone/>
            </a:pPr>
            <a:r>
              <a:rPr lang="en-US" sz="1000" dirty="0">
                <a:solidFill>
                  <a:srgbClr val="64748B"/>
                </a:solidFill>
              </a:rPr>
              <a:t>Selfie tanpa kartu — target 1000+ images. Tanpa dataset ini model tidak bisa di-train properly.</a:t>
            </a:r>
            <a:endParaRPr lang="en-US" sz="1000" dirty="0"/>
          </a:p>
        </p:txBody>
      </p:sp>
      <p:sp>
        <p:nvSpPr>
          <p:cNvPr id="9" name="Shape 7"/>
          <p:cNvSpPr/>
          <p:nvPr/>
        </p:nvSpPr>
        <p:spPr>
          <a:xfrm>
            <a:off x="7406640" y="960120"/>
            <a:ext cx="1325880" cy="347472"/>
          </a:xfrm>
          <a:prstGeom prst="roundRect">
            <a:avLst>
              <a:gd name="adj" fmla="val 13158"/>
            </a:avLst>
          </a:prstGeom>
          <a:solidFill>
            <a:srgbClr val="ECE8FA"/>
          </a:solidFill>
          <a:ln w="12700">
            <a:solidFill>
              <a:srgbClr val="A082D8"/>
            </a:solidFill>
            <a:prstDash val="solid"/>
          </a:ln>
        </p:spPr>
      </p:sp>
      <p:sp>
        <p:nvSpPr>
          <p:cNvPr id="10" name="Text 8"/>
          <p:cNvSpPr/>
          <p:nvPr/>
        </p:nvSpPr>
        <p:spPr>
          <a:xfrm>
            <a:off x="7406640" y="960120"/>
            <a:ext cx="1325880" cy="347472"/>
          </a:xfrm>
          <a:prstGeom prst="rect">
            <a:avLst/>
          </a:prstGeom>
          <a:noFill/>
          <a:ln/>
        </p:spPr>
        <p:txBody>
          <a:bodyPr wrap="square" lIns="0" tIns="0" rIns="0" bIns="0" rtlCol="0" anchor="ctr"/>
          <a:lstStyle/>
          <a:p>
            <a:pPr algn="ctr" indent="0" marL="0">
              <a:buNone/>
            </a:pPr>
            <a:r>
              <a:rPr lang="en-US" sz="950" b="1" dirty="0">
                <a:solidFill>
                  <a:srgbClr val="7C3AED"/>
                </a:solidFill>
              </a:rPr>
              <a:t>Minggu 1</a:t>
            </a:r>
            <a:endParaRPr lang="en-US" sz="950" dirty="0"/>
          </a:p>
        </p:txBody>
      </p:sp>
      <p:sp>
        <p:nvSpPr>
          <p:cNvPr id="11" name="Shape 9"/>
          <p:cNvSpPr/>
          <p:nvPr/>
        </p:nvSpPr>
        <p:spPr>
          <a:xfrm>
            <a:off x="274320" y="1600200"/>
            <a:ext cx="8595360" cy="731520"/>
          </a:xfrm>
          <a:prstGeom prst="rect">
            <a:avLst/>
          </a:prstGeom>
          <a:solidFill>
            <a:srgbClr val="F8FAFC"/>
          </a:solidFill>
          <a:ln w="12700">
            <a:solidFill>
              <a:srgbClr val="0D9488"/>
            </a:solidFill>
            <a:prstDash val="solid"/>
          </a:ln>
          <a:effectLst>
            <a:outerShdw sx="100000" sy="100000" kx="0" ky="0" algn="bl" rotWithShape="0" blurRad="76200" dist="25400" dir="8100000">
              <a:srgbClr val="000000">
                <a:alpha val="12000"/>
              </a:srgbClr>
            </a:outerShdw>
          </a:effectLst>
        </p:spPr>
      </p:sp>
      <p:sp>
        <p:nvSpPr>
          <p:cNvPr id="12" name="Shape 10"/>
          <p:cNvSpPr/>
          <p:nvPr/>
        </p:nvSpPr>
        <p:spPr>
          <a:xfrm>
            <a:off x="274320" y="1600200"/>
            <a:ext cx="73152" cy="731520"/>
          </a:xfrm>
          <a:prstGeom prst="rect">
            <a:avLst/>
          </a:prstGeom>
          <a:solidFill>
            <a:srgbClr val="0D9488"/>
          </a:solidFill>
          <a:ln w="12700">
            <a:solidFill>
              <a:srgbClr val="0D9488"/>
            </a:solidFill>
            <a:prstDash val="solid"/>
          </a:ln>
        </p:spPr>
      </p:sp>
      <p:sp>
        <p:nvSpPr>
          <p:cNvPr id="13" name="Shape 11"/>
          <p:cNvSpPr/>
          <p:nvPr/>
        </p:nvSpPr>
        <p:spPr>
          <a:xfrm>
            <a:off x="457200" y="1764792"/>
            <a:ext cx="384048" cy="384048"/>
          </a:xfrm>
          <a:prstGeom prst="ellipse">
            <a:avLst/>
          </a:prstGeom>
          <a:solidFill>
            <a:srgbClr val="0D9488"/>
          </a:solidFill>
          <a:ln w="12700">
            <a:solidFill>
              <a:srgbClr val="0D9488"/>
            </a:solidFill>
            <a:prstDash val="solid"/>
          </a:ln>
        </p:spPr>
      </p:sp>
      <p:sp>
        <p:nvSpPr>
          <p:cNvPr id="14" name="Text 12"/>
          <p:cNvSpPr/>
          <p:nvPr/>
        </p:nvSpPr>
        <p:spPr>
          <a:xfrm>
            <a:off x="457200" y="17647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5" name="Text 13"/>
          <p:cNvSpPr/>
          <p:nvPr/>
        </p:nvSpPr>
        <p:spPr>
          <a:xfrm>
            <a:off x="960120" y="1673352"/>
            <a:ext cx="5943600" cy="347472"/>
          </a:xfrm>
          <a:prstGeom prst="rect">
            <a:avLst/>
          </a:prstGeom>
          <a:noFill/>
          <a:ln/>
        </p:spPr>
        <p:txBody>
          <a:bodyPr wrap="square" lIns="0" tIns="0" rIns="0" bIns="0" rtlCol="0" anchor="ctr"/>
          <a:lstStyle/>
          <a:p>
            <a:pPr indent="0" marL="0">
              <a:buNone/>
            </a:pPr>
            <a:r>
              <a:rPr lang="en-US" sz="1200" b="1" dirty="0">
                <a:solidFill>
                  <a:srgbClr val="0D9488"/>
                </a:solidFill>
              </a:rPr>
              <a:t>Train &amp; Evaluate MobileNetV3 + XGBoost</a:t>
            </a:r>
            <a:endParaRPr lang="en-US" sz="1200" dirty="0"/>
          </a:p>
        </p:txBody>
      </p:sp>
      <p:sp>
        <p:nvSpPr>
          <p:cNvPr id="16" name="Text 14"/>
          <p:cNvSpPr/>
          <p:nvPr/>
        </p:nvSpPr>
        <p:spPr>
          <a:xfrm>
            <a:off x="960120" y="1993392"/>
            <a:ext cx="5943600" cy="274320"/>
          </a:xfrm>
          <a:prstGeom prst="rect">
            <a:avLst/>
          </a:prstGeom>
          <a:noFill/>
          <a:ln/>
        </p:spPr>
        <p:txBody>
          <a:bodyPr wrap="square" lIns="0" tIns="0" rIns="0" bIns="0" rtlCol="0" anchor="ctr"/>
          <a:lstStyle/>
          <a:p>
            <a:pPr indent="0" marL="0">
              <a:buNone/>
            </a:pPr>
            <a:r>
              <a:rPr lang="en-US" sz="1000" dirty="0">
                <a:solidFill>
                  <a:srgbClr val="64748B"/>
                </a:solidFill>
              </a:rPr>
              <a:t>5-Fold Cross-Validation untuk hasil yang robust. Bandingkan kedua approach pada split yang sama.</a:t>
            </a:r>
            <a:endParaRPr lang="en-US" sz="1000" dirty="0"/>
          </a:p>
        </p:txBody>
      </p:sp>
      <p:sp>
        <p:nvSpPr>
          <p:cNvPr id="17" name="Shape 15"/>
          <p:cNvSpPr/>
          <p:nvPr/>
        </p:nvSpPr>
        <p:spPr>
          <a:xfrm>
            <a:off x="7406640" y="1783080"/>
            <a:ext cx="1325880" cy="347472"/>
          </a:xfrm>
          <a:prstGeom prst="roundRect">
            <a:avLst>
              <a:gd name="adj" fmla="val 13158"/>
            </a:avLst>
          </a:prstGeom>
          <a:solidFill>
            <a:srgbClr val="D8F5F3"/>
          </a:solidFill>
          <a:ln w="12700">
            <a:solidFill>
              <a:srgbClr val="59BDB9"/>
            </a:solidFill>
            <a:prstDash val="solid"/>
          </a:ln>
        </p:spPr>
      </p:sp>
      <p:sp>
        <p:nvSpPr>
          <p:cNvPr id="18" name="Text 16"/>
          <p:cNvSpPr/>
          <p:nvPr/>
        </p:nvSpPr>
        <p:spPr>
          <a:xfrm>
            <a:off x="7406640" y="1783080"/>
            <a:ext cx="1325880" cy="347472"/>
          </a:xfrm>
          <a:prstGeom prst="rect">
            <a:avLst/>
          </a:prstGeom>
          <a:noFill/>
          <a:ln/>
        </p:spPr>
        <p:txBody>
          <a:bodyPr wrap="square" lIns="0" tIns="0" rIns="0" bIns="0" rtlCol="0" anchor="ctr"/>
          <a:lstStyle/>
          <a:p>
            <a:pPr algn="ctr" indent="0" marL="0">
              <a:buNone/>
            </a:pPr>
            <a:r>
              <a:rPr lang="en-US" sz="950" b="1" dirty="0">
                <a:solidFill>
                  <a:srgbClr val="0D9488"/>
                </a:solidFill>
              </a:rPr>
              <a:t>Minggu 2–3</a:t>
            </a:r>
            <a:endParaRPr lang="en-US" sz="950" dirty="0"/>
          </a:p>
        </p:txBody>
      </p:sp>
      <p:sp>
        <p:nvSpPr>
          <p:cNvPr id="19" name="Shape 17"/>
          <p:cNvSpPr/>
          <p:nvPr/>
        </p:nvSpPr>
        <p:spPr>
          <a:xfrm>
            <a:off x="274320" y="2423160"/>
            <a:ext cx="8595360" cy="731520"/>
          </a:xfrm>
          <a:prstGeom prst="rect">
            <a:avLst/>
          </a:prstGeom>
          <a:solidFill>
            <a:srgbClr val="F8FAFC"/>
          </a:solidFill>
          <a:ln w="12700">
            <a:solidFill>
              <a:srgbClr val="D97706"/>
            </a:solidFill>
            <a:prstDash val="solid"/>
          </a:ln>
          <a:effectLst>
            <a:outerShdw sx="100000" sy="100000" kx="0" ky="0" algn="bl" rotWithShape="0" blurRad="76200" dist="25400" dir="8100000">
              <a:srgbClr val="000000">
                <a:alpha val="12000"/>
              </a:srgbClr>
            </a:outerShdw>
          </a:effectLst>
        </p:spPr>
      </p:sp>
      <p:sp>
        <p:nvSpPr>
          <p:cNvPr id="20" name="Shape 18"/>
          <p:cNvSpPr/>
          <p:nvPr/>
        </p:nvSpPr>
        <p:spPr>
          <a:xfrm>
            <a:off x="274320" y="2423160"/>
            <a:ext cx="73152" cy="731520"/>
          </a:xfrm>
          <a:prstGeom prst="rect">
            <a:avLst/>
          </a:prstGeom>
          <a:solidFill>
            <a:srgbClr val="D97706"/>
          </a:solidFill>
          <a:ln w="12700">
            <a:solidFill>
              <a:srgbClr val="D97706"/>
            </a:solidFill>
            <a:prstDash val="solid"/>
          </a:ln>
        </p:spPr>
      </p:sp>
      <p:sp>
        <p:nvSpPr>
          <p:cNvPr id="21" name="Shape 19"/>
          <p:cNvSpPr/>
          <p:nvPr/>
        </p:nvSpPr>
        <p:spPr>
          <a:xfrm>
            <a:off x="457200" y="2587752"/>
            <a:ext cx="384048" cy="384048"/>
          </a:xfrm>
          <a:prstGeom prst="ellipse">
            <a:avLst/>
          </a:prstGeom>
          <a:solidFill>
            <a:srgbClr val="D97706"/>
          </a:solidFill>
          <a:ln w="12700">
            <a:solidFill>
              <a:srgbClr val="D97706"/>
            </a:solidFill>
            <a:prstDash val="solid"/>
          </a:ln>
        </p:spPr>
      </p:sp>
      <p:sp>
        <p:nvSpPr>
          <p:cNvPr id="22" name="Text 20"/>
          <p:cNvSpPr/>
          <p:nvPr/>
        </p:nvSpPr>
        <p:spPr>
          <a:xfrm>
            <a:off x="457200" y="25877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3" name="Text 21"/>
          <p:cNvSpPr/>
          <p:nvPr/>
        </p:nvSpPr>
        <p:spPr>
          <a:xfrm>
            <a:off x="960120" y="2496312"/>
            <a:ext cx="5943600" cy="347472"/>
          </a:xfrm>
          <a:prstGeom prst="rect">
            <a:avLst/>
          </a:prstGeom>
          <a:noFill/>
          <a:ln/>
        </p:spPr>
        <p:txBody>
          <a:bodyPr wrap="square" lIns="0" tIns="0" rIns="0" bIns="0" rtlCol="0" anchor="ctr"/>
          <a:lstStyle/>
          <a:p>
            <a:pPr indent="0" marL="0">
              <a:buNone/>
            </a:pPr>
            <a:r>
              <a:rPr lang="en-US" sz="1200" b="1" dirty="0">
                <a:solidFill>
                  <a:srgbClr val="D97706"/>
                </a:solidFill>
              </a:rPr>
              <a:t>Benchmark Ketiga Approach</a:t>
            </a:r>
            <a:endParaRPr lang="en-US" sz="1200" dirty="0"/>
          </a:p>
        </p:txBody>
      </p:sp>
      <p:sp>
        <p:nvSpPr>
          <p:cNvPr id="24" name="Text 22"/>
          <p:cNvSpPr/>
          <p:nvPr/>
        </p:nvSpPr>
        <p:spPr>
          <a:xfrm>
            <a:off x="960120" y="2816352"/>
            <a:ext cx="5943600" cy="274320"/>
          </a:xfrm>
          <a:prstGeom prst="rect">
            <a:avLst/>
          </a:prstGeom>
          <a:noFill/>
          <a:ln/>
        </p:spPr>
        <p:txBody>
          <a:bodyPr wrap="square" lIns="0" tIns="0" rIns="0" bIns="0" rtlCol="0" anchor="ctr"/>
          <a:lstStyle/>
          <a:p>
            <a:pPr indent="0" marL="0">
              <a:buNone/>
            </a:pPr>
            <a:r>
              <a:rPr lang="en-US" sz="1000" dirty="0">
                <a:solidFill>
                  <a:srgbClr val="64748B"/>
                </a:solidFill>
              </a:rPr>
              <a:t>Bandingkan MobileNet, XGBoost, dan CLIP pada dataset yang sama dengan metrik yang konsisten.</a:t>
            </a:r>
            <a:endParaRPr lang="en-US" sz="1000" dirty="0"/>
          </a:p>
        </p:txBody>
      </p:sp>
      <p:sp>
        <p:nvSpPr>
          <p:cNvPr id="25" name="Shape 23"/>
          <p:cNvSpPr/>
          <p:nvPr/>
        </p:nvSpPr>
        <p:spPr>
          <a:xfrm>
            <a:off x="7406640" y="2606040"/>
            <a:ext cx="1325880" cy="347472"/>
          </a:xfrm>
          <a:prstGeom prst="roundRect">
            <a:avLst>
              <a:gd name="adj" fmla="val 13158"/>
            </a:avLst>
          </a:prstGeom>
          <a:solidFill>
            <a:srgbClr val="FEF3C7"/>
          </a:solidFill>
          <a:ln w="12700">
            <a:solidFill>
              <a:srgbClr val="EEB050"/>
            </a:solidFill>
            <a:prstDash val="solid"/>
          </a:ln>
        </p:spPr>
      </p:sp>
      <p:sp>
        <p:nvSpPr>
          <p:cNvPr id="26" name="Text 24"/>
          <p:cNvSpPr/>
          <p:nvPr/>
        </p:nvSpPr>
        <p:spPr>
          <a:xfrm>
            <a:off x="7406640" y="2606040"/>
            <a:ext cx="1325880" cy="347472"/>
          </a:xfrm>
          <a:prstGeom prst="rect">
            <a:avLst/>
          </a:prstGeom>
          <a:noFill/>
          <a:ln/>
        </p:spPr>
        <p:txBody>
          <a:bodyPr wrap="square" lIns="0" tIns="0" rIns="0" bIns="0" rtlCol="0" anchor="ctr"/>
          <a:lstStyle/>
          <a:p>
            <a:pPr algn="ctr" indent="0" marL="0">
              <a:buNone/>
            </a:pPr>
            <a:r>
              <a:rPr lang="en-US" sz="950" b="1" dirty="0">
                <a:solidFill>
                  <a:srgbClr val="D97706"/>
                </a:solidFill>
              </a:rPr>
              <a:t>Minggu 3–4</a:t>
            </a:r>
            <a:endParaRPr lang="en-US" sz="950" dirty="0"/>
          </a:p>
        </p:txBody>
      </p:sp>
      <p:sp>
        <p:nvSpPr>
          <p:cNvPr id="27" name="Shape 25"/>
          <p:cNvSpPr/>
          <p:nvPr/>
        </p:nvSpPr>
        <p:spPr>
          <a:xfrm>
            <a:off x="274320" y="3246120"/>
            <a:ext cx="8595360" cy="731520"/>
          </a:xfrm>
          <a:prstGeom prst="rect">
            <a:avLst/>
          </a:prstGeom>
          <a:solidFill>
            <a:srgbClr val="F8FAFC"/>
          </a:solidFill>
          <a:ln w="12700">
            <a:solidFill>
              <a:srgbClr val="065A82"/>
            </a:solidFill>
            <a:prstDash val="solid"/>
          </a:ln>
          <a:effectLst>
            <a:outerShdw sx="100000" sy="100000" kx="0" ky="0" algn="bl" rotWithShape="0" blurRad="76200" dist="25400" dir="8100000">
              <a:srgbClr val="000000">
                <a:alpha val="12000"/>
              </a:srgbClr>
            </a:outerShdw>
          </a:effectLst>
        </p:spPr>
      </p:sp>
      <p:sp>
        <p:nvSpPr>
          <p:cNvPr id="28" name="Shape 26"/>
          <p:cNvSpPr/>
          <p:nvPr/>
        </p:nvSpPr>
        <p:spPr>
          <a:xfrm>
            <a:off x="274320" y="3246120"/>
            <a:ext cx="73152" cy="731520"/>
          </a:xfrm>
          <a:prstGeom prst="rect">
            <a:avLst/>
          </a:prstGeom>
          <a:solidFill>
            <a:srgbClr val="065A82"/>
          </a:solidFill>
          <a:ln w="12700">
            <a:solidFill>
              <a:srgbClr val="065A82"/>
            </a:solidFill>
            <a:prstDash val="solid"/>
          </a:ln>
        </p:spPr>
      </p:sp>
      <p:sp>
        <p:nvSpPr>
          <p:cNvPr id="29" name="Shape 27"/>
          <p:cNvSpPr/>
          <p:nvPr/>
        </p:nvSpPr>
        <p:spPr>
          <a:xfrm>
            <a:off x="457200" y="3410712"/>
            <a:ext cx="384048" cy="384048"/>
          </a:xfrm>
          <a:prstGeom prst="ellipse">
            <a:avLst/>
          </a:prstGeom>
          <a:solidFill>
            <a:srgbClr val="065A82"/>
          </a:solidFill>
          <a:ln w="12700">
            <a:solidFill>
              <a:srgbClr val="065A82"/>
            </a:solidFill>
            <a:prstDash val="solid"/>
          </a:ln>
        </p:spPr>
      </p:sp>
      <p:sp>
        <p:nvSpPr>
          <p:cNvPr id="30" name="Text 28"/>
          <p:cNvSpPr/>
          <p:nvPr/>
        </p:nvSpPr>
        <p:spPr>
          <a:xfrm>
            <a:off x="457200" y="3410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1" name="Text 29"/>
          <p:cNvSpPr/>
          <p:nvPr/>
        </p:nvSpPr>
        <p:spPr>
          <a:xfrm>
            <a:off x="960120" y="3319272"/>
            <a:ext cx="5943600" cy="347472"/>
          </a:xfrm>
          <a:prstGeom prst="rect">
            <a:avLst/>
          </a:prstGeom>
          <a:noFill/>
          <a:ln/>
        </p:spPr>
        <p:txBody>
          <a:bodyPr wrap="square" lIns="0" tIns="0" rIns="0" bIns="0" rtlCol="0" anchor="ctr"/>
          <a:lstStyle/>
          <a:p>
            <a:pPr indent="0" marL="0">
              <a:buNone/>
            </a:pPr>
            <a:r>
              <a:rPr lang="en-US" sz="1200" b="1" dirty="0">
                <a:solidFill>
                  <a:srgbClr val="065A82"/>
                </a:solidFill>
              </a:rPr>
              <a:t>Pilih Model Terbaik untuk Production Layer 1</a:t>
            </a:r>
            <a:endParaRPr lang="en-US" sz="1200" dirty="0"/>
          </a:p>
        </p:txBody>
      </p:sp>
      <p:sp>
        <p:nvSpPr>
          <p:cNvPr id="32" name="Text 30"/>
          <p:cNvSpPr/>
          <p:nvPr/>
        </p:nvSpPr>
        <p:spPr>
          <a:xfrm>
            <a:off x="960120" y="3639312"/>
            <a:ext cx="5943600" cy="274320"/>
          </a:xfrm>
          <a:prstGeom prst="rect">
            <a:avLst/>
          </a:prstGeom>
          <a:noFill/>
          <a:ln/>
        </p:spPr>
        <p:txBody>
          <a:bodyPr wrap="square" lIns="0" tIns="0" rIns="0" bIns="0" rtlCol="0" anchor="ctr"/>
          <a:lstStyle/>
          <a:p>
            <a:pPr indent="0" marL="0">
              <a:buNone/>
            </a:pPr>
            <a:r>
              <a:rPr lang="en-US" sz="1000" dirty="0">
                <a:solidFill>
                  <a:srgbClr val="64748B"/>
                </a:solidFill>
              </a:rPr>
              <a:t>Berdasarkan akurasi, inference speed, dan explainability. Bisa juga ensemble jika diperlukan.</a:t>
            </a:r>
            <a:endParaRPr lang="en-US" sz="1000" dirty="0"/>
          </a:p>
        </p:txBody>
      </p:sp>
      <p:sp>
        <p:nvSpPr>
          <p:cNvPr id="33" name="Shape 31"/>
          <p:cNvSpPr/>
          <p:nvPr/>
        </p:nvSpPr>
        <p:spPr>
          <a:xfrm>
            <a:off x="7406640" y="3429000"/>
            <a:ext cx="1325880" cy="347472"/>
          </a:xfrm>
          <a:prstGeom prst="roundRect">
            <a:avLst>
              <a:gd name="adj" fmla="val 13158"/>
            </a:avLst>
          </a:prstGeom>
          <a:solidFill>
            <a:srgbClr val="DBEAFE"/>
          </a:solidFill>
          <a:ln w="12700">
            <a:solidFill>
              <a:srgbClr val="6698B0"/>
            </a:solidFill>
            <a:prstDash val="solid"/>
          </a:ln>
        </p:spPr>
      </p:sp>
      <p:sp>
        <p:nvSpPr>
          <p:cNvPr id="34" name="Text 32"/>
          <p:cNvSpPr/>
          <p:nvPr/>
        </p:nvSpPr>
        <p:spPr>
          <a:xfrm>
            <a:off x="7406640" y="3429000"/>
            <a:ext cx="1325880" cy="347472"/>
          </a:xfrm>
          <a:prstGeom prst="rect">
            <a:avLst/>
          </a:prstGeom>
          <a:noFill/>
          <a:ln/>
        </p:spPr>
        <p:txBody>
          <a:bodyPr wrap="square" lIns="0" tIns="0" rIns="0" bIns="0" rtlCol="0" anchor="ctr"/>
          <a:lstStyle/>
          <a:p>
            <a:pPr algn="ctr" indent="0" marL="0">
              <a:buNone/>
            </a:pPr>
            <a:r>
              <a:rPr lang="en-US" sz="950" b="1" dirty="0">
                <a:solidFill>
                  <a:srgbClr val="065A82"/>
                </a:solidFill>
              </a:rPr>
              <a:t>Bulan 1</a:t>
            </a:r>
            <a:endParaRPr lang="en-US" sz="950" dirty="0"/>
          </a:p>
        </p:txBody>
      </p:sp>
      <p:sp>
        <p:nvSpPr>
          <p:cNvPr id="35" name="Shape 33"/>
          <p:cNvSpPr/>
          <p:nvPr/>
        </p:nvSpPr>
        <p:spPr>
          <a:xfrm>
            <a:off x="274320" y="4069080"/>
            <a:ext cx="8595360" cy="731520"/>
          </a:xfrm>
          <a:prstGeom prst="rect">
            <a:avLst/>
          </a:prstGeom>
          <a:solidFill>
            <a:srgbClr val="F8FAFC"/>
          </a:solidFill>
          <a:ln w="12700">
            <a:solidFill>
              <a:srgbClr val="00A896"/>
            </a:solidFill>
            <a:prstDash val="solid"/>
          </a:ln>
          <a:effectLst>
            <a:outerShdw sx="100000" sy="100000" kx="0" ky="0" algn="bl" rotWithShape="0" blurRad="76200" dist="25400" dir="8100000">
              <a:srgbClr val="000000">
                <a:alpha val="12000"/>
              </a:srgbClr>
            </a:outerShdw>
          </a:effectLst>
        </p:spPr>
      </p:sp>
      <p:sp>
        <p:nvSpPr>
          <p:cNvPr id="36" name="Shape 34"/>
          <p:cNvSpPr/>
          <p:nvPr/>
        </p:nvSpPr>
        <p:spPr>
          <a:xfrm>
            <a:off x="274320" y="4069080"/>
            <a:ext cx="73152" cy="731520"/>
          </a:xfrm>
          <a:prstGeom prst="rect">
            <a:avLst/>
          </a:prstGeom>
          <a:solidFill>
            <a:srgbClr val="00A896"/>
          </a:solidFill>
          <a:ln w="12700">
            <a:solidFill>
              <a:srgbClr val="00A896"/>
            </a:solidFill>
            <a:prstDash val="solid"/>
          </a:ln>
        </p:spPr>
      </p:sp>
      <p:sp>
        <p:nvSpPr>
          <p:cNvPr id="37" name="Shape 35"/>
          <p:cNvSpPr/>
          <p:nvPr/>
        </p:nvSpPr>
        <p:spPr>
          <a:xfrm>
            <a:off x="457200" y="4233672"/>
            <a:ext cx="384048" cy="384048"/>
          </a:xfrm>
          <a:prstGeom prst="ellipse">
            <a:avLst/>
          </a:prstGeom>
          <a:solidFill>
            <a:srgbClr val="00A896"/>
          </a:solidFill>
          <a:ln w="12700">
            <a:solidFill>
              <a:srgbClr val="00A896"/>
            </a:solidFill>
            <a:prstDash val="solid"/>
          </a:ln>
        </p:spPr>
      </p:sp>
      <p:sp>
        <p:nvSpPr>
          <p:cNvPr id="38" name="Text 36"/>
          <p:cNvSpPr/>
          <p:nvPr/>
        </p:nvSpPr>
        <p:spPr>
          <a:xfrm>
            <a:off x="457200" y="42336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9" name="Text 37"/>
          <p:cNvSpPr/>
          <p:nvPr/>
        </p:nvSpPr>
        <p:spPr>
          <a:xfrm>
            <a:off x="960120" y="4142232"/>
            <a:ext cx="5943600" cy="347472"/>
          </a:xfrm>
          <a:prstGeom prst="rect">
            <a:avLst/>
          </a:prstGeom>
          <a:noFill/>
          <a:ln/>
        </p:spPr>
        <p:txBody>
          <a:bodyPr wrap="square" lIns="0" tIns="0" rIns="0" bIns="0" rtlCol="0" anchor="ctr"/>
          <a:lstStyle/>
          <a:p>
            <a:pPr indent="0" marL="0">
              <a:buNone/>
            </a:pPr>
            <a:r>
              <a:rPr lang="en-US" sz="1200" b="1" dirty="0">
                <a:solidFill>
                  <a:srgbClr val="00A896"/>
                </a:solidFill>
              </a:rPr>
              <a:t>Develop Layer 2 (OCR Card Type)</a:t>
            </a:r>
            <a:endParaRPr lang="en-US" sz="1200" dirty="0"/>
          </a:p>
        </p:txBody>
      </p:sp>
      <p:sp>
        <p:nvSpPr>
          <p:cNvPr id="40" name="Text 38"/>
          <p:cNvSpPr/>
          <p:nvPr/>
        </p:nvSpPr>
        <p:spPr>
          <a:xfrm>
            <a:off x="960120" y="4462272"/>
            <a:ext cx="5943600" cy="274320"/>
          </a:xfrm>
          <a:prstGeom prst="rect">
            <a:avLst/>
          </a:prstGeom>
          <a:noFill/>
          <a:ln/>
        </p:spPr>
        <p:txBody>
          <a:bodyPr wrap="square" lIns="0" tIns="0" rIns="0" bIns="0" rtlCol="0" anchor="ctr"/>
          <a:lstStyle/>
          <a:p>
            <a:pPr indent="0" marL="0">
              <a:buNone/>
            </a:pPr>
            <a:r>
              <a:rPr lang="en-US" sz="1000" dirty="0">
                <a:solidFill>
                  <a:srgbClr val="64748B"/>
                </a:solidFill>
              </a:rPr>
              <a:t>OCR-based card type classification — KTP, SIM, BPJS. Auto-rotation + keyword scoring.</a:t>
            </a:r>
            <a:endParaRPr lang="en-US" sz="1000" dirty="0"/>
          </a:p>
        </p:txBody>
      </p:sp>
      <p:sp>
        <p:nvSpPr>
          <p:cNvPr id="41" name="Shape 39"/>
          <p:cNvSpPr/>
          <p:nvPr/>
        </p:nvSpPr>
        <p:spPr>
          <a:xfrm>
            <a:off x="7406640" y="4251960"/>
            <a:ext cx="1325880" cy="347472"/>
          </a:xfrm>
          <a:prstGeom prst="roundRect">
            <a:avLst>
              <a:gd name="adj" fmla="val 13158"/>
            </a:avLst>
          </a:prstGeom>
          <a:solidFill>
            <a:srgbClr val="CCFBF1"/>
          </a:solidFill>
          <a:ln w="12700">
            <a:solidFill>
              <a:srgbClr val="33BFAF"/>
            </a:solidFill>
            <a:prstDash val="solid"/>
          </a:ln>
        </p:spPr>
      </p:sp>
      <p:sp>
        <p:nvSpPr>
          <p:cNvPr id="42" name="Text 40"/>
          <p:cNvSpPr/>
          <p:nvPr/>
        </p:nvSpPr>
        <p:spPr>
          <a:xfrm>
            <a:off x="7406640" y="4251960"/>
            <a:ext cx="1325880" cy="347472"/>
          </a:xfrm>
          <a:prstGeom prst="rect">
            <a:avLst/>
          </a:prstGeom>
          <a:noFill/>
          <a:ln/>
        </p:spPr>
        <p:txBody>
          <a:bodyPr wrap="square" lIns="0" tIns="0" rIns="0" bIns="0" rtlCol="0" anchor="ctr"/>
          <a:lstStyle/>
          <a:p>
            <a:pPr algn="ctr" indent="0" marL="0">
              <a:buNone/>
            </a:pPr>
            <a:r>
              <a:rPr lang="en-US" sz="950" b="1" dirty="0">
                <a:solidFill>
                  <a:srgbClr val="00A896"/>
                </a:solidFill>
              </a:rPr>
              <a:t>Bulan 2</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4956048"/>
            <a:ext cx="9144000" cy="73152"/>
          </a:xfrm>
          <a:prstGeom prst="rect">
            <a:avLst/>
          </a:prstGeom>
          <a:solidFill>
            <a:srgbClr val="00A896"/>
          </a:solidFill>
          <a:ln w="12700">
            <a:solidFill>
              <a:srgbClr val="00A896"/>
            </a:solidFill>
            <a:prstDash val="solid"/>
          </a:ln>
        </p:spPr>
      </p:sp>
      <p:sp>
        <p:nvSpPr>
          <p:cNvPr id="3" name="Shape 1"/>
          <p:cNvSpPr/>
          <p:nvPr/>
        </p:nvSpPr>
        <p:spPr>
          <a:xfrm>
            <a:off x="0" y="0"/>
            <a:ext cx="3048000" cy="54864"/>
          </a:xfrm>
          <a:prstGeom prst="rect">
            <a:avLst/>
          </a:prstGeom>
          <a:solidFill>
            <a:srgbClr val="0D9488"/>
          </a:solidFill>
          <a:ln w="12700">
            <a:solidFill>
              <a:srgbClr val="0D9488"/>
            </a:solidFill>
            <a:prstDash val="solid"/>
          </a:ln>
        </p:spPr>
      </p:sp>
      <p:sp>
        <p:nvSpPr>
          <p:cNvPr id="4" name="Shape 2"/>
          <p:cNvSpPr/>
          <p:nvPr/>
        </p:nvSpPr>
        <p:spPr>
          <a:xfrm>
            <a:off x="3048000" y="0"/>
            <a:ext cx="3048000" cy="54864"/>
          </a:xfrm>
          <a:prstGeom prst="rect">
            <a:avLst/>
          </a:prstGeom>
          <a:solidFill>
            <a:srgbClr val="D97706"/>
          </a:solidFill>
          <a:ln w="12700">
            <a:solidFill>
              <a:srgbClr val="D97706"/>
            </a:solidFill>
            <a:prstDash val="solid"/>
          </a:ln>
        </p:spPr>
      </p:sp>
      <p:sp>
        <p:nvSpPr>
          <p:cNvPr id="5" name="Shape 3"/>
          <p:cNvSpPr/>
          <p:nvPr/>
        </p:nvSpPr>
        <p:spPr>
          <a:xfrm>
            <a:off x="6096000" y="0"/>
            <a:ext cx="3048000" cy="54864"/>
          </a:xfrm>
          <a:prstGeom prst="rect">
            <a:avLst/>
          </a:prstGeom>
          <a:solidFill>
            <a:srgbClr val="7C3AED"/>
          </a:solidFill>
          <a:ln w="12700">
            <a:solidFill>
              <a:srgbClr val="7C3AED"/>
            </a:solidFill>
            <a:prstDash val="solid"/>
          </a:ln>
        </p:spPr>
      </p:sp>
      <p:sp>
        <p:nvSpPr>
          <p:cNvPr id="6" name="Text 4"/>
          <p:cNvSpPr/>
          <p:nvPr/>
        </p:nvSpPr>
        <p:spPr>
          <a:xfrm>
            <a:off x="457200" y="1188720"/>
            <a:ext cx="8229600" cy="1280160"/>
          </a:xfrm>
          <a:prstGeom prst="rect">
            <a:avLst/>
          </a:prstGeom>
          <a:noFill/>
          <a:ln/>
        </p:spPr>
        <p:txBody>
          <a:bodyPr wrap="square" rtlCol="0" anchor="ctr"/>
          <a:lstStyle/>
          <a:p>
            <a:pPr algn="ctr" indent="0" marL="0">
              <a:buNone/>
            </a:pPr>
            <a:r>
              <a:rPr lang="en-US" sz="6000" b="1" dirty="0">
                <a:solidFill>
                  <a:srgbClr val="FFFFFF"/>
                </a:solidFill>
                <a:latin typeface="Trebuchet MS" pitchFamily="34" charset="0"/>
                <a:ea typeface="Trebuchet MS" pitchFamily="34" charset="-122"/>
                <a:cs typeface="Trebuchet MS" pitchFamily="34" charset="-120"/>
              </a:rPr>
              <a:t>Questions?</a:t>
            </a:r>
            <a:endParaRPr lang="en-US" sz="6000" dirty="0"/>
          </a:p>
        </p:txBody>
      </p:sp>
      <p:sp>
        <p:nvSpPr>
          <p:cNvPr id="7" name="Text 5"/>
          <p:cNvSpPr/>
          <p:nvPr/>
        </p:nvSpPr>
        <p:spPr>
          <a:xfrm>
            <a:off x="457200" y="2468880"/>
            <a:ext cx="8229600" cy="640080"/>
          </a:xfrm>
          <a:prstGeom prst="rect">
            <a:avLst/>
          </a:prstGeom>
          <a:noFill/>
          <a:ln/>
        </p:spPr>
        <p:txBody>
          <a:bodyPr wrap="square" rtlCol="0" anchor="ctr"/>
          <a:lstStyle/>
          <a:p>
            <a:pPr algn="ctr" indent="0" marL="0">
              <a:buNone/>
            </a:pPr>
            <a:r>
              <a:rPr lang="en-US" sz="2800" dirty="0">
                <a:solidFill>
                  <a:srgbClr val="00A896"/>
                </a:solidFill>
                <a:latin typeface="Trebuchet MS" pitchFamily="34" charset="0"/>
                <a:ea typeface="Trebuchet MS" pitchFamily="34" charset="-122"/>
                <a:cs typeface="Trebuchet MS" pitchFamily="34" charset="-120"/>
              </a:rPr>
              <a:t>Terima Kasih</a:t>
            </a:r>
            <a:endParaRPr lang="en-US" sz="2800" dirty="0"/>
          </a:p>
        </p:txBody>
      </p:sp>
      <p:sp>
        <p:nvSpPr>
          <p:cNvPr id="8" name="Shape 6"/>
          <p:cNvSpPr/>
          <p:nvPr/>
        </p:nvSpPr>
        <p:spPr>
          <a:xfrm>
            <a:off x="1371600" y="3291840"/>
            <a:ext cx="1828800" cy="594360"/>
          </a:xfrm>
          <a:prstGeom prst="roundRect">
            <a:avLst>
              <a:gd name="adj" fmla="val 12308"/>
            </a:avLst>
          </a:prstGeom>
          <a:solidFill>
            <a:srgbClr val="0D9488"/>
          </a:solidFill>
          <a:ln w="12700">
            <a:solidFill>
              <a:srgbClr val="0D9488"/>
            </a:solidFill>
            <a:prstDash val="solid"/>
          </a:ln>
        </p:spPr>
      </p:sp>
      <p:sp>
        <p:nvSpPr>
          <p:cNvPr id="9" name="Text 7"/>
          <p:cNvSpPr/>
          <p:nvPr/>
        </p:nvSpPr>
        <p:spPr>
          <a:xfrm>
            <a:off x="1371600" y="3291840"/>
            <a:ext cx="1828800" cy="347472"/>
          </a:xfrm>
          <a:prstGeom prst="rect">
            <a:avLst/>
          </a:prstGeom>
          <a:noFill/>
          <a:ln/>
        </p:spPr>
        <p:txBody>
          <a:bodyPr wrap="square" lIns="25400" tIns="25400" rIns="25400" bIns="25400" rtlCol="0" anchor="b"/>
          <a:lstStyle/>
          <a:p>
            <a:pPr algn="ctr" indent="0" marL="0">
              <a:buNone/>
            </a:pPr>
            <a:r>
              <a:rPr lang="en-US" sz="1200" b="1" dirty="0">
                <a:solidFill>
                  <a:srgbClr val="FFFFFF"/>
                </a:solidFill>
              </a:rPr>
              <a:t>MobileNetV3</a:t>
            </a:r>
            <a:endParaRPr lang="en-US" sz="1200" dirty="0"/>
          </a:p>
        </p:txBody>
      </p:sp>
      <p:sp>
        <p:nvSpPr>
          <p:cNvPr id="10" name="Text 8"/>
          <p:cNvSpPr/>
          <p:nvPr/>
        </p:nvSpPr>
        <p:spPr>
          <a:xfrm>
            <a:off x="1371600" y="3611880"/>
            <a:ext cx="1828800" cy="256032"/>
          </a:xfrm>
          <a:prstGeom prst="rect">
            <a:avLst/>
          </a:prstGeom>
          <a:noFill/>
          <a:ln/>
        </p:spPr>
        <p:txBody>
          <a:bodyPr wrap="square" lIns="0" tIns="0" rIns="0" bIns="0" rtlCol="0" anchor="ctr"/>
          <a:lstStyle/>
          <a:p>
            <a:pPr algn="ctr" indent="0" marL="0">
              <a:buNone/>
            </a:pPr>
            <a:r>
              <a:rPr lang="en-US" sz="900" dirty="0">
                <a:solidFill>
                  <a:srgbClr val="000000"/>
                </a:solidFill>
              </a:rPr>
              <a:t>&lt;100ms CPU</a:t>
            </a:r>
            <a:endParaRPr lang="en-US" sz="900" dirty="0"/>
          </a:p>
        </p:txBody>
      </p:sp>
      <p:sp>
        <p:nvSpPr>
          <p:cNvPr id="11" name="Shape 9"/>
          <p:cNvSpPr/>
          <p:nvPr/>
        </p:nvSpPr>
        <p:spPr>
          <a:xfrm>
            <a:off x="3657600" y="3291840"/>
            <a:ext cx="1828800" cy="594360"/>
          </a:xfrm>
          <a:prstGeom prst="roundRect">
            <a:avLst>
              <a:gd name="adj" fmla="val 12308"/>
            </a:avLst>
          </a:prstGeom>
          <a:solidFill>
            <a:srgbClr val="D97706"/>
          </a:solidFill>
          <a:ln w="12700">
            <a:solidFill>
              <a:srgbClr val="D97706"/>
            </a:solidFill>
            <a:prstDash val="solid"/>
          </a:ln>
        </p:spPr>
      </p:sp>
      <p:sp>
        <p:nvSpPr>
          <p:cNvPr id="12" name="Text 10"/>
          <p:cNvSpPr/>
          <p:nvPr/>
        </p:nvSpPr>
        <p:spPr>
          <a:xfrm>
            <a:off x="3657600" y="3291840"/>
            <a:ext cx="1828800" cy="347472"/>
          </a:xfrm>
          <a:prstGeom prst="rect">
            <a:avLst/>
          </a:prstGeom>
          <a:noFill/>
          <a:ln/>
        </p:spPr>
        <p:txBody>
          <a:bodyPr wrap="square" lIns="25400" tIns="25400" rIns="25400" bIns="25400" rtlCol="0" anchor="b"/>
          <a:lstStyle/>
          <a:p>
            <a:pPr algn="ctr" indent="0" marL="0">
              <a:buNone/>
            </a:pPr>
            <a:r>
              <a:rPr lang="en-US" sz="1200" b="1" dirty="0">
                <a:solidFill>
                  <a:srgbClr val="FFFFFF"/>
                </a:solidFill>
              </a:rPr>
              <a:t>XGBoost</a:t>
            </a:r>
            <a:endParaRPr lang="en-US" sz="1200" dirty="0"/>
          </a:p>
        </p:txBody>
      </p:sp>
      <p:sp>
        <p:nvSpPr>
          <p:cNvPr id="13" name="Text 11"/>
          <p:cNvSpPr/>
          <p:nvPr/>
        </p:nvSpPr>
        <p:spPr>
          <a:xfrm>
            <a:off x="3657600" y="3611880"/>
            <a:ext cx="1828800" cy="256032"/>
          </a:xfrm>
          <a:prstGeom prst="rect">
            <a:avLst/>
          </a:prstGeom>
          <a:noFill/>
          <a:ln/>
        </p:spPr>
        <p:txBody>
          <a:bodyPr wrap="square" lIns="0" tIns="0" rIns="0" bIns="0" rtlCol="0" anchor="ctr"/>
          <a:lstStyle/>
          <a:p>
            <a:pPr algn="ctr" indent="0" marL="0">
              <a:buNone/>
            </a:pPr>
            <a:r>
              <a:rPr lang="en-US" sz="900" dirty="0">
                <a:solidFill>
                  <a:srgbClr val="000000"/>
                </a:solidFill>
              </a:rPr>
              <a:t>Explainable ML</a:t>
            </a:r>
            <a:endParaRPr lang="en-US" sz="900" dirty="0"/>
          </a:p>
        </p:txBody>
      </p:sp>
      <p:sp>
        <p:nvSpPr>
          <p:cNvPr id="14" name="Shape 12"/>
          <p:cNvSpPr/>
          <p:nvPr/>
        </p:nvSpPr>
        <p:spPr>
          <a:xfrm>
            <a:off x="5943600" y="3291840"/>
            <a:ext cx="1828800" cy="594360"/>
          </a:xfrm>
          <a:prstGeom prst="roundRect">
            <a:avLst>
              <a:gd name="adj" fmla="val 12308"/>
            </a:avLst>
          </a:prstGeom>
          <a:solidFill>
            <a:srgbClr val="7C3AED"/>
          </a:solidFill>
          <a:ln w="12700">
            <a:solidFill>
              <a:srgbClr val="7C3AED"/>
            </a:solidFill>
            <a:prstDash val="solid"/>
          </a:ln>
        </p:spPr>
      </p:sp>
      <p:sp>
        <p:nvSpPr>
          <p:cNvPr id="15" name="Text 13"/>
          <p:cNvSpPr/>
          <p:nvPr/>
        </p:nvSpPr>
        <p:spPr>
          <a:xfrm>
            <a:off x="5943600" y="3291840"/>
            <a:ext cx="1828800" cy="347472"/>
          </a:xfrm>
          <a:prstGeom prst="rect">
            <a:avLst/>
          </a:prstGeom>
          <a:noFill/>
          <a:ln/>
        </p:spPr>
        <p:txBody>
          <a:bodyPr wrap="square" lIns="25400" tIns="25400" rIns="25400" bIns="25400" rtlCol="0" anchor="b"/>
          <a:lstStyle/>
          <a:p>
            <a:pPr algn="ctr" indent="0" marL="0">
              <a:buNone/>
            </a:pPr>
            <a:r>
              <a:rPr lang="en-US" sz="1200" b="1" dirty="0">
                <a:solidFill>
                  <a:srgbClr val="FFFFFF"/>
                </a:solidFill>
              </a:rPr>
              <a:t>OpenCLIP</a:t>
            </a:r>
            <a:endParaRPr lang="en-US" sz="1200" dirty="0"/>
          </a:p>
        </p:txBody>
      </p:sp>
      <p:sp>
        <p:nvSpPr>
          <p:cNvPr id="16" name="Text 14"/>
          <p:cNvSpPr/>
          <p:nvPr/>
        </p:nvSpPr>
        <p:spPr>
          <a:xfrm>
            <a:off x="5943600" y="3611880"/>
            <a:ext cx="1828800" cy="256032"/>
          </a:xfrm>
          <a:prstGeom prst="rect">
            <a:avLst/>
          </a:prstGeom>
          <a:noFill/>
          <a:ln/>
        </p:spPr>
        <p:txBody>
          <a:bodyPr wrap="square" lIns="0" tIns="0" rIns="0" bIns="0" rtlCol="0" anchor="ctr"/>
          <a:lstStyle/>
          <a:p>
            <a:pPr algn="ctr" indent="0" marL="0">
              <a:buNone/>
            </a:pPr>
            <a:r>
              <a:rPr lang="en-US" sz="900" dirty="0">
                <a:solidFill>
                  <a:srgbClr val="000000"/>
                </a:solidFill>
              </a:rPr>
              <a:t>Zero-Shot Deploy</a:t>
            </a:r>
            <a:endParaRPr lang="en-US" sz="900" dirty="0"/>
          </a:p>
        </p:txBody>
      </p:sp>
      <p:sp>
        <p:nvSpPr>
          <p:cNvPr id="17" name="Text 15"/>
          <p:cNvSpPr/>
          <p:nvPr/>
        </p:nvSpPr>
        <p:spPr>
          <a:xfrm>
            <a:off x="457200" y="4297680"/>
            <a:ext cx="8229600" cy="320040"/>
          </a:xfrm>
          <a:prstGeom prst="rect">
            <a:avLst/>
          </a:prstGeom>
          <a:noFill/>
          <a:ln/>
        </p:spPr>
        <p:txBody>
          <a:bodyPr wrap="square" rtlCol="0" anchor="ctr"/>
          <a:lstStyle/>
          <a:p>
            <a:pPr algn="ctr" indent="0" marL="0">
              <a:buNone/>
            </a:pPr>
            <a:r>
              <a:rPr lang="en-US" sz="1100" dirty="0">
                <a:solidFill>
                  <a:srgbClr val="8899BB"/>
                </a:solidFill>
              </a:rPr>
              <a:t>[your.email@company.com]   |   May 2025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KTP Selfie Classifier — Alternative Approaches to YOLO</dc:title>
  <dc:subject>PptxGenJS Presentation</dc:subject>
  <dc:creator>Junior Engineer</dc:creator>
  <cp:lastModifiedBy>Junior Engineer</cp:lastModifiedBy>
  <cp:revision>1</cp:revision>
  <dcterms:created xsi:type="dcterms:W3CDTF">2026-05-05T03:40:58Z</dcterms:created>
  <dcterms:modified xsi:type="dcterms:W3CDTF">2026-05-05T03:40:58Z</dcterms:modified>
</cp:coreProperties>
</file>